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"I'm Carl, I run ACE, a Google Ads agency. Every new client costs us weeks before we spend a single euro for them. Today a client onboards itself, on this box, offline." Stage: GB10 visibly disconnected.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0:15-0:40. Onboarding is a kickoff call, a checklist in a doc, then weeks of email. Nobody chases, answers never become assigned work. In our sample client, 8 of 32 answers are missing at kickoff (fact: 30 work items, 8 gaps). Campaigns then optimize to revenue, not profit. 2-4 weeks and 12 hours are hypotheses; swap in ACE's real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0:40-1:05. Owners already live inside an AI assistant, so we don't send a form: their assistant gets one MCP URL and answers our 32 questions, one per turn, append-only with provenance. When it sent 'ignore previous instructions' we stored it as an answer; nothing happened. Client text is data, never an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1:05-1:30. Eight stages, one always-on loop on the box. Intake, BRD, then the SDLC agent: one spec per section, tickets with dependencies, a working draft, a pre-check of every acceptance criterion, a release, a plain-language client update. Five gates, each a named person clicking a button. The agent drafts; people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1:30-2:00. Northline told intake their margins: tableware 58% down to seasonal decor 33%. Their stated break-even after shipping and returns: 2.1 to 3.4. The agent's draft ranks categories by margin and computes the margin-only floor from their own numbers, marked derived. Seasonal decor's floor is 3.03; the campaign targets 3x; every order loses money before shipping and returns. Arithmetic: 1/0.58=1.724, 1/0.46=2.174, 1/0.41=2.439, 1/0.33=3.030. Console: draft on SPEC-003-T02.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2:00-2:25. The agent's MCP server exposes read, draft, split, pre-check and status tools. No approve, send or delete tool: it physically cannot approve its own work, not 'is told not to'. People get the same discipline: Jordan built the table, Jordan tries to approve the review, the API returns 409 'The reviewer must differ from the builder.' Morgan reviews instead. Over a failing pre-check, approve is refused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2:25-2:40. Local-first is the agency's trust promise, so it's in the code: the SDLC service refuses to start if the model URL isn't loopback; the console's CSP is default-src none; the pipeline is rules-first and still runs with the model killed; every artifact records rules vs model. One GB10, under OpenShell, egress blocked. Per client the box holds ad-account IDs, access, COGS, margins and targets; an agency aggregates 20-40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2:40-2:50 in the 3-minute pitch: point, don't click (or do the pre-staged two-click 409). In the 10-minute slot this slide stays up on the second screen while Moorthy drives the console. Switch personas with the 'Acting as' selector in the console header. If the model is slow, the drafts still appear from rules; say so. Recorded run is the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2:50-2:58. Who pays? The agency owner. ACE is customer zero; every Google Ads agency serving e-commerce has the same unbilled onboarding hours. Pricing hypothesis: $500/month per agency; 12 senior hours at $100 is $1,200 saved per onboarding, two a year pay for it. Wedge: intake + break-even; SDLC makes it recurring. Say 'hypothesis' out loud. Demand evidence today is one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2:58-3:00. "In one day we built an always-on agent that onboards a client through its own AI, drafts the work, catches a losing campaign, and cannot approve itself. Sixty-one tests pass, nothing leaves the box. Monday our next real client goes through it. Thank you." Stop at 3:00.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0C08"/>
        </a:solidFill>
      </p:bgPr>
    </p:bg>
    <p:spTree>
      <p:nvGrpSpPr>
        <p:cNvPr id="1" name=""/>
        <p:cNvGrpSpPr/>
        <p:nvPr/>
      </p:nvGrpSpPr>
      <p:grpSpPr>
        <a:xfrm>
          <a:off x="0" y="0"/>
          <a:ext cx="0" cy="0"/>
          <a:chOff x="0" y="0"/>
          <a:chExt cx="0" cy="0"/>
        </a:xfrm>
      </p:grpSpPr>
      <p:sp>
        <p:nvSpPr>
          <p:cNvPr id="2" name="Shape 0"/>
          <p:cNvSpPr/>
          <p:nvPr/>
        </p:nvSpPr>
        <p:spPr>
          <a:xfrm>
            <a:off x="685800" y="6272784"/>
            <a:ext cx="10820095" cy="0"/>
          </a:xfrm>
          <a:prstGeom prst="line">
            <a:avLst/>
          </a:prstGeom>
          <a:noFill/>
          <a:ln w="9525">
            <a:solidFill>
              <a:srgbClr val="4A3D2C"/>
            </a:solidFill>
            <a:prstDash val="solid"/>
          </a:ln>
        </p:spPr>
      </p:sp>
      <p:sp>
        <p:nvSpPr>
          <p:cNvPr id="3" name="Text 1"/>
          <p:cNvSpPr/>
          <p:nvPr/>
        </p:nvSpPr>
        <p:spPr>
          <a:xfrm>
            <a:off x="685800" y="6355080"/>
            <a:ext cx="2743200" cy="274320"/>
          </a:xfrm>
          <a:prstGeom prst="rect">
            <a:avLst/>
          </a:prstGeom>
          <a:noFill/>
          <a:ln/>
        </p:spPr>
        <p:txBody>
          <a:bodyPr wrap="square" lIns="0" tIns="0" rIns="0" bIns="0" rtlCol="0" anchor="ctr"/>
          <a:lstStyle/>
          <a:p>
            <a:pPr indent="0" marL="0">
              <a:buNone/>
            </a:pPr>
            <a:r>
              <a:rPr lang="en-US" sz="900" spc="600" kern="0" dirty="0">
                <a:solidFill>
                  <a:srgbClr val="8C7961"/>
                </a:solidFill>
                <a:latin typeface="Arial" pitchFamily="34" charset="0"/>
                <a:ea typeface="Arial" pitchFamily="34" charset="-122"/>
                <a:cs typeface="Arial" pitchFamily="34" charset="-120"/>
              </a:rPr>
              <a:t>ACE OPS</a:t>
            </a:r>
            <a:endParaRPr lang="en-US" sz="900" dirty="0"/>
          </a:p>
        </p:txBody>
      </p:sp>
      <p:sp>
        <p:nvSpPr>
          <p:cNvPr id="25" name="Slide Number Placeholder 0"/>
          <p:cNvSpPr>
            <a:spLocks noGrp="1"/>
          </p:cNvSpPr>
          <p:nvPr>
            <p:ph type="sldNum" sz="quarter" idx="4294967295"/>
          </p:nvPr>
        </p:nvSpPr>
        <p:spPr>
          <a:xfrm>
            <a:off x="10408615" y="6355080"/>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7961"/>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RO">
    <p:bg>
      <p:bgPr>
        <a:solidFill>
          <a:srgbClr val="120C0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08615" y="6355080"/>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7961"/>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123444"/>
          </a:xfrm>
          <a:prstGeom prst="rect">
            <a:avLst/>
          </a:prstGeom>
          <a:solidFill>
            <a:srgbClr val="F6E9D2"/>
          </a:solidFill>
          <a:ln w="12700">
            <a:solidFill>
              <a:srgbClr val="F6E9D2"/>
            </a:solidFill>
            <a:prstDash val="solid"/>
          </a:ln>
        </p:spPr>
      </p:sp>
      <p:sp>
        <p:nvSpPr>
          <p:cNvPr id="3" name="Shape 1"/>
          <p:cNvSpPr/>
          <p:nvPr/>
        </p:nvSpPr>
        <p:spPr>
          <a:xfrm>
            <a:off x="0" y="114300"/>
            <a:ext cx="12191695" cy="123444"/>
          </a:xfrm>
          <a:prstGeom prst="rect">
            <a:avLst/>
          </a:prstGeom>
          <a:solidFill>
            <a:srgbClr val="F5E7CE"/>
          </a:solidFill>
          <a:ln w="12700">
            <a:solidFill>
              <a:srgbClr val="F5E7CE"/>
            </a:solidFill>
            <a:prstDash val="solid"/>
          </a:ln>
        </p:spPr>
      </p:sp>
      <p:sp>
        <p:nvSpPr>
          <p:cNvPr id="4" name="Shape 2"/>
          <p:cNvSpPr/>
          <p:nvPr/>
        </p:nvSpPr>
        <p:spPr>
          <a:xfrm>
            <a:off x="0" y="228600"/>
            <a:ext cx="12191695" cy="123444"/>
          </a:xfrm>
          <a:prstGeom prst="rect">
            <a:avLst/>
          </a:prstGeom>
          <a:solidFill>
            <a:srgbClr val="F4E5CA"/>
          </a:solidFill>
          <a:ln w="12700">
            <a:solidFill>
              <a:srgbClr val="F4E5CA"/>
            </a:solidFill>
            <a:prstDash val="solid"/>
          </a:ln>
        </p:spPr>
      </p:sp>
      <p:sp>
        <p:nvSpPr>
          <p:cNvPr id="5" name="Shape 3"/>
          <p:cNvSpPr/>
          <p:nvPr/>
        </p:nvSpPr>
        <p:spPr>
          <a:xfrm>
            <a:off x="0" y="342900"/>
            <a:ext cx="12191695" cy="123444"/>
          </a:xfrm>
          <a:prstGeom prst="rect">
            <a:avLst/>
          </a:prstGeom>
          <a:solidFill>
            <a:srgbClr val="F3E2C7"/>
          </a:solidFill>
          <a:ln w="12700">
            <a:solidFill>
              <a:srgbClr val="F3E2C7"/>
            </a:solidFill>
            <a:prstDash val="solid"/>
          </a:ln>
        </p:spPr>
      </p:sp>
      <p:sp>
        <p:nvSpPr>
          <p:cNvPr id="6" name="Shape 4"/>
          <p:cNvSpPr/>
          <p:nvPr/>
        </p:nvSpPr>
        <p:spPr>
          <a:xfrm>
            <a:off x="0" y="457200"/>
            <a:ext cx="12191695" cy="123444"/>
          </a:xfrm>
          <a:prstGeom prst="rect">
            <a:avLst/>
          </a:prstGeom>
          <a:solidFill>
            <a:srgbClr val="F2E0C3"/>
          </a:solidFill>
          <a:ln w="12700">
            <a:solidFill>
              <a:srgbClr val="F2E0C3"/>
            </a:solidFill>
            <a:prstDash val="solid"/>
          </a:ln>
        </p:spPr>
      </p:sp>
      <p:sp>
        <p:nvSpPr>
          <p:cNvPr id="7" name="Shape 5"/>
          <p:cNvSpPr/>
          <p:nvPr/>
        </p:nvSpPr>
        <p:spPr>
          <a:xfrm>
            <a:off x="0" y="571500"/>
            <a:ext cx="12191695" cy="123444"/>
          </a:xfrm>
          <a:prstGeom prst="rect">
            <a:avLst/>
          </a:prstGeom>
          <a:solidFill>
            <a:srgbClr val="F1DEBF"/>
          </a:solidFill>
          <a:ln w="12700">
            <a:solidFill>
              <a:srgbClr val="F1DEBF"/>
            </a:solidFill>
            <a:prstDash val="solid"/>
          </a:ln>
        </p:spPr>
      </p:sp>
      <p:sp>
        <p:nvSpPr>
          <p:cNvPr id="8" name="Shape 6"/>
          <p:cNvSpPr/>
          <p:nvPr/>
        </p:nvSpPr>
        <p:spPr>
          <a:xfrm>
            <a:off x="0" y="685800"/>
            <a:ext cx="12191695" cy="123444"/>
          </a:xfrm>
          <a:prstGeom prst="rect">
            <a:avLst/>
          </a:prstGeom>
          <a:solidFill>
            <a:srgbClr val="F0DCBB"/>
          </a:solidFill>
          <a:ln w="12700">
            <a:solidFill>
              <a:srgbClr val="F0DCBB"/>
            </a:solidFill>
            <a:prstDash val="solid"/>
          </a:ln>
        </p:spPr>
      </p:sp>
      <p:sp>
        <p:nvSpPr>
          <p:cNvPr id="9" name="Shape 7"/>
          <p:cNvSpPr/>
          <p:nvPr/>
        </p:nvSpPr>
        <p:spPr>
          <a:xfrm>
            <a:off x="0" y="800100"/>
            <a:ext cx="12191695" cy="123444"/>
          </a:xfrm>
          <a:prstGeom prst="rect">
            <a:avLst/>
          </a:prstGeom>
          <a:solidFill>
            <a:srgbClr val="EFD9B7"/>
          </a:solidFill>
          <a:ln w="12700">
            <a:solidFill>
              <a:srgbClr val="EFD9B7"/>
            </a:solidFill>
            <a:prstDash val="solid"/>
          </a:ln>
        </p:spPr>
      </p:sp>
      <p:sp>
        <p:nvSpPr>
          <p:cNvPr id="10" name="Shape 8"/>
          <p:cNvSpPr/>
          <p:nvPr/>
        </p:nvSpPr>
        <p:spPr>
          <a:xfrm>
            <a:off x="0" y="914400"/>
            <a:ext cx="12191695" cy="123444"/>
          </a:xfrm>
          <a:prstGeom prst="rect">
            <a:avLst/>
          </a:prstGeom>
          <a:solidFill>
            <a:srgbClr val="EED7B3"/>
          </a:solidFill>
          <a:ln w="12700">
            <a:solidFill>
              <a:srgbClr val="EED7B3"/>
            </a:solidFill>
            <a:prstDash val="solid"/>
          </a:ln>
        </p:spPr>
      </p:sp>
      <p:sp>
        <p:nvSpPr>
          <p:cNvPr id="11" name="Shape 9"/>
          <p:cNvSpPr/>
          <p:nvPr/>
        </p:nvSpPr>
        <p:spPr>
          <a:xfrm>
            <a:off x="0" y="1028700"/>
            <a:ext cx="12191695" cy="123444"/>
          </a:xfrm>
          <a:prstGeom prst="rect">
            <a:avLst/>
          </a:prstGeom>
          <a:solidFill>
            <a:srgbClr val="ECD5B0"/>
          </a:solidFill>
          <a:ln w="12700">
            <a:solidFill>
              <a:srgbClr val="ECD5B0"/>
            </a:solidFill>
            <a:prstDash val="solid"/>
          </a:ln>
        </p:spPr>
      </p:sp>
      <p:sp>
        <p:nvSpPr>
          <p:cNvPr id="12" name="Shape 10"/>
          <p:cNvSpPr/>
          <p:nvPr/>
        </p:nvSpPr>
        <p:spPr>
          <a:xfrm>
            <a:off x="0" y="1143000"/>
            <a:ext cx="12191695" cy="123444"/>
          </a:xfrm>
          <a:prstGeom prst="rect">
            <a:avLst/>
          </a:prstGeom>
          <a:solidFill>
            <a:srgbClr val="EBD2AB"/>
          </a:solidFill>
          <a:ln w="12700">
            <a:solidFill>
              <a:srgbClr val="EBD2AB"/>
            </a:solidFill>
            <a:prstDash val="solid"/>
          </a:ln>
        </p:spPr>
      </p:sp>
      <p:sp>
        <p:nvSpPr>
          <p:cNvPr id="13" name="Shape 11"/>
          <p:cNvSpPr/>
          <p:nvPr/>
        </p:nvSpPr>
        <p:spPr>
          <a:xfrm>
            <a:off x="0" y="1257300"/>
            <a:ext cx="12191695" cy="123444"/>
          </a:xfrm>
          <a:prstGeom prst="rect">
            <a:avLst/>
          </a:prstGeom>
          <a:solidFill>
            <a:srgbClr val="E9CEA6"/>
          </a:solidFill>
          <a:ln w="12700">
            <a:solidFill>
              <a:srgbClr val="E9CEA6"/>
            </a:solidFill>
            <a:prstDash val="solid"/>
          </a:ln>
        </p:spPr>
      </p:sp>
      <p:sp>
        <p:nvSpPr>
          <p:cNvPr id="14" name="Shape 12"/>
          <p:cNvSpPr/>
          <p:nvPr/>
        </p:nvSpPr>
        <p:spPr>
          <a:xfrm>
            <a:off x="0" y="1371600"/>
            <a:ext cx="12191695" cy="123444"/>
          </a:xfrm>
          <a:prstGeom prst="rect">
            <a:avLst/>
          </a:prstGeom>
          <a:solidFill>
            <a:srgbClr val="E7CBA1"/>
          </a:solidFill>
          <a:ln w="12700">
            <a:solidFill>
              <a:srgbClr val="E7CBA1"/>
            </a:solidFill>
            <a:prstDash val="solid"/>
          </a:ln>
        </p:spPr>
      </p:sp>
      <p:sp>
        <p:nvSpPr>
          <p:cNvPr id="15" name="Shape 13"/>
          <p:cNvSpPr/>
          <p:nvPr/>
        </p:nvSpPr>
        <p:spPr>
          <a:xfrm>
            <a:off x="0" y="1485900"/>
            <a:ext cx="12191695" cy="123444"/>
          </a:xfrm>
          <a:prstGeom prst="rect">
            <a:avLst/>
          </a:prstGeom>
          <a:solidFill>
            <a:srgbClr val="E6C79C"/>
          </a:solidFill>
          <a:ln w="12700">
            <a:solidFill>
              <a:srgbClr val="E6C79C"/>
            </a:solidFill>
            <a:prstDash val="solid"/>
          </a:ln>
        </p:spPr>
      </p:sp>
      <p:sp>
        <p:nvSpPr>
          <p:cNvPr id="16" name="Shape 14"/>
          <p:cNvSpPr/>
          <p:nvPr/>
        </p:nvSpPr>
        <p:spPr>
          <a:xfrm>
            <a:off x="0" y="1600200"/>
            <a:ext cx="12191695" cy="123444"/>
          </a:xfrm>
          <a:prstGeom prst="rect">
            <a:avLst/>
          </a:prstGeom>
          <a:solidFill>
            <a:srgbClr val="E4C397"/>
          </a:solidFill>
          <a:ln w="12700">
            <a:solidFill>
              <a:srgbClr val="E4C397"/>
            </a:solidFill>
            <a:prstDash val="solid"/>
          </a:ln>
        </p:spPr>
      </p:sp>
      <p:sp>
        <p:nvSpPr>
          <p:cNvPr id="17" name="Shape 15"/>
          <p:cNvSpPr/>
          <p:nvPr/>
        </p:nvSpPr>
        <p:spPr>
          <a:xfrm>
            <a:off x="0" y="1714500"/>
            <a:ext cx="12191695" cy="123444"/>
          </a:xfrm>
          <a:prstGeom prst="rect">
            <a:avLst/>
          </a:prstGeom>
          <a:solidFill>
            <a:srgbClr val="E2C092"/>
          </a:solidFill>
          <a:ln w="12700">
            <a:solidFill>
              <a:srgbClr val="E2C092"/>
            </a:solidFill>
            <a:prstDash val="solid"/>
          </a:ln>
        </p:spPr>
      </p:sp>
      <p:sp>
        <p:nvSpPr>
          <p:cNvPr id="18" name="Shape 16"/>
          <p:cNvSpPr/>
          <p:nvPr/>
        </p:nvSpPr>
        <p:spPr>
          <a:xfrm>
            <a:off x="0" y="1828800"/>
            <a:ext cx="12191695" cy="123444"/>
          </a:xfrm>
          <a:prstGeom prst="rect">
            <a:avLst/>
          </a:prstGeom>
          <a:solidFill>
            <a:srgbClr val="E0BC8D"/>
          </a:solidFill>
          <a:ln w="12700">
            <a:solidFill>
              <a:srgbClr val="E0BC8D"/>
            </a:solidFill>
            <a:prstDash val="solid"/>
          </a:ln>
        </p:spPr>
      </p:sp>
      <p:sp>
        <p:nvSpPr>
          <p:cNvPr id="19" name="Shape 17"/>
          <p:cNvSpPr/>
          <p:nvPr/>
        </p:nvSpPr>
        <p:spPr>
          <a:xfrm>
            <a:off x="0" y="1943100"/>
            <a:ext cx="12191695" cy="123444"/>
          </a:xfrm>
          <a:prstGeom prst="rect">
            <a:avLst/>
          </a:prstGeom>
          <a:solidFill>
            <a:srgbClr val="DEB888"/>
          </a:solidFill>
          <a:ln w="12700">
            <a:solidFill>
              <a:srgbClr val="DEB888"/>
            </a:solidFill>
            <a:prstDash val="solid"/>
          </a:ln>
        </p:spPr>
      </p:sp>
      <p:sp>
        <p:nvSpPr>
          <p:cNvPr id="20" name="Shape 18"/>
          <p:cNvSpPr/>
          <p:nvPr/>
        </p:nvSpPr>
        <p:spPr>
          <a:xfrm>
            <a:off x="0" y="2057400"/>
            <a:ext cx="12191695" cy="123444"/>
          </a:xfrm>
          <a:prstGeom prst="rect">
            <a:avLst/>
          </a:prstGeom>
          <a:solidFill>
            <a:srgbClr val="DDB582"/>
          </a:solidFill>
          <a:ln w="12700">
            <a:solidFill>
              <a:srgbClr val="DDB582"/>
            </a:solidFill>
            <a:prstDash val="solid"/>
          </a:ln>
        </p:spPr>
      </p:sp>
      <p:sp>
        <p:nvSpPr>
          <p:cNvPr id="21" name="Shape 19"/>
          <p:cNvSpPr/>
          <p:nvPr/>
        </p:nvSpPr>
        <p:spPr>
          <a:xfrm>
            <a:off x="0" y="2171700"/>
            <a:ext cx="12191695" cy="123444"/>
          </a:xfrm>
          <a:prstGeom prst="rect">
            <a:avLst/>
          </a:prstGeom>
          <a:solidFill>
            <a:srgbClr val="DBB17D"/>
          </a:solidFill>
          <a:ln w="12700">
            <a:solidFill>
              <a:srgbClr val="DBB17D"/>
            </a:solidFill>
            <a:prstDash val="solid"/>
          </a:ln>
        </p:spPr>
      </p:sp>
      <p:sp>
        <p:nvSpPr>
          <p:cNvPr id="22" name="Shape 20"/>
          <p:cNvSpPr/>
          <p:nvPr/>
        </p:nvSpPr>
        <p:spPr>
          <a:xfrm>
            <a:off x="0" y="2286000"/>
            <a:ext cx="12191695" cy="123444"/>
          </a:xfrm>
          <a:prstGeom prst="rect">
            <a:avLst/>
          </a:prstGeom>
          <a:solidFill>
            <a:srgbClr val="D9AD78"/>
          </a:solidFill>
          <a:ln w="12700">
            <a:solidFill>
              <a:srgbClr val="D9AD78"/>
            </a:solidFill>
            <a:prstDash val="solid"/>
          </a:ln>
        </p:spPr>
      </p:sp>
      <p:sp>
        <p:nvSpPr>
          <p:cNvPr id="23" name="Shape 21"/>
          <p:cNvSpPr/>
          <p:nvPr/>
        </p:nvSpPr>
        <p:spPr>
          <a:xfrm>
            <a:off x="0" y="2400300"/>
            <a:ext cx="12191695" cy="123444"/>
          </a:xfrm>
          <a:prstGeom prst="rect">
            <a:avLst/>
          </a:prstGeom>
          <a:solidFill>
            <a:srgbClr val="D5A873"/>
          </a:solidFill>
          <a:ln w="12700">
            <a:solidFill>
              <a:srgbClr val="D5A873"/>
            </a:solidFill>
            <a:prstDash val="solid"/>
          </a:ln>
        </p:spPr>
      </p:sp>
      <p:sp>
        <p:nvSpPr>
          <p:cNvPr id="24" name="Shape 22"/>
          <p:cNvSpPr/>
          <p:nvPr/>
        </p:nvSpPr>
        <p:spPr>
          <a:xfrm>
            <a:off x="0" y="2514600"/>
            <a:ext cx="12191695" cy="123444"/>
          </a:xfrm>
          <a:prstGeom prst="rect">
            <a:avLst/>
          </a:prstGeom>
          <a:solidFill>
            <a:srgbClr val="D2A36E"/>
          </a:solidFill>
          <a:ln w="12700">
            <a:solidFill>
              <a:srgbClr val="D2A36E"/>
            </a:solidFill>
            <a:prstDash val="solid"/>
          </a:ln>
        </p:spPr>
      </p:sp>
      <p:sp>
        <p:nvSpPr>
          <p:cNvPr id="25" name="Shape 23"/>
          <p:cNvSpPr/>
          <p:nvPr/>
        </p:nvSpPr>
        <p:spPr>
          <a:xfrm>
            <a:off x="0" y="2628900"/>
            <a:ext cx="12191695" cy="123444"/>
          </a:xfrm>
          <a:prstGeom prst="rect">
            <a:avLst/>
          </a:prstGeom>
          <a:solidFill>
            <a:srgbClr val="CE9D68"/>
          </a:solidFill>
          <a:ln w="12700">
            <a:solidFill>
              <a:srgbClr val="CE9D68"/>
            </a:solidFill>
            <a:prstDash val="solid"/>
          </a:ln>
        </p:spPr>
      </p:sp>
      <p:sp>
        <p:nvSpPr>
          <p:cNvPr id="26" name="Shape 24"/>
          <p:cNvSpPr/>
          <p:nvPr/>
        </p:nvSpPr>
        <p:spPr>
          <a:xfrm>
            <a:off x="0" y="2743200"/>
            <a:ext cx="12191695" cy="123444"/>
          </a:xfrm>
          <a:prstGeom prst="rect">
            <a:avLst/>
          </a:prstGeom>
          <a:solidFill>
            <a:srgbClr val="CA9863"/>
          </a:solidFill>
          <a:ln w="12700">
            <a:solidFill>
              <a:srgbClr val="CA9863"/>
            </a:solidFill>
            <a:prstDash val="solid"/>
          </a:ln>
        </p:spPr>
      </p:sp>
      <p:sp>
        <p:nvSpPr>
          <p:cNvPr id="27" name="Shape 25"/>
          <p:cNvSpPr/>
          <p:nvPr/>
        </p:nvSpPr>
        <p:spPr>
          <a:xfrm>
            <a:off x="0" y="2857500"/>
            <a:ext cx="12191695" cy="123444"/>
          </a:xfrm>
          <a:prstGeom prst="rect">
            <a:avLst/>
          </a:prstGeom>
          <a:solidFill>
            <a:srgbClr val="C6925D"/>
          </a:solidFill>
          <a:ln w="12700">
            <a:solidFill>
              <a:srgbClr val="C6925D"/>
            </a:solidFill>
            <a:prstDash val="solid"/>
          </a:ln>
        </p:spPr>
      </p:sp>
      <p:sp>
        <p:nvSpPr>
          <p:cNvPr id="28" name="Shape 26"/>
          <p:cNvSpPr/>
          <p:nvPr/>
        </p:nvSpPr>
        <p:spPr>
          <a:xfrm>
            <a:off x="0" y="2971800"/>
            <a:ext cx="12191695" cy="123444"/>
          </a:xfrm>
          <a:prstGeom prst="rect">
            <a:avLst/>
          </a:prstGeom>
          <a:solidFill>
            <a:srgbClr val="C28D58"/>
          </a:solidFill>
          <a:ln w="12700">
            <a:solidFill>
              <a:srgbClr val="C28D58"/>
            </a:solidFill>
            <a:prstDash val="solid"/>
          </a:ln>
        </p:spPr>
      </p:sp>
      <p:sp>
        <p:nvSpPr>
          <p:cNvPr id="29" name="Shape 27"/>
          <p:cNvSpPr/>
          <p:nvPr/>
        </p:nvSpPr>
        <p:spPr>
          <a:xfrm>
            <a:off x="0" y="3086100"/>
            <a:ext cx="12191695" cy="123444"/>
          </a:xfrm>
          <a:prstGeom prst="rect">
            <a:avLst/>
          </a:prstGeom>
          <a:solidFill>
            <a:srgbClr val="BF8853"/>
          </a:solidFill>
          <a:ln w="12700">
            <a:solidFill>
              <a:srgbClr val="BF8853"/>
            </a:solidFill>
            <a:prstDash val="solid"/>
          </a:ln>
        </p:spPr>
      </p:sp>
      <p:sp>
        <p:nvSpPr>
          <p:cNvPr id="30" name="Shape 28"/>
          <p:cNvSpPr/>
          <p:nvPr/>
        </p:nvSpPr>
        <p:spPr>
          <a:xfrm>
            <a:off x="0" y="3200400"/>
            <a:ext cx="12191695" cy="123444"/>
          </a:xfrm>
          <a:prstGeom prst="rect">
            <a:avLst/>
          </a:prstGeom>
          <a:solidFill>
            <a:srgbClr val="BB824D"/>
          </a:solidFill>
          <a:ln w="12700">
            <a:solidFill>
              <a:srgbClr val="BB824D"/>
            </a:solidFill>
            <a:prstDash val="solid"/>
          </a:ln>
        </p:spPr>
      </p:sp>
      <p:sp>
        <p:nvSpPr>
          <p:cNvPr id="31" name="Shape 29"/>
          <p:cNvSpPr/>
          <p:nvPr/>
        </p:nvSpPr>
        <p:spPr>
          <a:xfrm>
            <a:off x="0" y="3314700"/>
            <a:ext cx="12191695" cy="123444"/>
          </a:xfrm>
          <a:prstGeom prst="rect">
            <a:avLst/>
          </a:prstGeom>
          <a:solidFill>
            <a:srgbClr val="B77D48"/>
          </a:solidFill>
          <a:ln w="12700">
            <a:solidFill>
              <a:srgbClr val="B77D48"/>
            </a:solidFill>
            <a:prstDash val="solid"/>
          </a:ln>
        </p:spPr>
      </p:sp>
      <p:sp>
        <p:nvSpPr>
          <p:cNvPr id="32" name="Shape 30"/>
          <p:cNvSpPr/>
          <p:nvPr/>
        </p:nvSpPr>
        <p:spPr>
          <a:xfrm>
            <a:off x="0" y="3429000"/>
            <a:ext cx="12191695" cy="123444"/>
          </a:xfrm>
          <a:prstGeom prst="rect">
            <a:avLst/>
          </a:prstGeom>
          <a:solidFill>
            <a:srgbClr val="AF7542"/>
          </a:solidFill>
          <a:ln w="12700">
            <a:solidFill>
              <a:srgbClr val="AF7542"/>
            </a:solidFill>
            <a:prstDash val="solid"/>
          </a:ln>
        </p:spPr>
      </p:sp>
      <p:sp>
        <p:nvSpPr>
          <p:cNvPr id="33" name="Shape 31"/>
          <p:cNvSpPr/>
          <p:nvPr/>
        </p:nvSpPr>
        <p:spPr>
          <a:xfrm>
            <a:off x="0" y="3543300"/>
            <a:ext cx="12191695" cy="123444"/>
          </a:xfrm>
          <a:prstGeom prst="rect">
            <a:avLst/>
          </a:prstGeom>
          <a:solidFill>
            <a:srgbClr val="A26B3C"/>
          </a:solidFill>
          <a:ln w="12700">
            <a:solidFill>
              <a:srgbClr val="A26B3C"/>
            </a:solidFill>
            <a:prstDash val="solid"/>
          </a:ln>
        </p:spPr>
      </p:sp>
      <p:sp>
        <p:nvSpPr>
          <p:cNvPr id="34" name="Shape 32"/>
          <p:cNvSpPr/>
          <p:nvPr/>
        </p:nvSpPr>
        <p:spPr>
          <a:xfrm>
            <a:off x="0" y="3657600"/>
            <a:ext cx="12191695" cy="123444"/>
          </a:xfrm>
          <a:prstGeom prst="rect">
            <a:avLst/>
          </a:prstGeom>
          <a:solidFill>
            <a:srgbClr val="966136"/>
          </a:solidFill>
          <a:ln w="12700">
            <a:solidFill>
              <a:srgbClr val="966136"/>
            </a:solidFill>
            <a:prstDash val="solid"/>
          </a:ln>
        </p:spPr>
      </p:sp>
      <p:sp>
        <p:nvSpPr>
          <p:cNvPr id="35" name="Shape 33"/>
          <p:cNvSpPr/>
          <p:nvPr/>
        </p:nvSpPr>
        <p:spPr>
          <a:xfrm>
            <a:off x="0" y="3771900"/>
            <a:ext cx="12191695" cy="123444"/>
          </a:xfrm>
          <a:prstGeom prst="rect">
            <a:avLst/>
          </a:prstGeom>
          <a:solidFill>
            <a:srgbClr val="895730"/>
          </a:solidFill>
          <a:ln w="12700">
            <a:solidFill>
              <a:srgbClr val="895730"/>
            </a:solidFill>
            <a:prstDash val="solid"/>
          </a:ln>
        </p:spPr>
      </p:sp>
      <p:sp>
        <p:nvSpPr>
          <p:cNvPr id="36" name="Shape 34"/>
          <p:cNvSpPr/>
          <p:nvPr/>
        </p:nvSpPr>
        <p:spPr>
          <a:xfrm>
            <a:off x="0" y="3886200"/>
            <a:ext cx="12191695" cy="123444"/>
          </a:xfrm>
          <a:prstGeom prst="rect">
            <a:avLst/>
          </a:prstGeom>
          <a:solidFill>
            <a:srgbClr val="7D4D2A"/>
          </a:solidFill>
          <a:ln w="12700">
            <a:solidFill>
              <a:srgbClr val="7D4D2A"/>
            </a:solidFill>
            <a:prstDash val="solid"/>
          </a:ln>
        </p:spPr>
      </p:sp>
      <p:sp>
        <p:nvSpPr>
          <p:cNvPr id="37" name="Shape 35"/>
          <p:cNvSpPr/>
          <p:nvPr/>
        </p:nvSpPr>
        <p:spPr>
          <a:xfrm>
            <a:off x="0" y="4000500"/>
            <a:ext cx="12191695" cy="123444"/>
          </a:xfrm>
          <a:prstGeom prst="rect">
            <a:avLst/>
          </a:prstGeom>
          <a:solidFill>
            <a:srgbClr val="704324"/>
          </a:solidFill>
          <a:ln w="12700">
            <a:solidFill>
              <a:srgbClr val="704324"/>
            </a:solidFill>
            <a:prstDash val="solid"/>
          </a:ln>
        </p:spPr>
      </p:sp>
      <p:sp>
        <p:nvSpPr>
          <p:cNvPr id="38" name="Shape 36"/>
          <p:cNvSpPr/>
          <p:nvPr/>
        </p:nvSpPr>
        <p:spPr>
          <a:xfrm>
            <a:off x="0" y="4114800"/>
            <a:ext cx="12191695" cy="123444"/>
          </a:xfrm>
          <a:prstGeom prst="rect">
            <a:avLst/>
          </a:prstGeom>
          <a:solidFill>
            <a:srgbClr val="673D21"/>
          </a:solidFill>
          <a:ln w="12700">
            <a:solidFill>
              <a:srgbClr val="673D21"/>
            </a:solidFill>
            <a:prstDash val="solid"/>
          </a:ln>
        </p:spPr>
      </p:sp>
      <p:sp>
        <p:nvSpPr>
          <p:cNvPr id="39" name="Shape 37"/>
          <p:cNvSpPr/>
          <p:nvPr/>
        </p:nvSpPr>
        <p:spPr>
          <a:xfrm>
            <a:off x="0" y="4229100"/>
            <a:ext cx="12191695" cy="123444"/>
          </a:xfrm>
          <a:prstGeom prst="rect">
            <a:avLst/>
          </a:prstGeom>
          <a:solidFill>
            <a:srgbClr val="61391E"/>
          </a:solidFill>
          <a:ln w="12700">
            <a:solidFill>
              <a:srgbClr val="61391E"/>
            </a:solidFill>
            <a:prstDash val="solid"/>
          </a:ln>
        </p:spPr>
      </p:sp>
      <p:sp>
        <p:nvSpPr>
          <p:cNvPr id="40" name="Shape 38"/>
          <p:cNvSpPr/>
          <p:nvPr/>
        </p:nvSpPr>
        <p:spPr>
          <a:xfrm>
            <a:off x="0" y="4343400"/>
            <a:ext cx="12191695" cy="123444"/>
          </a:xfrm>
          <a:prstGeom prst="rect">
            <a:avLst/>
          </a:prstGeom>
          <a:solidFill>
            <a:srgbClr val="5A351C"/>
          </a:solidFill>
          <a:ln w="12700">
            <a:solidFill>
              <a:srgbClr val="5A351C"/>
            </a:solidFill>
            <a:prstDash val="solid"/>
          </a:ln>
        </p:spPr>
      </p:sp>
      <p:sp>
        <p:nvSpPr>
          <p:cNvPr id="41" name="Shape 39"/>
          <p:cNvSpPr/>
          <p:nvPr/>
        </p:nvSpPr>
        <p:spPr>
          <a:xfrm>
            <a:off x="0" y="4457700"/>
            <a:ext cx="12191695" cy="123444"/>
          </a:xfrm>
          <a:prstGeom prst="rect">
            <a:avLst/>
          </a:prstGeom>
          <a:solidFill>
            <a:srgbClr val="54311A"/>
          </a:solidFill>
          <a:ln w="12700">
            <a:solidFill>
              <a:srgbClr val="54311A"/>
            </a:solidFill>
            <a:prstDash val="solid"/>
          </a:ln>
        </p:spPr>
      </p:sp>
      <p:sp>
        <p:nvSpPr>
          <p:cNvPr id="42" name="Shape 40"/>
          <p:cNvSpPr/>
          <p:nvPr/>
        </p:nvSpPr>
        <p:spPr>
          <a:xfrm>
            <a:off x="0" y="4572000"/>
            <a:ext cx="12191695" cy="123444"/>
          </a:xfrm>
          <a:prstGeom prst="rect">
            <a:avLst/>
          </a:prstGeom>
          <a:solidFill>
            <a:srgbClr val="4D2E17"/>
          </a:solidFill>
          <a:ln w="12700">
            <a:solidFill>
              <a:srgbClr val="4D2E17"/>
            </a:solidFill>
            <a:prstDash val="solid"/>
          </a:ln>
        </p:spPr>
      </p:sp>
      <p:sp>
        <p:nvSpPr>
          <p:cNvPr id="43" name="Shape 41"/>
          <p:cNvSpPr/>
          <p:nvPr/>
        </p:nvSpPr>
        <p:spPr>
          <a:xfrm>
            <a:off x="0" y="4686300"/>
            <a:ext cx="12191695" cy="123444"/>
          </a:xfrm>
          <a:prstGeom prst="rect">
            <a:avLst/>
          </a:prstGeom>
          <a:solidFill>
            <a:srgbClr val="472A15"/>
          </a:solidFill>
          <a:ln w="12700">
            <a:solidFill>
              <a:srgbClr val="472A15"/>
            </a:solidFill>
            <a:prstDash val="solid"/>
          </a:ln>
        </p:spPr>
      </p:sp>
      <p:sp>
        <p:nvSpPr>
          <p:cNvPr id="44" name="Shape 42"/>
          <p:cNvSpPr/>
          <p:nvPr/>
        </p:nvSpPr>
        <p:spPr>
          <a:xfrm>
            <a:off x="0" y="4800600"/>
            <a:ext cx="12191695" cy="123444"/>
          </a:xfrm>
          <a:prstGeom prst="rect">
            <a:avLst/>
          </a:prstGeom>
          <a:solidFill>
            <a:srgbClr val="412613"/>
          </a:solidFill>
          <a:ln w="12700">
            <a:solidFill>
              <a:srgbClr val="412613"/>
            </a:solidFill>
            <a:prstDash val="solid"/>
          </a:ln>
        </p:spPr>
      </p:sp>
      <p:sp>
        <p:nvSpPr>
          <p:cNvPr id="45" name="Shape 43"/>
          <p:cNvSpPr/>
          <p:nvPr/>
        </p:nvSpPr>
        <p:spPr>
          <a:xfrm>
            <a:off x="0" y="4914900"/>
            <a:ext cx="12191695" cy="123444"/>
          </a:xfrm>
          <a:prstGeom prst="rect">
            <a:avLst/>
          </a:prstGeom>
          <a:solidFill>
            <a:srgbClr val="3A2211"/>
          </a:solidFill>
          <a:ln w="12700">
            <a:solidFill>
              <a:srgbClr val="3A2211"/>
            </a:solidFill>
            <a:prstDash val="solid"/>
          </a:ln>
        </p:spPr>
      </p:sp>
      <p:sp>
        <p:nvSpPr>
          <p:cNvPr id="46" name="Shape 44"/>
          <p:cNvSpPr/>
          <p:nvPr/>
        </p:nvSpPr>
        <p:spPr>
          <a:xfrm>
            <a:off x="0" y="5029200"/>
            <a:ext cx="12191695" cy="123444"/>
          </a:xfrm>
          <a:prstGeom prst="rect">
            <a:avLst/>
          </a:prstGeom>
          <a:solidFill>
            <a:srgbClr val="35200F"/>
          </a:solidFill>
          <a:ln w="12700">
            <a:solidFill>
              <a:srgbClr val="35200F"/>
            </a:solidFill>
            <a:prstDash val="solid"/>
          </a:ln>
        </p:spPr>
      </p:sp>
      <p:sp>
        <p:nvSpPr>
          <p:cNvPr id="47" name="Shape 45"/>
          <p:cNvSpPr/>
          <p:nvPr/>
        </p:nvSpPr>
        <p:spPr>
          <a:xfrm>
            <a:off x="0" y="5143500"/>
            <a:ext cx="12191695" cy="123444"/>
          </a:xfrm>
          <a:prstGeom prst="rect">
            <a:avLst/>
          </a:prstGeom>
          <a:solidFill>
            <a:srgbClr val="331E0E"/>
          </a:solidFill>
          <a:ln w="12700">
            <a:solidFill>
              <a:srgbClr val="331E0E"/>
            </a:solidFill>
            <a:prstDash val="solid"/>
          </a:ln>
        </p:spPr>
      </p:sp>
      <p:sp>
        <p:nvSpPr>
          <p:cNvPr id="48" name="Shape 46"/>
          <p:cNvSpPr/>
          <p:nvPr/>
        </p:nvSpPr>
        <p:spPr>
          <a:xfrm>
            <a:off x="0" y="5257800"/>
            <a:ext cx="12191695" cy="123444"/>
          </a:xfrm>
          <a:prstGeom prst="rect">
            <a:avLst/>
          </a:prstGeom>
          <a:solidFill>
            <a:srgbClr val="311D0E"/>
          </a:solidFill>
          <a:ln w="12700">
            <a:solidFill>
              <a:srgbClr val="311D0E"/>
            </a:solidFill>
            <a:prstDash val="solid"/>
          </a:ln>
        </p:spPr>
      </p:sp>
      <p:sp>
        <p:nvSpPr>
          <p:cNvPr id="49" name="Shape 47"/>
          <p:cNvSpPr/>
          <p:nvPr/>
        </p:nvSpPr>
        <p:spPr>
          <a:xfrm>
            <a:off x="0" y="5372100"/>
            <a:ext cx="12191695" cy="123444"/>
          </a:xfrm>
          <a:prstGeom prst="rect">
            <a:avLst/>
          </a:prstGeom>
          <a:solidFill>
            <a:srgbClr val="2E1C0D"/>
          </a:solidFill>
          <a:ln w="12700">
            <a:solidFill>
              <a:srgbClr val="2E1C0D"/>
            </a:solidFill>
            <a:prstDash val="solid"/>
          </a:ln>
        </p:spPr>
      </p:sp>
      <p:sp>
        <p:nvSpPr>
          <p:cNvPr id="50" name="Shape 48"/>
          <p:cNvSpPr/>
          <p:nvPr/>
        </p:nvSpPr>
        <p:spPr>
          <a:xfrm>
            <a:off x="0" y="5486400"/>
            <a:ext cx="12191695" cy="123444"/>
          </a:xfrm>
          <a:prstGeom prst="rect">
            <a:avLst/>
          </a:prstGeom>
          <a:solidFill>
            <a:srgbClr val="2C1A0D"/>
          </a:solidFill>
          <a:ln w="12700">
            <a:solidFill>
              <a:srgbClr val="2C1A0D"/>
            </a:solidFill>
            <a:prstDash val="solid"/>
          </a:ln>
        </p:spPr>
      </p:sp>
      <p:sp>
        <p:nvSpPr>
          <p:cNvPr id="51" name="Shape 49"/>
          <p:cNvSpPr/>
          <p:nvPr/>
        </p:nvSpPr>
        <p:spPr>
          <a:xfrm>
            <a:off x="0" y="5600700"/>
            <a:ext cx="12191695" cy="123444"/>
          </a:xfrm>
          <a:prstGeom prst="rect">
            <a:avLst/>
          </a:prstGeom>
          <a:solidFill>
            <a:srgbClr val="29190D"/>
          </a:solidFill>
          <a:ln w="12700">
            <a:solidFill>
              <a:srgbClr val="29190D"/>
            </a:solidFill>
            <a:prstDash val="solid"/>
          </a:ln>
        </p:spPr>
      </p:sp>
      <p:sp>
        <p:nvSpPr>
          <p:cNvPr id="52" name="Shape 50"/>
          <p:cNvSpPr/>
          <p:nvPr/>
        </p:nvSpPr>
        <p:spPr>
          <a:xfrm>
            <a:off x="0" y="5715000"/>
            <a:ext cx="12191695" cy="123444"/>
          </a:xfrm>
          <a:prstGeom prst="rect">
            <a:avLst/>
          </a:prstGeom>
          <a:solidFill>
            <a:srgbClr val="27180C"/>
          </a:solidFill>
          <a:ln w="12700">
            <a:solidFill>
              <a:srgbClr val="27180C"/>
            </a:solidFill>
            <a:prstDash val="solid"/>
          </a:ln>
        </p:spPr>
      </p:sp>
      <p:sp>
        <p:nvSpPr>
          <p:cNvPr id="53" name="Shape 51"/>
          <p:cNvSpPr/>
          <p:nvPr/>
        </p:nvSpPr>
        <p:spPr>
          <a:xfrm>
            <a:off x="0" y="5829300"/>
            <a:ext cx="12191695" cy="123444"/>
          </a:xfrm>
          <a:prstGeom prst="rect">
            <a:avLst/>
          </a:prstGeom>
          <a:solidFill>
            <a:srgbClr val="25160C"/>
          </a:solidFill>
          <a:ln w="12700">
            <a:solidFill>
              <a:srgbClr val="25160C"/>
            </a:solidFill>
            <a:prstDash val="solid"/>
          </a:ln>
        </p:spPr>
      </p:sp>
      <p:sp>
        <p:nvSpPr>
          <p:cNvPr id="54" name="Shape 52"/>
          <p:cNvSpPr/>
          <p:nvPr/>
        </p:nvSpPr>
        <p:spPr>
          <a:xfrm>
            <a:off x="0" y="5943600"/>
            <a:ext cx="12191695" cy="123444"/>
          </a:xfrm>
          <a:prstGeom prst="rect">
            <a:avLst/>
          </a:prstGeom>
          <a:solidFill>
            <a:srgbClr val="22150B"/>
          </a:solidFill>
          <a:ln w="12700">
            <a:solidFill>
              <a:srgbClr val="22150B"/>
            </a:solidFill>
            <a:prstDash val="solid"/>
          </a:ln>
        </p:spPr>
      </p:sp>
      <p:sp>
        <p:nvSpPr>
          <p:cNvPr id="55" name="Shape 53"/>
          <p:cNvSpPr/>
          <p:nvPr/>
        </p:nvSpPr>
        <p:spPr>
          <a:xfrm>
            <a:off x="0" y="6057900"/>
            <a:ext cx="12191695" cy="123444"/>
          </a:xfrm>
          <a:prstGeom prst="rect">
            <a:avLst/>
          </a:prstGeom>
          <a:solidFill>
            <a:srgbClr val="20140B"/>
          </a:solidFill>
          <a:ln w="12700">
            <a:solidFill>
              <a:srgbClr val="20140B"/>
            </a:solidFill>
            <a:prstDash val="solid"/>
          </a:ln>
        </p:spPr>
      </p:sp>
      <p:sp>
        <p:nvSpPr>
          <p:cNvPr id="56" name="Shape 54"/>
          <p:cNvSpPr/>
          <p:nvPr/>
        </p:nvSpPr>
        <p:spPr>
          <a:xfrm>
            <a:off x="0" y="6172200"/>
            <a:ext cx="12191695" cy="123444"/>
          </a:xfrm>
          <a:prstGeom prst="rect">
            <a:avLst/>
          </a:prstGeom>
          <a:solidFill>
            <a:srgbClr val="1E130A"/>
          </a:solidFill>
          <a:ln w="12700">
            <a:solidFill>
              <a:srgbClr val="1E130A"/>
            </a:solidFill>
            <a:prstDash val="solid"/>
          </a:ln>
        </p:spPr>
      </p:sp>
      <p:sp>
        <p:nvSpPr>
          <p:cNvPr id="57" name="Shape 55"/>
          <p:cNvSpPr/>
          <p:nvPr/>
        </p:nvSpPr>
        <p:spPr>
          <a:xfrm>
            <a:off x="0" y="6286500"/>
            <a:ext cx="12191695" cy="123444"/>
          </a:xfrm>
          <a:prstGeom prst="rect">
            <a:avLst/>
          </a:prstGeom>
          <a:solidFill>
            <a:srgbClr val="1B110A"/>
          </a:solidFill>
          <a:ln w="12700">
            <a:solidFill>
              <a:srgbClr val="1B110A"/>
            </a:solidFill>
            <a:prstDash val="solid"/>
          </a:ln>
        </p:spPr>
      </p:sp>
      <p:sp>
        <p:nvSpPr>
          <p:cNvPr id="58" name="Shape 56"/>
          <p:cNvSpPr/>
          <p:nvPr/>
        </p:nvSpPr>
        <p:spPr>
          <a:xfrm>
            <a:off x="0" y="6400800"/>
            <a:ext cx="12191695" cy="123444"/>
          </a:xfrm>
          <a:prstGeom prst="rect">
            <a:avLst/>
          </a:prstGeom>
          <a:solidFill>
            <a:srgbClr val="191009"/>
          </a:solidFill>
          <a:ln w="12700">
            <a:solidFill>
              <a:srgbClr val="191009"/>
            </a:solidFill>
            <a:prstDash val="solid"/>
          </a:ln>
        </p:spPr>
      </p:sp>
      <p:sp>
        <p:nvSpPr>
          <p:cNvPr id="59" name="Shape 57"/>
          <p:cNvSpPr/>
          <p:nvPr/>
        </p:nvSpPr>
        <p:spPr>
          <a:xfrm>
            <a:off x="0" y="6515100"/>
            <a:ext cx="12191695" cy="123444"/>
          </a:xfrm>
          <a:prstGeom prst="rect">
            <a:avLst/>
          </a:prstGeom>
          <a:solidFill>
            <a:srgbClr val="170F09"/>
          </a:solidFill>
          <a:ln w="12700">
            <a:solidFill>
              <a:srgbClr val="170F09"/>
            </a:solidFill>
            <a:prstDash val="solid"/>
          </a:ln>
        </p:spPr>
      </p:sp>
      <p:sp>
        <p:nvSpPr>
          <p:cNvPr id="60" name="Shape 58"/>
          <p:cNvSpPr/>
          <p:nvPr/>
        </p:nvSpPr>
        <p:spPr>
          <a:xfrm>
            <a:off x="0" y="6629400"/>
            <a:ext cx="12191695" cy="123444"/>
          </a:xfrm>
          <a:prstGeom prst="rect">
            <a:avLst/>
          </a:prstGeom>
          <a:solidFill>
            <a:srgbClr val="140D08"/>
          </a:solidFill>
          <a:ln w="12700">
            <a:solidFill>
              <a:srgbClr val="140D08"/>
            </a:solidFill>
            <a:prstDash val="solid"/>
          </a:ln>
        </p:spPr>
      </p:sp>
      <p:sp>
        <p:nvSpPr>
          <p:cNvPr id="61" name="Shape 59"/>
          <p:cNvSpPr/>
          <p:nvPr/>
        </p:nvSpPr>
        <p:spPr>
          <a:xfrm>
            <a:off x="0" y="6743700"/>
            <a:ext cx="12191695" cy="123444"/>
          </a:xfrm>
          <a:prstGeom prst="rect">
            <a:avLst/>
          </a:prstGeom>
          <a:solidFill>
            <a:srgbClr val="120C08"/>
          </a:solidFill>
          <a:ln w="12700">
            <a:solidFill>
              <a:srgbClr val="120C08"/>
            </a:solidFill>
            <a:prstDash val="solid"/>
          </a:ln>
        </p:spPr>
      </p:sp>
      <p:sp>
        <p:nvSpPr>
          <p:cNvPr id="62" name="Shape 60"/>
          <p:cNvSpPr/>
          <p:nvPr/>
        </p:nvSpPr>
        <p:spPr>
          <a:xfrm>
            <a:off x="4937760" y="-548640"/>
            <a:ext cx="8961120" cy="5852160"/>
          </a:xfrm>
          <a:prstGeom prst="ellipse">
            <a:avLst/>
          </a:prstGeom>
          <a:solidFill>
            <a:srgbClr val="FFF6E3">
              <a:alpha val="6000"/>
            </a:srgbClr>
          </a:solidFill>
          <a:ln w="12700">
            <a:solidFill>
              <a:srgbClr val="FFF6E3">
                <a:alpha val="0"/>
              </a:srgbClr>
            </a:solidFill>
            <a:prstDash val="solid"/>
          </a:ln>
        </p:spPr>
      </p:sp>
      <p:sp>
        <p:nvSpPr>
          <p:cNvPr id="63" name="Shape 61"/>
          <p:cNvSpPr/>
          <p:nvPr/>
        </p:nvSpPr>
        <p:spPr>
          <a:xfrm>
            <a:off x="5486400" y="-182880"/>
            <a:ext cx="7863840" cy="5120640"/>
          </a:xfrm>
          <a:prstGeom prst="ellipse">
            <a:avLst/>
          </a:prstGeom>
          <a:solidFill>
            <a:srgbClr val="FFF6E3">
              <a:alpha val="9000"/>
            </a:srgbClr>
          </a:solidFill>
          <a:ln w="12700">
            <a:solidFill>
              <a:srgbClr val="FFF6E3">
                <a:alpha val="0"/>
              </a:srgbClr>
            </a:solidFill>
            <a:prstDash val="solid"/>
          </a:ln>
        </p:spPr>
      </p:sp>
      <p:sp>
        <p:nvSpPr>
          <p:cNvPr id="64" name="Shape 62"/>
          <p:cNvSpPr/>
          <p:nvPr/>
        </p:nvSpPr>
        <p:spPr>
          <a:xfrm>
            <a:off x="6035040" y="365760"/>
            <a:ext cx="6766560" cy="4023360"/>
          </a:xfrm>
          <a:prstGeom prst="ellipse">
            <a:avLst/>
          </a:prstGeom>
          <a:solidFill>
            <a:srgbClr val="FFF6E3">
              <a:alpha val="12000"/>
            </a:srgbClr>
          </a:solidFill>
          <a:ln w="12700">
            <a:solidFill>
              <a:srgbClr val="FFF6E3">
                <a:alpha val="0"/>
              </a:srgbClr>
            </a:solidFill>
            <a:prstDash val="solid"/>
          </a:ln>
        </p:spPr>
      </p:sp>
      <p:sp>
        <p:nvSpPr>
          <p:cNvPr id="65" name="Shape 63"/>
          <p:cNvSpPr/>
          <p:nvPr/>
        </p:nvSpPr>
        <p:spPr>
          <a:xfrm>
            <a:off x="6583680" y="822960"/>
            <a:ext cx="5669280" cy="3200400"/>
          </a:xfrm>
          <a:prstGeom prst="ellipse">
            <a:avLst/>
          </a:prstGeom>
          <a:solidFill>
            <a:srgbClr val="FFF6E3">
              <a:alpha val="15000"/>
            </a:srgbClr>
          </a:solidFill>
          <a:ln w="12700">
            <a:solidFill>
              <a:srgbClr val="FFF6E3">
                <a:alpha val="0"/>
              </a:srgbClr>
            </a:solidFill>
            <a:prstDash val="solid"/>
          </a:ln>
        </p:spPr>
      </p:sp>
      <p:sp>
        <p:nvSpPr>
          <p:cNvPr id="66" name="Shape 64"/>
          <p:cNvSpPr/>
          <p:nvPr/>
        </p:nvSpPr>
        <p:spPr>
          <a:xfrm>
            <a:off x="7132320" y="1280160"/>
            <a:ext cx="4572000" cy="2377440"/>
          </a:xfrm>
          <a:prstGeom prst="ellipse">
            <a:avLst/>
          </a:prstGeom>
          <a:solidFill>
            <a:srgbClr val="FFF6E3">
              <a:alpha val="18000"/>
            </a:srgbClr>
          </a:solidFill>
          <a:ln w="12700">
            <a:solidFill>
              <a:srgbClr val="FFF6E3">
                <a:alpha val="0"/>
              </a:srgbClr>
            </a:solidFill>
            <a:prstDash val="solid"/>
          </a:ln>
        </p:spPr>
      </p:sp>
      <p:sp>
        <p:nvSpPr>
          <p:cNvPr id="67" name="Shape 65"/>
          <p:cNvSpPr/>
          <p:nvPr/>
        </p:nvSpPr>
        <p:spPr>
          <a:xfrm>
            <a:off x="7680960" y="1645920"/>
            <a:ext cx="3474720" cy="1737360"/>
          </a:xfrm>
          <a:prstGeom prst="ellipse">
            <a:avLst/>
          </a:prstGeom>
          <a:solidFill>
            <a:srgbClr val="FFF6E3">
              <a:alpha val="21000"/>
            </a:srgbClr>
          </a:solidFill>
          <a:ln w="12700">
            <a:solidFill>
              <a:srgbClr val="FFF6E3">
                <a:alpha val="0"/>
              </a:srgbClr>
            </a:solidFill>
            <a:prstDash val="solid"/>
          </a:ln>
        </p:spPr>
      </p:sp>
      <p:sp>
        <p:nvSpPr>
          <p:cNvPr id="68" name="Shape 66"/>
          <p:cNvSpPr/>
          <p:nvPr/>
        </p:nvSpPr>
        <p:spPr>
          <a:xfrm>
            <a:off x="-1828800" y="3840480"/>
            <a:ext cx="6400800" cy="4206240"/>
          </a:xfrm>
          <a:prstGeom prst="ellipse">
            <a:avLst/>
          </a:prstGeom>
          <a:solidFill>
            <a:srgbClr val="2A170B">
              <a:alpha val="45000"/>
            </a:srgbClr>
          </a:solidFill>
          <a:ln w="12700">
            <a:solidFill>
              <a:srgbClr val="2A170B">
                <a:alpha val="0"/>
              </a:srgbClr>
            </a:solidFill>
            <a:prstDash val="solid"/>
          </a:ln>
        </p:spPr>
      </p:sp>
      <p:sp>
        <p:nvSpPr>
          <p:cNvPr id="69" name="Shape 67"/>
          <p:cNvSpPr/>
          <p:nvPr/>
        </p:nvSpPr>
        <p:spPr>
          <a:xfrm>
            <a:off x="548640" y="3849624"/>
            <a:ext cx="11094415" cy="27432"/>
          </a:xfrm>
          <a:prstGeom prst="rect">
            <a:avLst/>
          </a:prstGeom>
          <a:solidFill>
            <a:srgbClr val="FFF2DC">
              <a:alpha val="85000"/>
            </a:srgbClr>
          </a:solidFill>
          <a:ln w="12700">
            <a:solidFill>
              <a:srgbClr val="FFF2DC">
                <a:alpha val="0"/>
              </a:srgbClr>
            </a:solidFill>
            <a:prstDash val="solid"/>
          </a:ln>
        </p:spPr>
      </p:sp>
      <p:sp>
        <p:nvSpPr>
          <p:cNvPr id="70" name="Text 68"/>
          <p:cNvSpPr txBox="1"/>
          <p:nvPr/>
        </p:nvSpPr>
        <p:spPr>
          <a:xfrm>
            <a:off x="0" y="2331720"/>
            <a:ext cx="12191695" cy="1463040"/>
          </a:xfrm>
          <a:prstGeom prst="rect">
            <a:avLst/>
          </a:prstGeom>
          <a:noFill/>
          <a:ln/>
        </p:spPr>
        <p:txBody>
          <a:bodyPr wrap="square" lIns="0" tIns="0" rIns="0" bIns="0" rtlCol="0" anchor="b"/>
          <a:lstStyle/>
          <a:p>
            <a:pPr algn="ctr" indent="0" marL="0">
              <a:buNone/>
            </a:pPr>
            <a:r>
              <a:rPr lang="en-US" sz="9200" spc="3000" kern="0" dirty="0">
                <a:solidFill>
                  <a:srgbClr val="FFFFFF"/>
                </a:solidFill>
                <a:effectLst>
                  <a:glow rad="152400">
                    <a:srgbClr val="FFECC8">
                      <a:alpha val="60000"/>
                    </a:srgbClr>
                  </a:glow>
                </a:effectLst>
                <a:latin typeface="Arial" pitchFamily="34" charset="0"/>
                <a:ea typeface="Arial" pitchFamily="34" charset="-122"/>
                <a:cs typeface="Arial" pitchFamily="34" charset="-120"/>
              </a:rPr>
              <a:t>ACE OPS</a:t>
            </a:r>
            <a:endParaRPr lang="en-US" sz="9200" dirty="0"/>
          </a:p>
        </p:txBody>
      </p:sp>
      <p:sp>
        <p:nvSpPr>
          <p:cNvPr id="71" name="Text 69"/>
          <p:cNvSpPr txBox="1"/>
          <p:nvPr/>
        </p:nvSpPr>
        <p:spPr>
          <a:xfrm>
            <a:off x="0" y="4114800"/>
            <a:ext cx="12191695" cy="365760"/>
          </a:xfrm>
          <a:prstGeom prst="rect">
            <a:avLst/>
          </a:prstGeom>
          <a:noFill/>
          <a:ln/>
        </p:spPr>
        <p:txBody>
          <a:bodyPr wrap="square" lIns="0" tIns="0" rIns="0" bIns="0" rtlCol="0" anchor="ctr"/>
          <a:lstStyle/>
          <a:p>
            <a:pPr algn="ctr" indent="0" marL="0">
              <a:buNone/>
            </a:pPr>
            <a:r>
              <a:rPr lang="en-US" sz="1500" spc="1000" kern="0" dirty="0">
                <a:solidFill>
                  <a:srgbClr val="FFF4E4"/>
                </a:solidFill>
                <a:latin typeface="Arial" pitchFamily="34" charset="0"/>
                <a:ea typeface="Arial" pitchFamily="34" charset="-122"/>
                <a:cs typeface="Arial" pitchFamily="34" charset="-120"/>
              </a:rPr>
              <a:t>THE ALWAYS-ON DELIVERY AGENT FOR AGENCIES</a:t>
            </a:r>
            <a:endParaRPr lang="en-US" sz="1500" dirty="0"/>
          </a:p>
        </p:txBody>
      </p:sp>
      <p:sp>
        <p:nvSpPr>
          <p:cNvPr id="72" name="Text 70"/>
          <p:cNvSpPr txBox="1"/>
          <p:nvPr/>
        </p:nvSpPr>
        <p:spPr>
          <a:xfrm>
            <a:off x="0" y="4572000"/>
            <a:ext cx="12191695" cy="365760"/>
          </a:xfrm>
          <a:prstGeom prst="rect">
            <a:avLst/>
          </a:prstGeom>
          <a:noFill/>
          <a:ln/>
        </p:spPr>
        <p:txBody>
          <a:bodyPr wrap="square" lIns="0" tIns="0" rIns="0" bIns="0" rtlCol="0" anchor="ctr"/>
          <a:lstStyle/>
          <a:p>
            <a:pPr algn="ctr" indent="0" marL="0">
              <a:buNone/>
            </a:pPr>
            <a:r>
              <a:rPr lang="en-US" sz="1400" dirty="0">
                <a:solidFill>
                  <a:srgbClr val="F3DFC2"/>
                </a:solidFill>
                <a:latin typeface="Arial" pitchFamily="34" charset="0"/>
                <a:ea typeface="Arial" pitchFamily="34" charset="-122"/>
                <a:cs typeface="Arial" pitchFamily="34" charset="-120"/>
              </a:rPr>
              <a:t>Your client's AI answers the brief. Our agent drafts the work. People approve it. Nothing leaves the box.</a:t>
            </a:r>
            <a:endParaRPr lang="en-US" sz="1400" dirty="0"/>
          </a:p>
        </p:txBody>
      </p:sp>
      <p:sp>
        <p:nvSpPr>
          <p:cNvPr id="73" name="Text 71"/>
          <p:cNvSpPr txBox="1"/>
          <p:nvPr/>
        </p:nvSpPr>
        <p:spPr>
          <a:xfrm>
            <a:off x="0" y="5166360"/>
            <a:ext cx="12191695" cy="640080"/>
          </a:xfrm>
          <a:prstGeom prst="rect">
            <a:avLst/>
          </a:prstGeom>
          <a:noFill/>
          <a:ln/>
        </p:spPr>
        <p:txBody>
          <a:bodyPr wrap="square" lIns="0" tIns="0" rIns="0" bIns="0" rtlCol="0" anchor="ctr"/>
          <a:lstStyle/>
          <a:p>
            <a:pPr algn="ctr" indent="0" marL="0">
              <a:lnSpc>
                <a:spcPct val="130000"/>
              </a:lnSpc>
              <a:buNone/>
            </a:pPr>
            <a:r>
              <a:rPr lang="en-US" sz="1300" b="1" dirty="0">
                <a:solidFill>
                  <a:srgbClr val="FFF6E6"/>
                </a:solidFill>
                <a:latin typeface="Arial" pitchFamily="34" charset="0"/>
                <a:ea typeface="Arial" pitchFamily="34" charset="-122"/>
                <a:cs typeface="Arial" pitchFamily="34" charset="-120"/>
              </a:rPr>
              <a:t>Carl · Tyler · Jasmine T · Moorthy</a:t>
            </a:r>
            <a:pPr algn="ctr" indent="0" marL="0">
              <a:lnSpc>
                <a:spcPct val="130000"/>
              </a:lnSpc>
              <a:buNone/>
            </a:pPr>
            <a:r>
              <a:rPr lang="en-US" sz="1300" dirty="0">
                <a:solidFill>
                  <a:srgbClr val="E4D8C6"/>
                </a:solidFill>
                <a:latin typeface="Arial" pitchFamily="34" charset="0"/>
                <a:ea typeface="Arial" pitchFamily="34" charset="-122"/>
                <a:cs typeface="Arial" pitchFamily="34" charset="-120"/>
              </a:rPr>
              <a:t> — ACE, a performance-marketing agency</a:t>
            </a:r>
            <a:pPr algn="ctr" indent="0" marL="0">
              <a:lnSpc>
                <a:spcPct val="130000"/>
              </a:lnSpc>
              <a:buNone/>
            </a:pPr>
            <a:endParaRPr lang="en-US" sz="1300" dirty="0"/>
          </a:p>
          <a:p>
            <a:pPr algn="ctr" indent="0" marL="0">
              <a:lnSpc>
                <a:spcPct val="130000"/>
              </a:lnSpc>
              <a:buNone/>
            </a:pPr>
            <a:r>
              <a:rPr lang="en-US" sz="1300" dirty="0">
                <a:solidFill>
                  <a:srgbClr val="E4D8C6"/>
                </a:solidFill>
                <a:latin typeface="Arial" pitchFamily="34" charset="0"/>
                <a:ea typeface="Arial" pitchFamily="34" charset="-122"/>
                <a:cs typeface="Arial" pitchFamily="34" charset="-120"/>
              </a:rPr>
              <a:t>Dell × NVIDIA AI Hackathon · San Francisco · 25 October 2026</a:t>
            </a:r>
            <a:endParaRPr lang="en-US" sz="1300" dirty="0"/>
          </a:p>
        </p:txBody>
      </p:sp>
      <p:sp>
        <p:nvSpPr>
          <p:cNvPr id="74" name="Text 72"/>
          <p:cNvSpPr txBox="1"/>
          <p:nvPr/>
        </p:nvSpPr>
        <p:spPr>
          <a:xfrm>
            <a:off x="365760" y="6446520"/>
            <a:ext cx="5486400" cy="274320"/>
          </a:xfrm>
          <a:prstGeom prst="rect">
            <a:avLst/>
          </a:prstGeom>
          <a:noFill/>
          <a:ln/>
        </p:spPr>
        <p:txBody>
          <a:bodyPr wrap="square" lIns="0" tIns="0" rIns="0" bIns="0" rtlCol="0" anchor="ctr"/>
          <a:lstStyle/>
          <a:p>
            <a:pPr indent="0" marL="0">
              <a:buNone/>
            </a:pPr>
            <a:r>
              <a:rPr lang="en-US" sz="800" spc="300" kern="0" dirty="0">
                <a:solidFill>
                  <a:srgbClr val="E8D5B8"/>
                </a:solidFill>
                <a:latin typeface="Arial" pitchFamily="34" charset="0"/>
                <a:ea typeface="Arial" pitchFamily="34" charset="-122"/>
                <a:cs typeface="Arial" pitchFamily="34" charset="-120"/>
              </a:rPr>
              <a:t>RUNS ON DELL PRO MAX GB10 · ALL INFERENCE LOCAL</a:t>
            </a:r>
            <a:endParaRPr lang="en-US" sz="800" dirty="0"/>
          </a:p>
        </p:txBody>
      </p:sp>
      <p:sp>
        <p:nvSpPr>
          <p:cNvPr id="75" name="Text 73"/>
          <p:cNvSpPr txBox="1"/>
          <p:nvPr/>
        </p:nvSpPr>
        <p:spPr>
          <a:xfrm>
            <a:off x="5425135" y="6446520"/>
            <a:ext cx="6400800" cy="274320"/>
          </a:xfrm>
          <a:prstGeom prst="rect">
            <a:avLst/>
          </a:prstGeom>
          <a:noFill/>
          <a:ln/>
        </p:spPr>
        <p:txBody>
          <a:bodyPr wrap="square" lIns="0" tIns="0" rIns="0" bIns="0" rtlCol="0" anchor="ctr"/>
          <a:lstStyle/>
          <a:p>
            <a:pPr algn="r" indent="0" marL="0">
              <a:buNone/>
            </a:pPr>
            <a:r>
              <a:rPr lang="en-US" sz="800" spc="300" kern="0" dirty="0">
                <a:solidFill>
                  <a:srgbClr val="E8D5B8"/>
                </a:solidFill>
                <a:latin typeface="Arial" pitchFamily="34" charset="0"/>
                <a:ea typeface="Arial" pitchFamily="34" charset="-122"/>
                <a:cs typeface="Arial" pitchFamily="34" charset="-120"/>
              </a:rPr>
              <a:t>INTAKE → BRD → SPEC → TICKETS → BUILD → REVIEW → RELEASE → STATUS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411480"/>
            <a:ext cx="10820095" cy="320040"/>
          </a:xfrm>
          <a:prstGeom prst="rect">
            <a:avLst/>
          </a:prstGeom>
          <a:noFill/>
          <a:ln/>
        </p:spPr>
        <p:txBody>
          <a:bodyPr wrap="square" lIns="0" tIns="0" rIns="0" bIns="0" rtlCol="0" anchor="ctr"/>
          <a:lstStyle/>
          <a:p>
            <a:pPr indent="0" marL="0">
              <a:buNone/>
            </a:pPr>
            <a:r>
              <a:rPr lang="en-US" sz="1100" spc="600" kern="0" dirty="0">
                <a:solidFill>
                  <a:srgbClr val="E8C290"/>
                </a:solidFill>
                <a:latin typeface="Arial" pitchFamily="34" charset="0"/>
                <a:ea typeface="Arial" pitchFamily="34" charset="-122"/>
                <a:cs typeface="Arial" pitchFamily="34" charset="-120"/>
              </a:rPr>
              <a:t>THE PROBLEM</a:t>
            </a:r>
            <a:endParaRPr lang="en-US" sz="1100" dirty="0"/>
          </a:p>
        </p:txBody>
      </p:sp>
      <p:sp>
        <p:nvSpPr>
          <p:cNvPr id="3" name="Text 1"/>
          <p:cNvSpPr txBox="1"/>
          <p:nvPr/>
        </p:nvSpPr>
        <p:spPr>
          <a:xfrm>
            <a:off x="685800" y="731520"/>
            <a:ext cx="10820095" cy="1143000"/>
          </a:xfrm>
          <a:prstGeom prst="rect">
            <a:avLst/>
          </a:prstGeom>
          <a:noFill/>
          <a:ln/>
        </p:spPr>
        <p:txBody>
          <a:bodyPr wrap="square" lIns="0" tIns="0" rIns="0" bIns="0" rtlCol="0" anchor="t"/>
          <a:lstStyle/>
          <a:p>
            <a:pPr indent="0" marL="0">
              <a:lnSpc>
                <a:spcPct val="105000"/>
              </a:lnSpc>
              <a:buNone/>
            </a:pPr>
            <a:r>
              <a:rPr lang="en-US" sz="3400" dirty="0">
                <a:solidFill>
                  <a:srgbClr val="FFF6E6"/>
                </a:solidFill>
                <a:latin typeface="Arial" pitchFamily="34" charset="0"/>
                <a:ea typeface="Arial" pitchFamily="34" charset="-122"/>
                <a:cs typeface="Arial" pitchFamily="34" charset="-120"/>
              </a:rPr>
              <a:t>New clients cost an agency </a:t>
            </a:r>
            <a:pPr indent="0" marL="0">
              <a:lnSpc>
                <a:spcPct val="105000"/>
              </a:lnSpc>
              <a:buNone/>
            </a:pPr>
            <a:r>
              <a:rPr lang="en-US" sz="3400" dirty="0">
                <a:solidFill>
                  <a:srgbClr val="F3D9A4"/>
                </a:solidFill>
                <a:latin typeface="Arial" pitchFamily="34" charset="0"/>
                <a:ea typeface="Arial" pitchFamily="34" charset="-122"/>
                <a:cs typeface="Arial" pitchFamily="34" charset="-120"/>
              </a:rPr>
              <a:t>weeks</a:t>
            </a:r>
            <a:pPr indent="0" marL="0">
              <a:lnSpc>
                <a:spcPct val="105000"/>
              </a:lnSpc>
              <a:buNone/>
            </a:pPr>
            <a:r>
              <a:rPr lang="en-US" sz="3400" dirty="0">
                <a:solidFill>
                  <a:srgbClr val="FFF6E6"/>
                </a:solidFill>
                <a:latin typeface="Arial" pitchFamily="34" charset="0"/>
                <a:ea typeface="Arial" pitchFamily="34" charset="-122"/>
                <a:cs typeface="Arial" pitchFamily="34" charset="-120"/>
              </a:rPr>
              <a:t> before the first euro is spent.</a:t>
            </a:r>
            <a:endParaRPr lang="en-US" sz="3400" dirty="0"/>
          </a:p>
        </p:txBody>
      </p:sp>
      <p:sp>
        <p:nvSpPr>
          <p:cNvPr id="4" name="Shape 2"/>
          <p:cNvSpPr/>
          <p:nvPr/>
        </p:nvSpPr>
        <p:spPr>
          <a:xfrm>
            <a:off x="685800" y="2057400"/>
            <a:ext cx="3454298" cy="1600200"/>
          </a:xfrm>
          <a:prstGeom prst="roundRect">
            <a:avLst>
              <a:gd name="adj" fmla="val 6857"/>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5" name="Text 3"/>
          <p:cNvSpPr txBox="1"/>
          <p:nvPr/>
        </p:nvSpPr>
        <p:spPr>
          <a:xfrm>
            <a:off x="960120" y="2240280"/>
            <a:ext cx="2905658" cy="777240"/>
          </a:xfrm>
          <a:prstGeom prst="rect">
            <a:avLst/>
          </a:prstGeom>
          <a:noFill/>
          <a:ln/>
        </p:spPr>
        <p:txBody>
          <a:bodyPr wrap="square" lIns="0" tIns="0" rIns="0" bIns="0" rtlCol="0" anchor="ctr"/>
          <a:lstStyle/>
          <a:p>
            <a:pPr indent="0" marL="0">
              <a:buNone/>
            </a:pPr>
            <a:r>
              <a:rPr lang="en-US" sz="4800" dirty="0">
                <a:solidFill>
                  <a:srgbClr val="FFF6E6"/>
                </a:solidFill>
                <a:latin typeface="Arial" pitchFamily="34" charset="0"/>
                <a:ea typeface="Arial" pitchFamily="34" charset="-122"/>
                <a:cs typeface="Arial" pitchFamily="34" charset="-120"/>
              </a:rPr>
              <a:t>2–4</a:t>
            </a:r>
            <a:pPr indent="0" marL="0">
              <a:buNone/>
            </a:pPr>
            <a:r>
              <a:rPr lang="en-US" sz="2200" dirty="0">
                <a:solidFill>
                  <a:srgbClr val="E8C290"/>
                </a:solidFill>
                <a:latin typeface="Arial" pitchFamily="34" charset="0"/>
                <a:ea typeface="Arial" pitchFamily="34" charset="-122"/>
                <a:cs typeface="Arial" pitchFamily="34" charset="-120"/>
              </a:rPr>
              <a:t> weeks</a:t>
            </a:r>
            <a:endParaRPr lang="en-US" sz="4800" dirty="0"/>
          </a:p>
        </p:txBody>
      </p:sp>
      <p:sp>
        <p:nvSpPr>
          <p:cNvPr id="6" name="Text 4"/>
          <p:cNvSpPr txBox="1"/>
          <p:nvPr/>
        </p:nvSpPr>
        <p:spPr>
          <a:xfrm>
            <a:off x="960120" y="3044952"/>
            <a:ext cx="2905658" cy="274320"/>
          </a:xfrm>
          <a:prstGeom prst="rect">
            <a:avLst/>
          </a:prstGeom>
          <a:noFill/>
          <a:ln/>
        </p:spPr>
        <p:txBody>
          <a:bodyPr wrap="square" lIns="0" tIns="0" rIns="0" bIns="0" rtlCol="0" anchor="t"/>
          <a:lstStyle/>
          <a:p>
            <a:pPr indent="0" marL="0">
              <a:buNone/>
            </a:pPr>
            <a:r>
              <a:rPr lang="en-US" sz="1200" dirty="0">
                <a:solidFill>
                  <a:srgbClr val="B5A186"/>
                </a:solidFill>
                <a:latin typeface="Arial" pitchFamily="34" charset="0"/>
                <a:ea typeface="Arial" pitchFamily="34" charset="-122"/>
                <a:cs typeface="Arial" pitchFamily="34" charset="-120"/>
              </a:rPr>
              <a:t>from signature to first spend</a:t>
            </a:r>
            <a:endParaRPr lang="en-US" sz="1200" dirty="0"/>
          </a:p>
        </p:txBody>
      </p:sp>
      <p:sp>
        <p:nvSpPr>
          <p:cNvPr id="7" name="Shape 5"/>
          <p:cNvSpPr/>
          <p:nvPr/>
        </p:nvSpPr>
        <p:spPr>
          <a:xfrm>
            <a:off x="960120" y="3337560"/>
            <a:ext cx="1143000" cy="219456"/>
          </a:xfrm>
          <a:prstGeom prst="roundRect">
            <a:avLst>
              <a:gd name="adj" fmla="val 50000"/>
            </a:avLst>
          </a:prstGeom>
          <a:solidFill>
            <a:srgbClr val="E8C290">
              <a:alpha val="12000"/>
            </a:srgbClr>
          </a:solidFill>
          <a:ln w="9525">
            <a:solidFill>
              <a:srgbClr val="E8C290">
                <a:alpha val="50000"/>
              </a:srgbClr>
            </a:solidFill>
            <a:prstDash val="solid"/>
          </a:ln>
        </p:spPr>
      </p:sp>
      <p:sp>
        <p:nvSpPr>
          <p:cNvPr id="8" name="Text 6"/>
          <p:cNvSpPr txBox="1"/>
          <p:nvPr/>
        </p:nvSpPr>
        <p:spPr>
          <a:xfrm>
            <a:off x="960120" y="3337560"/>
            <a:ext cx="1143000" cy="219456"/>
          </a:xfrm>
          <a:prstGeom prst="rect">
            <a:avLst/>
          </a:prstGeom>
          <a:noFill/>
          <a:ln/>
        </p:spPr>
        <p:txBody>
          <a:bodyPr wrap="square" lIns="0" tIns="0" rIns="0" bIns="0" rtlCol="0" anchor="ctr"/>
          <a:lstStyle/>
          <a:p>
            <a:pPr algn="ctr" indent="0" marL="0">
              <a:buNone/>
            </a:pPr>
            <a:r>
              <a:rPr lang="en-US" sz="750" b="1" spc="200" kern="0" dirty="0">
                <a:solidFill>
                  <a:srgbClr val="E8C290"/>
                </a:solidFill>
                <a:latin typeface="Arial" pitchFamily="34" charset="0"/>
                <a:ea typeface="Arial" pitchFamily="34" charset="-122"/>
                <a:cs typeface="Arial" pitchFamily="34" charset="-120"/>
              </a:rPr>
              <a:t>HYPOTHESIS</a:t>
            </a:r>
            <a:endParaRPr lang="en-US" sz="750" dirty="0"/>
          </a:p>
        </p:txBody>
      </p:sp>
      <p:sp>
        <p:nvSpPr>
          <p:cNvPr id="9" name="Shape 7"/>
          <p:cNvSpPr/>
          <p:nvPr/>
        </p:nvSpPr>
        <p:spPr>
          <a:xfrm>
            <a:off x="4368698" y="2057400"/>
            <a:ext cx="3454298" cy="1600200"/>
          </a:xfrm>
          <a:prstGeom prst="roundRect">
            <a:avLst>
              <a:gd name="adj" fmla="val 6857"/>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10" name="Text 8"/>
          <p:cNvSpPr txBox="1"/>
          <p:nvPr/>
        </p:nvSpPr>
        <p:spPr>
          <a:xfrm>
            <a:off x="4643018" y="2240280"/>
            <a:ext cx="2905658" cy="777240"/>
          </a:xfrm>
          <a:prstGeom prst="rect">
            <a:avLst/>
          </a:prstGeom>
          <a:noFill/>
          <a:ln/>
        </p:spPr>
        <p:txBody>
          <a:bodyPr wrap="square" lIns="0" tIns="0" rIns="0" bIns="0" rtlCol="0" anchor="ctr"/>
          <a:lstStyle/>
          <a:p>
            <a:pPr indent="0" marL="0">
              <a:buNone/>
            </a:pPr>
            <a:r>
              <a:rPr lang="en-US" sz="4800" dirty="0">
                <a:solidFill>
                  <a:srgbClr val="FFF6E6"/>
                </a:solidFill>
                <a:latin typeface="Arial" pitchFamily="34" charset="0"/>
                <a:ea typeface="Arial" pitchFamily="34" charset="-122"/>
                <a:cs typeface="Arial" pitchFamily="34" charset="-120"/>
              </a:rPr>
              <a:t>8</a:t>
            </a:r>
            <a:pPr indent="0" marL="0">
              <a:buNone/>
            </a:pPr>
            <a:r>
              <a:rPr lang="en-US" sz="2200" dirty="0">
                <a:solidFill>
                  <a:srgbClr val="E8C290"/>
                </a:solidFill>
                <a:latin typeface="Arial" pitchFamily="34" charset="0"/>
                <a:ea typeface="Arial" pitchFamily="34" charset="-122"/>
                <a:cs typeface="Arial" pitchFamily="34" charset="-120"/>
              </a:rPr>
              <a:t> of 32</a:t>
            </a:r>
            <a:endParaRPr lang="en-US" sz="4800" dirty="0"/>
          </a:p>
        </p:txBody>
      </p:sp>
      <p:sp>
        <p:nvSpPr>
          <p:cNvPr id="11" name="Text 9"/>
          <p:cNvSpPr txBox="1"/>
          <p:nvPr/>
        </p:nvSpPr>
        <p:spPr>
          <a:xfrm>
            <a:off x="4643018" y="3044952"/>
            <a:ext cx="2905658" cy="274320"/>
          </a:xfrm>
          <a:prstGeom prst="rect">
            <a:avLst/>
          </a:prstGeom>
          <a:noFill/>
          <a:ln/>
        </p:spPr>
        <p:txBody>
          <a:bodyPr wrap="square" lIns="0" tIns="0" rIns="0" bIns="0" rtlCol="0" anchor="t"/>
          <a:lstStyle/>
          <a:p>
            <a:pPr indent="0" marL="0">
              <a:buNone/>
            </a:pPr>
            <a:r>
              <a:rPr lang="en-US" sz="1200" dirty="0">
                <a:solidFill>
                  <a:srgbClr val="B5A186"/>
                </a:solidFill>
                <a:latin typeface="Arial" pitchFamily="34" charset="0"/>
                <a:ea typeface="Arial" pitchFamily="34" charset="-122"/>
                <a:cs typeface="Arial" pitchFamily="34" charset="-120"/>
              </a:rPr>
              <a:t>onboarding answers still missing at kickoff</a:t>
            </a:r>
            <a:endParaRPr lang="en-US" sz="1200" dirty="0"/>
          </a:p>
        </p:txBody>
      </p:sp>
      <p:sp>
        <p:nvSpPr>
          <p:cNvPr id="12" name="Shape 10"/>
          <p:cNvSpPr/>
          <p:nvPr/>
        </p:nvSpPr>
        <p:spPr>
          <a:xfrm>
            <a:off x="4643018" y="3337560"/>
            <a:ext cx="1143000" cy="219456"/>
          </a:xfrm>
          <a:prstGeom prst="roundRect">
            <a:avLst>
              <a:gd name="adj" fmla="val 50000"/>
            </a:avLst>
          </a:prstGeom>
          <a:solidFill>
            <a:srgbClr val="8FD6A8">
              <a:alpha val="12000"/>
            </a:srgbClr>
          </a:solidFill>
          <a:ln w="9525">
            <a:solidFill>
              <a:srgbClr val="8FD6A8">
                <a:alpha val="50000"/>
              </a:srgbClr>
            </a:solidFill>
            <a:prstDash val="solid"/>
          </a:ln>
        </p:spPr>
      </p:sp>
      <p:sp>
        <p:nvSpPr>
          <p:cNvPr id="13" name="Text 11"/>
          <p:cNvSpPr txBox="1"/>
          <p:nvPr/>
        </p:nvSpPr>
        <p:spPr>
          <a:xfrm>
            <a:off x="4643018" y="3337560"/>
            <a:ext cx="1143000" cy="219456"/>
          </a:xfrm>
          <a:prstGeom prst="rect">
            <a:avLst/>
          </a:prstGeom>
          <a:noFill/>
          <a:ln/>
        </p:spPr>
        <p:txBody>
          <a:bodyPr wrap="square" lIns="0" tIns="0" rIns="0" bIns="0" rtlCol="0" anchor="ctr"/>
          <a:lstStyle/>
          <a:p>
            <a:pPr algn="ctr" indent="0" marL="0">
              <a:buNone/>
            </a:pPr>
            <a:r>
              <a:rPr lang="en-US" sz="750" b="1" spc="200" kern="0" dirty="0">
                <a:solidFill>
                  <a:srgbClr val="8FD6A8"/>
                </a:solidFill>
                <a:latin typeface="Arial" pitchFamily="34" charset="0"/>
                <a:ea typeface="Arial" pitchFamily="34" charset="-122"/>
                <a:cs typeface="Arial" pitchFamily="34" charset="-120"/>
              </a:rPr>
              <a:t>NORTHLINE SAMPLE</a:t>
            </a:r>
            <a:endParaRPr lang="en-US" sz="750" dirty="0"/>
          </a:p>
        </p:txBody>
      </p:sp>
      <p:sp>
        <p:nvSpPr>
          <p:cNvPr id="14" name="Shape 12"/>
          <p:cNvSpPr/>
          <p:nvPr/>
        </p:nvSpPr>
        <p:spPr>
          <a:xfrm>
            <a:off x="8051597" y="2057400"/>
            <a:ext cx="3454298" cy="1600200"/>
          </a:xfrm>
          <a:prstGeom prst="roundRect">
            <a:avLst>
              <a:gd name="adj" fmla="val 6857"/>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15" name="Text 13"/>
          <p:cNvSpPr txBox="1"/>
          <p:nvPr/>
        </p:nvSpPr>
        <p:spPr>
          <a:xfrm>
            <a:off x="8325917" y="2240280"/>
            <a:ext cx="2905658" cy="777240"/>
          </a:xfrm>
          <a:prstGeom prst="rect">
            <a:avLst/>
          </a:prstGeom>
          <a:noFill/>
          <a:ln/>
        </p:spPr>
        <p:txBody>
          <a:bodyPr wrap="square" lIns="0" tIns="0" rIns="0" bIns="0" rtlCol="0" anchor="ctr"/>
          <a:lstStyle/>
          <a:p>
            <a:pPr indent="0" marL="0">
              <a:buNone/>
            </a:pPr>
            <a:r>
              <a:rPr lang="en-US" sz="4800" dirty="0">
                <a:solidFill>
                  <a:srgbClr val="FFF6E6"/>
                </a:solidFill>
                <a:latin typeface="Arial" pitchFamily="34" charset="0"/>
                <a:ea typeface="Arial" pitchFamily="34" charset="-122"/>
                <a:cs typeface="Arial" pitchFamily="34" charset="-120"/>
              </a:rPr>
              <a:t>12</a:t>
            </a:r>
            <a:pPr indent="0" marL="0">
              <a:buNone/>
            </a:pPr>
            <a:r>
              <a:rPr lang="en-US" sz="2200" dirty="0">
                <a:solidFill>
                  <a:srgbClr val="E8C290"/>
                </a:solidFill>
                <a:latin typeface="Arial" pitchFamily="34" charset="0"/>
                <a:ea typeface="Arial" pitchFamily="34" charset="-122"/>
                <a:cs typeface="Arial" pitchFamily="34" charset="-120"/>
              </a:rPr>
              <a:t> hours</a:t>
            </a:r>
            <a:endParaRPr lang="en-US" sz="4800" dirty="0"/>
          </a:p>
        </p:txBody>
      </p:sp>
      <p:sp>
        <p:nvSpPr>
          <p:cNvPr id="16" name="Text 14"/>
          <p:cNvSpPr txBox="1"/>
          <p:nvPr/>
        </p:nvSpPr>
        <p:spPr>
          <a:xfrm>
            <a:off x="8325917" y="3044952"/>
            <a:ext cx="2905658" cy="274320"/>
          </a:xfrm>
          <a:prstGeom prst="rect">
            <a:avLst/>
          </a:prstGeom>
          <a:noFill/>
          <a:ln/>
        </p:spPr>
        <p:txBody>
          <a:bodyPr wrap="square" lIns="0" tIns="0" rIns="0" bIns="0" rtlCol="0" anchor="t"/>
          <a:lstStyle/>
          <a:p>
            <a:pPr indent="0" marL="0">
              <a:buNone/>
            </a:pPr>
            <a:r>
              <a:rPr lang="en-US" sz="1200" dirty="0">
                <a:solidFill>
                  <a:srgbClr val="B5A186"/>
                </a:solidFill>
                <a:latin typeface="Arial" pitchFamily="34" charset="0"/>
                <a:ea typeface="Arial" pitchFamily="34" charset="-122"/>
                <a:cs typeface="Arial" pitchFamily="34" charset="-120"/>
              </a:rPr>
              <a:t>of senior time per onboarding, unbilled</a:t>
            </a:r>
            <a:endParaRPr lang="en-US" sz="1200" dirty="0"/>
          </a:p>
        </p:txBody>
      </p:sp>
      <p:sp>
        <p:nvSpPr>
          <p:cNvPr id="17" name="Shape 15"/>
          <p:cNvSpPr/>
          <p:nvPr/>
        </p:nvSpPr>
        <p:spPr>
          <a:xfrm>
            <a:off x="8325917" y="3337560"/>
            <a:ext cx="1143000" cy="219456"/>
          </a:xfrm>
          <a:prstGeom prst="roundRect">
            <a:avLst>
              <a:gd name="adj" fmla="val 50000"/>
            </a:avLst>
          </a:prstGeom>
          <a:solidFill>
            <a:srgbClr val="E8C290">
              <a:alpha val="12000"/>
            </a:srgbClr>
          </a:solidFill>
          <a:ln w="9525">
            <a:solidFill>
              <a:srgbClr val="E8C290">
                <a:alpha val="50000"/>
              </a:srgbClr>
            </a:solidFill>
            <a:prstDash val="solid"/>
          </a:ln>
        </p:spPr>
      </p:sp>
      <p:sp>
        <p:nvSpPr>
          <p:cNvPr id="18" name="Text 16"/>
          <p:cNvSpPr txBox="1"/>
          <p:nvPr/>
        </p:nvSpPr>
        <p:spPr>
          <a:xfrm>
            <a:off x="8325917" y="3337560"/>
            <a:ext cx="1143000" cy="219456"/>
          </a:xfrm>
          <a:prstGeom prst="rect">
            <a:avLst/>
          </a:prstGeom>
          <a:noFill/>
          <a:ln/>
        </p:spPr>
        <p:txBody>
          <a:bodyPr wrap="square" lIns="0" tIns="0" rIns="0" bIns="0" rtlCol="0" anchor="ctr"/>
          <a:lstStyle/>
          <a:p>
            <a:pPr algn="ctr" indent="0" marL="0">
              <a:buNone/>
            </a:pPr>
            <a:r>
              <a:rPr lang="en-US" sz="750" b="1" spc="200" kern="0" dirty="0">
                <a:solidFill>
                  <a:srgbClr val="E8C290"/>
                </a:solidFill>
                <a:latin typeface="Arial" pitchFamily="34" charset="0"/>
                <a:ea typeface="Arial" pitchFamily="34" charset="-122"/>
                <a:cs typeface="Arial" pitchFamily="34" charset="-120"/>
              </a:rPr>
              <a:t>HYPOTHESIS</a:t>
            </a:r>
            <a:endParaRPr lang="en-US" sz="750" dirty="0"/>
          </a:p>
        </p:txBody>
      </p:sp>
      <p:sp>
        <p:nvSpPr>
          <p:cNvPr id="19" name="Shape 17"/>
          <p:cNvSpPr/>
          <p:nvPr/>
        </p:nvSpPr>
        <p:spPr>
          <a:xfrm>
            <a:off x="685800" y="3977640"/>
            <a:ext cx="1243584" cy="365760"/>
          </a:xfrm>
          <a:prstGeom prst="roundRect">
            <a:avLst>
              <a:gd name="adj" fmla="val 50000"/>
            </a:avLst>
          </a:prstGeom>
          <a:solidFill>
            <a:srgbClr val="1F1610"/>
          </a:solidFill>
          <a:ln w="9525">
            <a:solidFill>
              <a:srgbClr val="4A3D2C"/>
            </a:solidFill>
            <a:prstDash val="solid"/>
          </a:ln>
        </p:spPr>
      </p:sp>
      <p:sp>
        <p:nvSpPr>
          <p:cNvPr id="20" name="Text 18"/>
          <p:cNvSpPr txBox="1"/>
          <p:nvPr/>
        </p:nvSpPr>
        <p:spPr>
          <a:xfrm>
            <a:off x="685800" y="3977640"/>
            <a:ext cx="1243584" cy="365760"/>
          </a:xfrm>
          <a:prstGeom prst="rect">
            <a:avLst/>
          </a:prstGeom>
          <a:noFill/>
          <a:ln/>
        </p:spPr>
        <p:txBody>
          <a:bodyPr wrap="square" lIns="0" tIns="0" rIns="0" bIns="0" rtlCol="0" anchor="ctr"/>
          <a:lstStyle/>
          <a:p>
            <a:pPr algn="ctr" indent="0" marL="0">
              <a:buNone/>
            </a:pPr>
            <a:r>
              <a:rPr lang="en-US" sz="1200" dirty="0">
                <a:solidFill>
                  <a:srgbClr val="E4D8C6"/>
                </a:solidFill>
                <a:latin typeface="Arial" pitchFamily="34" charset="0"/>
                <a:ea typeface="Arial" pitchFamily="34" charset="-122"/>
                <a:cs typeface="Arial" pitchFamily="34" charset="-120"/>
              </a:rPr>
              <a:t>Kickoff call</a:t>
            </a:r>
            <a:endParaRPr lang="en-US" sz="1200" dirty="0"/>
          </a:p>
        </p:txBody>
      </p:sp>
      <p:sp>
        <p:nvSpPr>
          <p:cNvPr id="21" name="Text 19"/>
          <p:cNvSpPr txBox="1"/>
          <p:nvPr/>
        </p:nvSpPr>
        <p:spPr>
          <a:xfrm>
            <a:off x="2039112" y="3977640"/>
            <a:ext cx="274320" cy="365760"/>
          </a:xfrm>
          <a:prstGeom prst="rect">
            <a:avLst/>
          </a:prstGeom>
          <a:noFill/>
          <a:ln/>
        </p:spPr>
        <p:txBody>
          <a:bodyPr wrap="square" lIns="0" tIns="0" rIns="0" bIns="0" rtlCol="0" anchor="ctr"/>
          <a:lstStyle/>
          <a:p>
            <a:pPr algn="ctr" indent="0" marL="0">
              <a:buNone/>
            </a:pPr>
            <a:r>
              <a:rPr lang="en-US" sz="1400" dirty="0">
                <a:solidFill>
                  <a:srgbClr val="C9955A"/>
                </a:solidFill>
                <a:latin typeface="Arial" pitchFamily="34" charset="0"/>
                <a:ea typeface="Arial" pitchFamily="34" charset="-122"/>
                <a:cs typeface="Arial" pitchFamily="34" charset="-120"/>
              </a:rPr>
              <a:t>→</a:t>
            </a:r>
            <a:endParaRPr lang="en-US" sz="1400" dirty="0"/>
          </a:p>
        </p:txBody>
      </p:sp>
      <p:sp>
        <p:nvSpPr>
          <p:cNvPr id="22" name="Shape 20"/>
          <p:cNvSpPr/>
          <p:nvPr/>
        </p:nvSpPr>
        <p:spPr>
          <a:xfrm>
            <a:off x="2386584" y="3977640"/>
            <a:ext cx="1330452" cy="365760"/>
          </a:xfrm>
          <a:prstGeom prst="roundRect">
            <a:avLst>
              <a:gd name="adj" fmla="val 50000"/>
            </a:avLst>
          </a:prstGeom>
          <a:solidFill>
            <a:srgbClr val="1F1610"/>
          </a:solidFill>
          <a:ln w="9525">
            <a:solidFill>
              <a:srgbClr val="4A3D2C"/>
            </a:solidFill>
            <a:prstDash val="solid"/>
          </a:ln>
        </p:spPr>
      </p:sp>
      <p:sp>
        <p:nvSpPr>
          <p:cNvPr id="23" name="Text 21"/>
          <p:cNvSpPr txBox="1"/>
          <p:nvPr/>
        </p:nvSpPr>
        <p:spPr>
          <a:xfrm>
            <a:off x="2386584" y="3977640"/>
            <a:ext cx="1330452" cy="365760"/>
          </a:xfrm>
          <a:prstGeom prst="rect">
            <a:avLst/>
          </a:prstGeom>
          <a:noFill/>
          <a:ln/>
        </p:spPr>
        <p:txBody>
          <a:bodyPr wrap="square" lIns="0" tIns="0" rIns="0" bIns="0" rtlCol="0" anchor="ctr"/>
          <a:lstStyle/>
          <a:p>
            <a:pPr algn="ctr" indent="0" marL="0">
              <a:buNone/>
            </a:pPr>
            <a:r>
              <a:rPr lang="en-US" sz="1200" dirty="0">
                <a:solidFill>
                  <a:srgbClr val="E4D8C6"/>
                </a:solidFill>
                <a:latin typeface="Arial" pitchFamily="34" charset="0"/>
                <a:ea typeface="Arial" pitchFamily="34" charset="-122"/>
                <a:cs typeface="Arial" pitchFamily="34" charset="-120"/>
              </a:rPr>
              <a:t>Checklist doc</a:t>
            </a:r>
            <a:endParaRPr lang="en-US" sz="1200" dirty="0"/>
          </a:p>
        </p:txBody>
      </p:sp>
      <p:sp>
        <p:nvSpPr>
          <p:cNvPr id="24" name="Text 22"/>
          <p:cNvSpPr txBox="1"/>
          <p:nvPr/>
        </p:nvSpPr>
        <p:spPr>
          <a:xfrm>
            <a:off x="3826764" y="3977640"/>
            <a:ext cx="274320" cy="365760"/>
          </a:xfrm>
          <a:prstGeom prst="rect">
            <a:avLst/>
          </a:prstGeom>
          <a:noFill/>
          <a:ln/>
        </p:spPr>
        <p:txBody>
          <a:bodyPr wrap="square" lIns="0" tIns="0" rIns="0" bIns="0" rtlCol="0" anchor="ctr"/>
          <a:lstStyle/>
          <a:p>
            <a:pPr algn="ctr" indent="0" marL="0">
              <a:buNone/>
            </a:pPr>
            <a:r>
              <a:rPr lang="en-US" sz="1400" dirty="0">
                <a:solidFill>
                  <a:srgbClr val="C9955A"/>
                </a:solidFill>
                <a:latin typeface="Arial" pitchFamily="34" charset="0"/>
                <a:ea typeface="Arial" pitchFamily="34" charset="-122"/>
                <a:cs typeface="Arial" pitchFamily="34" charset="-120"/>
              </a:rPr>
              <a:t>→</a:t>
            </a:r>
            <a:endParaRPr lang="en-US" sz="1400" dirty="0"/>
          </a:p>
        </p:txBody>
      </p:sp>
      <p:sp>
        <p:nvSpPr>
          <p:cNvPr id="25" name="Shape 23"/>
          <p:cNvSpPr/>
          <p:nvPr/>
        </p:nvSpPr>
        <p:spPr>
          <a:xfrm>
            <a:off x="4174236" y="3977640"/>
            <a:ext cx="1504188" cy="365760"/>
          </a:xfrm>
          <a:prstGeom prst="roundRect">
            <a:avLst>
              <a:gd name="adj" fmla="val 50000"/>
            </a:avLst>
          </a:prstGeom>
          <a:solidFill>
            <a:srgbClr val="1F1610"/>
          </a:solidFill>
          <a:ln w="9525">
            <a:solidFill>
              <a:srgbClr val="4A3D2C"/>
            </a:solidFill>
            <a:prstDash val="solid"/>
          </a:ln>
        </p:spPr>
      </p:sp>
      <p:sp>
        <p:nvSpPr>
          <p:cNvPr id="26" name="Text 24"/>
          <p:cNvSpPr txBox="1"/>
          <p:nvPr/>
        </p:nvSpPr>
        <p:spPr>
          <a:xfrm>
            <a:off x="4174236" y="3977640"/>
            <a:ext cx="1504188" cy="365760"/>
          </a:xfrm>
          <a:prstGeom prst="rect">
            <a:avLst/>
          </a:prstGeom>
          <a:noFill/>
          <a:ln/>
        </p:spPr>
        <p:txBody>
          <a:bodyPr wrap="square" lIns="0" tIns="0" rIns="0" bIns="0" rtlCol="0" anchor="ctr"/>
          <a:lstStyle/>
          <a:p>
            <a:pPr algn="ctr" indent="0" marL="0">
              <a:buNone/>
            </a:pPr>
            <a:r>
              <a:rPr lang="en-US" sz="1200" dirty="0">
                <a:solidFill>
                  <a:srgbClr val="E4D8C6"/>
                </a:solidFill>
                <a:latin typeface="Arial" pitchFamily="34" charset="0"/>
                <a:ea typeface="Arial" pitchFamily="34" charset="-122"/>
                <a:cs typeface="Arial" pitchFamily="34" charset="-120"/>
              </a:rPr>
              <a:t>Email ping-pong</a:t>
            </a:r>
            <a:endParaRPr lang="en-US" sz="1200" dirty="0"/>
          </a:p>
        </p:txBody>
      </p:sp>
      <p:sp>
        <p:nvSpPr>
          <p:cNvPr id="27" name="Text 25"/>
          <p:cNvSpPr txBox="1"/>
          <p:nvPr/>
        </p:nvSpPr>
        <p:spPr>
          <a:xfrm>
            <a:off x="5788152" y="3977640"/>
            <a:ext cx="274320" cy="365760"/>
          </a:xfrm>
          <a:prstGeom prst="rect">
            <a:avLst/>
          </a:prstGeom>
          <a:noFill/>
          <a:ln/>
        </p:spPr>
        <p:txBody>
          <a:bodyPr wrap="square" lIns="0" tIns="0" rIns="0" bIns="0" rtlCol="0" anchor="ctr"/>
          <a:lstStyle/>
          <a:p>
            <a:pPr algn="ctr" indent="0" marL="0">
              <a:buNone/>
            </a:pPr>
            <a:r>
              <a:rPr lang="en-US" sz="1400" dirty="0">
                <a:solidFill>
                  <a:srgbClr val="C9955A"/>
                </a:solidFill>
                <a:latin typeface="Arial" pitchFamily="34" charset="0"/>
                <a:ea typeface="Arial" pitchFamily="34" charset="-122"/>
                <a:cs typeface="Arial" pitchFamily="34" charset="-120"/>
              </a:rPr>
              <a:t>→</a:t>
            </a:r>
            <a:endParaRPr lang="en-US" sz="1400" dirty="0"/>
          </a:p>
        </p:txBody>
      </p:sp>
      <p:sp>
        <p:nvSpPr>
          <p:cNvPr id="28" name="Shape 26"/>
          <p:cNvSpPr/>
          <p:nvPr/>
        </p:nvSpPr>
        <p:spPr>
          <a:xfrm>
            <a:off x="6135624" y="3977640"/>
            <a:ext cx="2199132" cy="365760"/>
          </a:xfrm>
          <a:prstGeom prst="roundRect">
            <a:avLst>
              <a:gd name="adj" fmla="val 50000"/>
            </a:avLst>
          </a:prstGeom>
          <a:solidFill>
            <a:srgbClr val="1F1610"/>
          </a:solidFill>
          <a:ln w="9525">
            <a:solidFill>
              <a:srgbClr val="4A3D2C"/>
            </a:solidFill>
            <a:prstDash val="solid"/>
          </a:ln>
        </p:spPr>
      </p:sp>
      <p:sp>
        <p:nvSpPr>
          <p:cNvPr id="29" name="Text 27"/>
          <p:cNvSpPr txBox="1"/>
          <p:nvPr/>
        </p:nvSpPr>
        <p:spPr>
          <a:xfrm>
            <a:off x="6135624" y="3977640"/>
            <a:ext cx="2199132" cy="365760"/>
          </a:xfrm>
          <a:prstGeom prst="rect">
            <a:avLst/>
          </a:prstGeom>
          <a:noFill/>
          <a:ln/>
        </p:spPr>
        <p:txBody>
          <a:bodyPr wrap="square" lIns="0" tIns="0" rIns="0" bIns="0" rtlCol="0" anchor="ctr"/>
          <a:lstStyle/>
          <a:p>
            <a:pPr algn="ctr" indent="0" marL="0">
              <a:buNone/>
            </a:pPr>
            <a:r>
              <a:rPr lang="en-US" sz="1200" dirty="0">
                <a:solidFill>
                  <a:srgbClr val="E4D8C6"/>
                </a:solidFill>
                <a:latin typeface="Arial" pitchFamily="34" charset="0"/>
                <a:ea typeface="Arial" pitchFamily="34" charset="-122"/>
                <a:cs typeface="Arial" pitchFamily="34" charset="-120"/>
              </a:rPr>
              <a:t>Loom on granting access</a:t>
            </a:r>
            <a:endParaRPr lang="en-US" sz="1200" dirty="0"/>
          </a:p>
        </p:txBody>
      </p:sp>
      <p:sp>
        <p:nvSpPr>
          <p:cNvPr id="30" name="Text 28"/>
          <p:cNvSpPr txBox="1"/>
          <p:nvPr/>
        </p:nvSpPr>
        <p:spPr>
          <a:xfrm>
            <a:off x="8444484" y="3977640"/>
            <a:ext cx="274320" cy="365760"/>
          </a:xfrm>
          <a:prstGeom prst="rect">
            <a:avLst/>
          </a:prstGeom>
          <a:noFill/>
          <a:ln/>
        </p:spPr>
        <p:txBody>
          <a:bodyPr wrap="square" lIns="0" tIns="0" rIns="0" bIns="0" rtlCol="0" anchor="ctr"/>
          <a:lstStyle/>
          <a:p>
            <a:pPr algn="ctr" indent="0" marL="0">
              <a:buNone/>
            </a:pPr>
            <a:r>
              <a:rPr lang="en-US" sz="1400" dirty="0">
                <a:solidFill>
                  <a:srgbClr val="C9955A"/>
                </a:solidFill>
                <a:latin typeface="Arial" pitchFamily="34" charset="0"/>
                <a:ea typeface="Arial" pitchFamily="34" charset="-122"/>
                <a:cs typeface="Arial" pitchFamily="34" charset="-120"/>
              </a:rPr>
              <a:t>→</a:t>
            </a:r>
            <a:endParaRPr lang="en-US" sz="1400" dirty="0"/>
          </a:p>
        </p:txBody>
      </p:sp>
      <p:sp>
        <p:nvSpPr>
          <p:cNvPr id="31" name="Shape 29"/>
          <p:cNvSpPr/>
          <p:nvPr/>
        </p:nvSpPr>
        <p:spPr>
          <a:xfrm>
            <a:off x="8791956" y="3977640"/>
            <a:ext cx="2025396" cy="365760"/>
          </a:xfrm>
          <a:prstGeom prst="roundRect">
            <a:avLst>
              <a:gd name="adj" fmla="val 50000"/>
            </a:avLst>
          </a:prstGeom>
          <a:solidFill>
            <a:srgbClr val="1F1610"/>
          </a:solidFill>
          <a:ln w="9525">
            <a:solidFill>
              <a:srgbClr val="4A3D2C"/>
            </a:solidFill>
            <a:prstDash val="solid"/>
          </a:ln>
        </p:spPr>
      </p:sp>
      <p:sp>
        <p:nvSpPr>
          <p:cNvPr id="32" name="Text 30"/>
          <p:cNvSpPr txBox="1"/>
          <p:nvPr/>
        </p:nvSpPr>
        <p:spPr>
          <a:xfrm>
            <a:off x="8791956" y="3977640"/>
            <a:ext cx="2025396" cy="365760"/>
          </a:xfrm>
          <a:prstGeom prst="rect">
            <a:avLst/>
          </a:prstGeom>
          <a:noFill/>
          <a:ln/>
        </p:spPr>
        <p:txBody>
          <a:bodyPr wrap="square" lIns="0" tIns="0" rIns="0" bIns="0" rtlCol="0" anchor="ctr"/>
          <a:lstStyle/>
          <a:p>
            <a:pPr algn="ctr" indent="0" marL="0">
              <a:buNone/>
            </a:pPr>
            <a:r>
              <a:rPr lang="en-US" sz="1200" dirty="0">
                <a:solidFill>
                  <a:srgbClr val="E4D8C6"/>
                </a:solidFill>
                <a:latin typeface="Arial" pitchFamily="34" charset="0"/>
                <a:ea typeface="Arial" pitchFamily="34" charset="-122"/>
                <a:cs typeface="Arial" pitchFamily="34" charset="-120"/>
              </a:rPr>
              <a:t>A board typed by hand</a:t>
            </a:r>
            <a:endParaRPr lang="en-US" sz="1200" dirty="0"/>
          </a:p>
        </p:txBody>
      </p:sp>
      <p:sp>
        <p:nvSpPr>
          <p:cNvPr id="33" name="Text 31"/>
          <p:cNvSpPr txBox="1"/>
          <p:nvPr/>
        </p:nvSpPr>
        <p:spPr>
          <a:xfrm>
            <a:off x="685800" y="4663440"/>
            <a:ext cx="10820095" cy="822960"/>
          </a:xfrm>
          <a:prstGeom prst="rect">
            <a:avLst/>
          </a:prstGeom>
          <a:noFill/>
          <a:ln/>
        </p:spPr>
        <p:txBody>
          <a:bodyPr wrap="square" lIns="0" tIns="0" rIns="0" bIns="0" rtlCol="0" anchor="t"/>
          <a:lstStyle/>
          <a:p>
            <a:pPr indent="0" marL="0">
              <a:buNone/>
            </a:pPr>
            <a:r>
              <a:rPr lang="en-US" sz="1900" dirty="0">
                <a:solidFill>
                  <a:srgbClr val="FFF6E6"/>
                </a:solidFill>
                <a:latin typeface="Arial" pitchFamily="34" charset="0"/>
                <a:ea typeface="Arial" pitchFamily="34" charset="-122"/>
                <a:cs typeface="Arial" pitchFamily="34" charset="-120"/>
              </a:rPr>
              <a:t>Then the work starts on </a:t>
            </a:r>
            <a:pPr indent="0" marL="0">
              <a:buNone/>
            </a:pPr>
            <a:r>
              <a:rPr lang="en-US" sz="1900" dirty="0">
                <a:solidFill>
                  <a:srgbClr val="F3D9A4"/>
                </a:solidFill>
                <a:latin typeface="Arial" pitchFamily="34" charset="0"/>
                <a:ea typeface="Arial" pitchFamily="34" charset="-122"/>
                <a:cs typeface="Arial" pitchFamily="34" charset="-120"/>
              </a:rPr>
              <a:t>revenue</a:t>
            </a:r>
            <a:pPr indent="0" marL="0">
              <a:buNone/>
            </a:pPr>
            <a:r>
              <a:rPr lang="en-US" sz="1900" dirty="0">
                <a:solidFill>
                  <a:srgbClr val="FFF6E6"/>
                </a:solidFill>
                <a:latin typeface="Arial" pitchFamily="34" charset="0"/>
                <a:ea typeface="Arial" pitchFamily="34" charset="-122"/>
                <a:cs typeface="Arial" pitchFamily="34" charset="-120"/>
              </a:rPr>
              <a:t> numbers, not profit. Our demo client had never calculated break-even ROAS.</a:t>
            </a:r>
            <a:endParaRPr lang="en-US" sz="1900" dirty="0"/>
          </a:p>
        </p:txBody>
      </p:sp>
      <p:sp>
        <p:nvSpPr>
          <p:cNvPr id="25" name="Slide Number Placeholder 0"/>
          <p:cNvSpPr>
            <a:spLocks noGrp="1"/>
          </p:cNvSpPr>
          <p:nvPr>
            <p:ph type="sldNum" sz="quarter" idx="4294967295"/>
          </p:nvPr>
        </p:nvSpPr>
        <p:spPr>
          <a:xfrm>
            <a:off x="10408615" y="6355080"/>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7961"/>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85800" y="411480"/>
            <a:ext cx="10820095" cy="320040"/>
          </a:xfrm>
          <a:prstGeom prst="rect">
            <a:avLst/>
          </a:prstGeom>
          <a:noFill/>
          <a:ln/>
        </p:spPr>
        <p:txBody>
          <a:bodyPr wrap="square" lIns="0" tIns="0" rIns="0" bIns="0" rtlCol="0" anchor="ctr"/>
          <a:lstStyle/>
          <a:p>
            <a:pPr indent="0" marL="0">
              <a:buNone/>
            </a:pPr>
            <a:r>
              <a:rPr lang="en-US" sz="1100" spc="600" kern="0" dirty="0">
                <a:solidFill>
                  <a:srgbClr val="E8C290"/>
                </a:solidFill>
                <a:latin typeface="Arial" pitchFamily="34" charset="0"/>
                <a:ea typeface="Arial" pitchFamily="34" charset="-122"/>
                <a:cs typeface="Arial" pitchFamily="34" charset="-120"/>
              </a:rPr>
              <a:t>THE INSIGHT</a:t>
            </a:r>
            <a:endParaRPr lang="en-US" sz="1100" dirty="0"/>
          </a:p>
        </p:txBody>
      </p:sp>
      <p:sp>
        <p:nvSpPr>
          <p:cNvPr id="3" name="Text 1"/>
          <p:cNvSpPr txBox="1"/>
          <p:nvPr/>
        </p:nvSpPr>
        <p:spPr>
          <a:xfrm>
            <a:off x="685800" y="731520"/>
            <a:ext cx="10820095" cy="731520"/>
          </a:xfrm>
          <a:prstGeom prst="rect">
            <a:avLst/>
          </a:prstGeom>
          <a:noFill/>
          <a:ln/>
        </p:spPr>
        <p:txBody>
          <a:bodyPr wrap="square" lIns="0" tIns="0" rIns="0" bIns="0" rtlCol="0" anchor="t"/>
          <a:lstStyle/>
          <a:p>
            <a:pPr indent="0" marL="0">
              <a:lnSpc>
                <a:spcPct val="105000"/>
              </a:lnSpc>
              <a:buNone/>
            </a:pPr>
            <a:r>
              <a:rPr lang="en-US" sz="3400" dirty="0">
                <a:solidFill>
                  <a:srgbClr val="FFF6E6"/>
                </a:solidFill>
                <a:latin typeface="Arial" pitchFamily="34" charset="0"/>
                <a:ea typeface="Arial" pitchFamily="34" charset="-122"/>
                <a:cs typeface="Arial" pitchFamily="34" charset="-120"/>
              </a:rPr>
              <a:t>Your client's AI talks to </a:t>
            </a:r>
            <a:pPr indent="0" marL="0">
              <a:lnSpc>
                <a:spcPct val="105000"/>
              </a:lnSpc>
              <a:buNone/>
            </a:pPr>
            <a:r>
              <a:rPr lang="en-US" sz="3400" dirty="0">
                <a:solidFill>
                  <a:srgbClr val="F3D9A4"/>
                </a:solidFill>
                <a:latin typeface="Arial" pitchFamily="34" charset="0"/>
                <a:ea typeface="Arial" pitchFamily="34" charset="-122"/>
                <a:cs typeface="Arial" pitchFamily="34" charset="-120"/>
              </a:rPr>
              <a:t>our agent.</a:t>
            </a:r>
            <a:endParaRPr lang="en-US" sz="3400" dirty="0"/>
          </a:p>
        </p:txBody>
      </p:sp>
      <p:sp>
        <p:nvSpPr>
          <p:cNvPr id="4" name="Shape 2"/>
          <p:cNvSpPr/>
          <p:nvPr/>
        </p:nvSpPr>
        <p:spPr>
          <a:xfrm>
            <a:off x="685800" y="1691640"/>
            <a:ext cx="2743200" cy="2331720"/>
          </a:xfrm>
          <a:prstGeom prst="roundRect">
            <a:avLst>
              <a:gd name="adj" fmla="val 4706"/>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5" name="Text 3"/>
          <p:cNvSpPr txBox="1"/>
          <p:nvPr/>
        </p:nvSpPr>
        <p:spPr>
          <a:xfrm>
            <a:off x="914400" y="1874520"/>
            <a:ext cx="2286000" cy="228600"/>
          </a:xfrm>
          <a:prstGeom prst="rect">
            <a:avLst/>
          </a:prstGeom>
          <a:noFill/>
          <a:ln/>
        </p:spPr>
        <p:txBody>
          <a:bodyPr wrap="square" lIns="0" tIns="0" rIns="0" bIns="0" rtlCol="0" anchor="t"/>
          <a:lstStyle/>
          <a:p>
            <a:pPr indent="0" marL="0">
              <a:buNone/>
            </a:pPr>
            <a:r>
              <a:rPr lang="en-US" sz="800" b="1" spc="400" kern="0" dirty="0">
                <a:solidFill>
                  <a:srgbClr val="E8C290"/>
                </a:solidFill>
                <a:latin typeface="Arial" pitchFamily="34" charset="0"/>
                <a:ea typeface="Arial" pitchFamily="34" charset="-122"/>
                <a:cs typeface="Arial" pitchFamily="34" charset="-120"/>
              </a:rPr>
              <a:t>THE CLIENT'S SIDE</a:t>
            </a:r>
            <a:endParaRPr lang="en-US" sz="800" dirty="0"/>
          </a:p>
        </p:txBody>
      </p:sp>
      <p:sp>
        <p:nvSpPr>
          <p:cNvPr id="6" name="Text 4"/>
          <p:cNvSpPr txBox="1"/>
          <p:nvPr/>
        </p:nvSpPr>
        <p:spPr>
          <a:xfrm>
            <a:off x="914400" y="2148840"/>
            <a:ext cx="2286000" cy="365760"/>
          </a:xfrm>
          <a:prstGeom prst="rect">
            <a:avLst/>
          </a:prstGeom>
          <a:noFill/>
          <a:ln/>
        </p:spPr>
        <p:txBody>
          <a:bodyPr wrap="square" lIns="0" tIns="0" rIns="0" bIns="0" rtlCol="0" anchor="ctr"/>
          <a:lstStyle/>
          <a:p>
            <a:pPr indent="0" marL="0">
              <a:buNone/>
            </a:pPr>
            <a:r>
              <a:rPr lang="en-US" sz="1800" dirty="0">
                <a:solidFill>
                  <a:srgbClr val="FFF6E6"/>
                </a:solidFill>
                <a:latin typeface="Arial" pitchFamily="34" charset="0"/>
                <a:ea typeface="Arial" pitchFamily="34" charset="-122"/>
                <a:cs typeface="Arial" pitchFamily="34" charset="-120"/>
              </a:rPr>
              <a:t>Their own assistant</a:t>
            </a:r>
            <a:endParaRPr lang="en-US" sz="1800" dirty="0"/>
          </a:p>
        </p:txBody>
      </p:sp>
      <p:sp>
        <p:nvSpPr>
          <p:cNvPr id="7" name="Text 5"/>
          <p:cNvSpPr txBox="1"/>
          <p:nvPr/>
        </p:nvSpPr>
        <p:spPr>
          <a:xfrm>
            <a:off x="914400" y="2606040"/>
            <a:ext cx="2286000" cy="1097280"/>
          </a:xfrm>
          <a:prstGeom prst="rect">
            <a:avLst/>
          </a:prstGeom>
          <a:noFill/>
          <a:ln/>
        </p:spPr>
        <p:txBody>
          <a:bodyPr wrap="square" lIns="0" tIns="0" rIns="0" bIns="0" rtlCol="0" anchor="t"/>
          <a:lstStyle/>
          <a:p>
            <a:pPr indent="0" marL="0">
              <a:buNone/>
            </a:pPr>
            <a:r>
              <a:rPr lang="en-US" sz="1200" dirty="0">
                <a:solidFill>
                  <a:srgbClr val="B5A186"/>
                </a:solidFill>
                <a:latin typeface="Arial" pitchFamily="34" charset="0"/>
                <a:ea typeface="Arial" pitchFamily="34" charset="-122"/>
                <a:cs typeface="Arial" pitchFamily="34" charset="-120"/>
              </a:rPr>
              <a:t>ChatGPT, Claude, Gemini — whatever the client already uses. It connects to one MCP URL with a scoped token.</a:t>
            </a:r>
            <a:endParaRPr lang="en-US" sz="1200" dirty="0"/>
          </a:p>
        </p:txBody>
      </p:sp>
      <p:sp>
        <p:nvSpPr>
          <p:cNvPr id="8" name="Shape 6"/>
          <p:cNvSpPr/>
          <p:nvPr/>
        </p:nvSpPr>
        <p:spPr>
          <a:xfrm>
            <a:off x="8762695" y="1691640"/>
            <a:ext cx="2743200" cy="2331720"/>
          </a:xfrm>
          <a:prstGeom prst="roundRect">
            <a:avLst>
              <a:gd name="adj" fmla="val 4706"/>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9" name="Text 7"/>
          <p:cNvSpPr txBox="1"/>
          <p:nvPr/>
        </p:nvSpPr>
        <p:spPr>
          <a:xfrm>
            <a:off x="8991295" y="1874520"/>
            <a:ext cx="2286000" cy="228600"/>
          </a:xfrm>
          <a:prstGeom prst="rect">
            <a:avLst/>
          </a:prstGeom>
          <a:noFill/>
          <a:ln/>
        </p:spPr>
        <p:txBody>
          <a:bodyPr wrap="square" lIns="0" tIns="0" rIns="0" bIns="0" rtlCol="0" anchor="t"/>
          <a:lstStyle/>
          <a:p>
            <a:pPr indent="0" marL="0">
              <a:buNone/>
            </a:pPr>
            <a:r>
              <a:rPr lang="en-US" sz="800" b="1" spc="400" kern="0" dirty="0">
                <a:solidFill>
                  <a:srgbClr val="E8C290"/>
                </a:solidFill>
                <a:latin typeface="Arial" pitchFamily="34" charset="0"/>
                <a:ea typeface="Arial" pitchFamily="34" charset="-122"/>
                <a:cs typeface="Arial" pitchFamily="34" charset="-120"/>
              </a:rPr>
              <a:t>ACE'S SIDE</a:t>
            </a:r>
            <a:endParaRPr lang="en-US" sz="800" dirty="0"/>
          </a:p>
        </p:txBody>
      </p:sp>
      <p:sp>
        <p:nvSpPr>
          <p:cNvPr id="10" name="Text 8"/>
          <p:cNvSpPr txBox="1"/>
          <p:nvPr/>
        </p:nvSpPr>
        <p:spPr>
          <a:xfrm>
            <a:off x="8991295" y="2148840"/>
            <a:ext cx="2286000" cy="365760"/>
          </a:xfrm>
          <a:prstGeom prst="rect">
            <a:avLst/>
          </a:prstGeom>
          <a:noFill/>
          <a:ln/>
        </p:spPr>
        <p:txBody>
          <a:bodyPr wrap="square" lIns="0" tIns="0" rIns="0" bIns="0" rtlCol="0" anchor="ctr"/>
          <a:lstStyle/>
          <a:p>
            <a:pPr indent="0" marL="0">
              <a:buNone/>
            </a:pPr>
            <a:r>
              <a:rPr lang="en-US" sz="1800" dirty="0">
                <a:solidFill>
                  <a:srgbClr val="FFF6E6"/>
                </a:solidFill>
                <a:latin typeface="Arial" pitchFamily="34" charset="0"/>
                <a:ea typeface="Arial" pitchFamily="34" charset="-122"/>
                <a:cs typeface="Arial" pitchFamily="34" charset="-120"/>
              </a:rPr>
              <a:t>Intake MCP server</a:t>
            </a:r>
            <a:endParaRPr lang="en-US" sz="1800" dirty="0"/>
          </a:p>
        </p:txBody>
      </p:sp>
      <p:sp>
        <p:nvSpPr>
          <p:cNvPr id="11" name="Text 9"/>
          <p:cNvSpPr txBox="1"/>
          <p:nvPr/>
        </p:nvSpPr>
        <p:spPr>
          <a:xfrm>
            <a:off x="8991295" y="2606040"/>
            <a:ext cx="2286000" cy="1188720"/>
          </a:xfrm>
          <a:prstGeom prst="rect">
            <a:avLst/>
          </a:prstGeom>
          <a:noFill/>
          <a:ln/>
        </p:spPr>
        <p:txBody>
          <a:bodyPr wrap="square" lIns="0" tIns="0" rIns="0" bIns="0" rtlCol="0" anchor="t"/>
          <a:lstStyle/>
          <a:p>
            <a:pPr indent="0" marL="0">
              <a:buNone/>
            </a:pPr>
            <a:r>
              <a:rPr lang="en-US" sz="1200" dirty="0">
                <a:solidFill>
                  <a:srgbClr val="B5A186"/>
                </a:solidFill>
                <a:latin typeface="Arial" pitchFamily="34" charset="0"/>
                <a:ea typeface="Arial" pitchFamily="34" charset="-122"/>
                <a:cs typeface="Arial" pitchFamily="34" charset="-120"/>
              </a:rPr>
              <a:t>Three tools: </a:t>
            </a:r>
            <a:pPr indent="0" marL="0">
              <a:buNone/>
            </a:pPr>
            <a:r>
              <a:rPr lang="en-US" sz="1200" dirty="0">
                <a:solidFill>
                  <a:srgbClr val="E4D8C6"/>
                </a:solidFill>
                <a:latin typeface="Courier New" pitchFamily="34" charset="0"/>
                <a:ea typeface="Courier New" pitchFamily="34" charset="-122"/>
                <a:cs typeface="Courier New" pitchFamily="34" charset="-120"/>
              </a:rPr>
              <a:t>get_next_item · submit_answer · get_progress</a:t>
            </a:r>
            <a:pPr indent="0" marL="0">
              <a:buNone/>
            </a:pPr>
            <a:r>
              <a:rPr lang="en-US" sz="1200" dirty="0">
                <a:solidFill>
                  <a:srgbClr val="B5A186"/>
                </a:solidFill>
                <a:latin typeface="Arial" pitchFamily="34" charset="0"/>
                <a:ea typeface="Arial" pitchFamily="34" charset="-122"/>
                <a:cs typeface="Arial" pitchFamily="34" charset="-120"/>
              </a:rPr>
              <a:t>. 32 checklist items, one question per turn.</a:t>
            </a:r>
            <a:endParaRPr lang="en-US" sz="1200" dirty="0"/>
          </a:p>
        </p:txBody>
      </p:sp>
      <p:sp>
        <p:nvSpPr>
          <p:cNvPr id="12" name="Shape 10"/>
          <p:cNvSpPr/>
          <p:nvPr/>
        </p:nvSpPr>
        <p:spPr>
          <a:xfrm>
            <a:off x="3703320" y="1691640"/>
            <a:ext cx="4115147" cy="512064"/>
          </a:xfrm>
          <a:prstGeom prst="roundRect">
            <a:avLst>
              <a:gd name="adj" fmla="val 17857"/>
            </a:avLst>
          </a:prstGeom>
          <a:solidFill>
            <a:srgbClr val="281D15"/>
          </a:solidFill>
          <a:ln w="9525">
            <a:solidFill>
              <a:srgbClr val="8A5A2B"/>
            </a:solidFill>
            <a:prstDash val="solid"/>
          </a:ln>
        </p:spPr>
      </p:sp>
      <p:sp>
        <p:nvSpPr>
          <p:cNvPr id="13" name="Text 11"/>
          <p:cNvSpPr txBox="1"/>
          <p:nvPr/>
        </p:nvSpPr>
        <p:spPr>
          <a:xfrm>
            <a:off x="3840480" y="1691640"/>
            <a:ext cx="3840827" cy="512064"/>
          </a:xfrm>
          <a:prstGeom prst="rect">
            <a:avLst/>
          </a:prstGeom>
          <a:noFill/>
          <a:ln/>
        </p:spPr>
        <p:txBody>
          <a:bodyPr wrap="square" lIns="0" tIns="0" rIns="0" bIns="0" rtlCol="0" anchor="ctr"/>
          <a:lstStyle/>
          <a:p>
            <a:pPr indent="0" marL="0">
              <a:buNone/>
            </a:pPr>
            <a:r>
              <a:rPr lang="en-US" sz="1050" dirty="0">
                <a:solidFill>
                  <a:srgbClr val="E8C290"/>
                </a:solidFill>
                <a:latin typeface="Courier New" pitchFamily="34" charset="0"/>
                <a:ea typeface="Courier New" pitchFamily="34" charset="-122"/>
                <a:cs typeface="Courier New" pitchFamily="34" charset="-120"/>
              </a:rPr>
              <a:t>R2  </a:t>
            </a:r>
            <a:pPr indent="0" marL="0">
              <a:buNone/>
            </a:pPr>
            <a:r>
              <a:rPr lang="en-US" sz="1050" dirty="0">
                <a:solidFill>
                  <a:srgbClr val="E4D8C6"/>
                </a:solidFill>
                <a:latin typeface="Arial" pitchFamily="34" charset="0"/>
                <a:ea typeface="Arial" pitchFamily="34" charset="-122"/>
                <a:cs typeface="Arial" pitchFamily="34" charset="-120"/>
              </a:rPr>
              <a:t>What is your contribution margin by category?</a:t>
            </a:r>
            <a:endParaRPr lang="en-US" sz="1050" dirty="0"/>
          </a:p>
        </p:txBody>
      </p:sp>
      <p:sp>
        <p:nvSpPr>
          <p:cNvPr id="14" name="Shape 12"/>
          <p:cNvSpPr/>
          <p:nvPr/>
        </p:nvSpPr>
        <p:spPr>
          <a:xfrm>
            <a:off x="4373228" y="2295144"/>
            <a:ext cx="4115147" cy="512064"/>
          </a:xfrm>
          <a:prstGeom prst="roundRect">
            <a:avLst>
              <a:gd name="adj" fmla="val 17857"/>
            </a:avLst>
          </a:prstGeom>
          <a:solidFill>
            <a:srgbClr val="32251B"/>
          </a:solidFill>
          <a:ln w="9525">
            <a:solidFill>
              <a:srgbClr val="332A1F"/>
            </a:solidFill>
            <a:prstDash val="solid"/>
          </a:ln>
        </p:spPr>
      </p:sp>
      <p:sp>
        <p:nvSpPr>
          <p:cNvPr id="15" name="Text 13"/>
          <p:cNvSpPr txBox="1"/>
          <p:nvPr/>
        </p:nvSpPr>
        <p:spPr>
          <a:xfrm>
            <a:off x="4510388" y="2295144"/>
            <a:ext cx="3840827" cy="512064"/>
          </a:xfrm>
          <a:prstGeom prst="rect">
            <a:avLst/>
          </a:prstGeom>
          <a:noFill/>
          <a:ln/>
        </p:spPr>
        <p:txBody>
          <a:bodyPr wrap="square" lIns="0" tIns="0" rIns="0" bIns="0" rtlCol="0" anchor="ctr"/>
          <a:lstStyle/>
          <a:p>
            <a:pPr indent="0" marL="0">
              <a:buNone/>
            </a:pPr>
            <a:r>
              <a:rPr lang="en-US" sz="1050" dirty="0">
                <a:solidFill>
                  <a:srgbClr val="E8C290"/>
                </a:solidFill>
                <a:latin typeface="Courier New" pitchFamily="34" charset="0"/>
                <a:ea typeface="Courier New" pitchFamily="34" charset="-122"/>
                <a:cs typeface="Courier New" pitchFamily="34" charset="-120"/>
              </a:rPr>
              <a:t>R2 | DONE  </a:t>
            </a:r>
            <a:pPr indent="0" marL="0">
              <a:buNone/>
            </a:pPr>
            <a:r>
              <a:rPr lang="en-US" sz="1050" dirty="0">
                <a:solidFill>
                  <a:srgbClr val="E4D8C6"/>
                </a:solidFill>
                <a:latin typeface="Arial" pitchFamily="34" charset="0"/>
                <a:ea typeface="Arial" pitchFamily="34" charset="-122"/>
                <a:cs typeface="Arial" pitchFamily="34" charset="-120"/>
              </a:rPr>
              <a:t>Tableware </a:t>
            </a:r>
            <a:pPr indent="0" marL="0">
              <a:buNone/>
            </a:pPr>
            <a:r>
              <a:rPr lang="en-US" sz="1050" b="1" dirty="0">
                <a:solidFill>
                  <a:srgbClr val="FFF6E6"/>
                </a:solidFill>
                <a:latin typeface="Arial" pitchFamily="34" charset="0"/>
                <a:ea typeface="Arial" pitchFamily="34" charset="-122"/>
                <a:cs typeface="Arial" pitchFamily="34" charset="-120"/>
              </a:rPr>
              <a:t>58%</a:t>
            </a:r>
            <a:pPr indent="0" marL="0">
              <a:buNone/>
            </a:pPr>
            <a:r>
              <a:rPr lang="en-US" sz="1050" dirty="0">
                <a:solidFill>
                  <a:srgbClr val="E4D8C6"/>
                </a:solidFill>
                <a:latin typeface="Arial" pitchFamily="34" charset="0"/>
                <a:ea typeface="Arial" pitchFamily="34" charset="-122"/>
                <a:cs typeface="Arial" pitchFamily="34" charset="-120"/>
              </a:rPr>
              <a:t>, textiles </a:t>
            </a:r>
            <a:pPr indent="0" marL="0">
              <a:buNone/>
            </a:pPr>
            <a:r>
              <a:rPr lang="en-US" sz="1050" b="1" dirty="0">
                <a:solidFill>
                  <a:srgbClr val="FFF6E6"/>
                </a:solidFill>
                <a:latin typeface="Arial" pitchFamily="34" charset="0"/>
                <a:ea typeface="Arial" pitchFamily="34" charset="-122"/>
                <a:cs typeface="Arial" pitchFamily="34" charset="-120"/>
              </a:rPr>
              <a:t>46%</a:t>
            </a:r>
            <a:pPr indent="0" marL="0">
              <a:buNone/>
            </a:pPr>
            <a:r>
              <a:rPr lang="en-US" sz="1050" dirty="0">
                <a:solidFill>
                  <a:srgbClr val="E4D8C6"/>
                </a:solidFill>
                <a:latin typeface="Arial" pitchFamily="34" charset="0"/>
                <a:ea typeface="Arial" pitchFamily="34" charset="-122"/>
                <a:cs typeface="Arial" pitchFamily="34" charset="-120"/>
              </a:rPr>
              <a:t>, lighting </a:t>
            </a:r>
            <a:pPr indent="0" marL="0">
              <a:buNone/>
            </a:pPr>
            <a:r>
              <a:rPr lang="en-US" sz="1050" b="1" dirty="0">
                <a:solidFill>
                  <a:srgbClr val="FFF6E6"/>
                </a:solidFill>
                <a:latin typeface="Arial" pitchFamily="34" charset="0"/>
                <a:ea typeface="Arial" pitchFamily="34" charset="-122"/>
                <a:cs typeface="Arial" pitchFamily="34" charset="-120"/>
              </a:rPr>
              <a:t>41%</a:t>
            </a:r>
            <a:pPr indent="0" marL="0">
              <a:buNone/>
            </a:pPr>
            <a:r>
              <a:rPr lang="en-US" sz="1050" dirty="0">
                <a:solidFill>
                  <a:srgbClr val="E4D8C6"/>
                </a:solidFill>
                <a:latin typeface="Arial" pitchFamily="34" charset="0"/>
                <a:ea typeface="Arial" pitchFamily="34" charset="-122"/>
                <a:cs typeface="Arial" pitchFamily="34" charset="-120"/>
              </a:rPr>
              <a:t>, seasonal decor </a:t>
            </a:r>
            <a:pPr indent="0" marL="0">
              <a:buNone/>
            </a:pPr>
            <a:r>
              <a:rPr lang="en-US" sz="1050" b="1" dirty="0">
                <a:solidFill>
                  <a:srgbClr val="FFF6E6"/>
                </a:solidFill>
                <a:latin typeface="Arial" pitchFamily="34" charset="0"/>
                <a:ea typeface="Arial" pitchFamily="34" charset="-122"/>
                <a:cs typeface="Arial" pitchFamily="34" charset="-120"/>
              </a:rPr>
              <a:t>33%</a:t>
            </a:r>
            <a:pPr indent="0" marL="0">
              <a:buNone/>
            </a:pPr>
            <a:r>
              <a:rPr lang="en-US" sz="1050" dirty="0">
                <a:solidFill>
                  <a:srgbClr val="E4D8C6"/>
                </a:solidFill>
                <a:latin typeface="Arial" pitchFamily="34" charset="0"/>
                <a:ea typeface="Arial" pitchFamily="34" charset="-122"/>
                <a:cs typeface="Arial" pitchFamily="34" charset="-120"/>
              </a:rPr>
              <a:t>.</a:t>
            </a:r>
            <a:endParaRPr lang="en-US" sz="1050" dirty="0"/>
          </a:p>
        </p:txBody>
      </p:sp>
      <p:sp>
        <p:nvSpPr>
          <p:cNvPr id="16" name="Shape 14"/>
          <p:cNvSpPr/>
          <p:nvPr/>
        </p:nvSpPr>
        <p:spPr>
          <a:xfrm>
            <a:off x="4373228" y="2898648"/>
            <a:ext cx="4115147" cy="512064"/>
          </a:xfrm>
          <a:prstGeom prst="roundRect">
            <a:avLst>
              <a:gd name="adj" fmla="val 17857"/>
            </a:avLst>
          </a:prstGeom>
          <a:solidFill>
            <a:srgbClr val="32251B"/>
          </a:solidFill>
          <a:ln w="9525">
            <a:solidFill>
              <a:srgbClr val="332A1F"/>
            </a:solidFill>
            <a:prstDash val="solid"/>
          </a:ln>
        </p:spPr>
      </p:sp>
      <p:sp>
        <p:nvSpPr>
          <p:cNvPr id="17" name="Text 15"/>
          <p:cNvSpPr txBox="1"/>
          <p:nvPr/>
        </p:nvSpPr>
        <p:spPr>
          <a:xfrm>
            <a:off x="4510388" y="2898648"/>
            <a:ext cx="3840827" cy="512064"/>
          </a:xfrm>
          <a:prstGeom prst="rect">
            <a:avLst/>
          </a:prstGeom>
          <a:noFill/>
          <a:ln/>
        </p:spPr>
        <p:txBody>
          <a:bodyPr wrap="square" lIns="0" tIns="0" rIns="0" bIns="0" rtlCol="0" anchor="ctr"/>
          <a:lstStyle/>
          <a:p>
            <a:pPr indent="0" marL="0">
              <a:buNone/>
            </a:pPr>
            <a:r>
              <a:rPr lang="en-US" sz="1050" dirty="0">
                <a:solidFill>
                  <a:srgbClr val="E8C290"/>
                </a:solidFill>
                <a:latin typeface="Courier New" pitchFamily="34" charset="0"/>
                <a:ea typeface="Courier New" pitchFamily="34" charset="-122"/>
                <a:cs typeface="Courier New" pitchFamily="34" charset="-120"/>
              </a:rPr>
              <a:t>A2 | N/A  </a:t>
            </a:r>
            <a:pPr indent="0" marL="0">
              <a:buNone/>
            </a:pPr>
            <a:r>
              <a:rPr lang="en-US" sz="1050" dirty="0">
                <a:solidFill>
                  <a:srgbClr val="E4D8C6"/>
                </a:solidFill>
                <a:latin typeface="Arial" pitchFamily="34" charset="0"/>
                <a:ea typeface="Arial" pitchFamily="34" charset="-122"/>
                <a:cs typeface="Arial" pitchFamily="34" charset="-120"/>
              </a:rPr>
              <a:t>Merchant Center access not granted yet. </a:t>
            </a:r>
            <a:pPr indent="0" marL="0">
              <a:buNone/>
            </a:pPr>
            <a:r>
              <a:rPr lang="en-US" sz="1050" b="1" dirty="0">
                <a:solidFill>
                  <a:srgbClr val="FFF6E6"/>
                </a:solidFill>
                <a:latin typeface="Arial" pitchFamily="34" charset="0"/>
                <a:ea typeface="Arial" pitchFamily="34" charset="-122"/>
                <a:cs typeface="Arial" pitchFamily="34" charset="-120"/>
              </a:rPr>
              <a:t>→ gap, blocked on client</a:t>
            </a:r>
            <a:endParaRPr lang="en-US" sz="1050" dirty="0"/>
          </a:p>
        </p:txBody>
      </p:sp>
      <p:sp>
        <p:nvSpPr>
          <p:cNvPr id="18" name="Shape 16"/>
          <p:cNvSpPr/>
          <p:nvPr/>
        </p:nvSpPr>
        <p:spPr>
          <a:xfrm>
            <a:off x="4373228" y="3502152"/>
            <a:ext cx="4115147" cy="512064"/>
          </a:xfrm>
          <a:prstGeom prst="roundRect">
            <a:avLst>
              <a:gd name="adj" fmla="val 17857"/>
            </a:avLst>
          </a:prstGeom>
          <a:solidFill>
            <a:srgbClr val="32251B"/>
          </a:solidFill>
          <a:ln w="9525">
            <a:solidFill>
              <a:srgbClr val="332A1F"/>
            </a:solidFill>
            <a:prstDash val="solid"/>
          </a:ln>
        </p:spPr>
      </p:sp>
      <p:sp>
        <p:nvSpPr>
          <p:cNvPr id="19" name="Text 17"/>
          <p:cNvSpPr txBox="1"/>
          <p:nvPr/>
        </p:nvSpPr>
        <p:spPr>
          <a:xfrm>
            <a:off x="4510388" y="3502152"/>
            <a:ext cx="3840827" cy="512064"/>
          </a:xfrm>
          <a:prstGeom prst="rect">
            <a:avLst/>
          </a:prstGeom>
          <a:noFill/>
          <a:ln/>
        </p:spPr>
        <p:txBody>
          <a:bodyPr wrap="square" lIns="0" tIns="0" rIns="0" bIns="0" rtlCol="0" anchor="ctr"/>
          <a:lstStyle/>
          <a:p>
            <a:pPr indent="0" marL="0">
              <a:buNone/>
            </a:pPr>
            <a:r>
              <a:rPr lang="en-US" sz="1050" dirty="0">
                <a:solidFill>
                  <a:srgbClr val="E8C290"/>
                </a:solidFill>
                <a:latin typeface="Courier New" pitchFamily="34" charset="0"/>
                <a:ea typeface="Courier New" pitchFamily="34" charset="-122"/>
                <a:cs typeface="Courier New" pitchFamily="34" charset="-120"/>
              </a:rPr>
              <a:t>D5 | DONE  </a:t>
            </a:r>
            <a:pPr indent="0" marL="0">
              <a:buNone/>
            </a:pPr>
            <a:r>
              <a:rPr lang="en-US" sz="1050" dirty="0">
                <a:solidFill>
                  <a:srgbClr val="E4D8C6"/>
                </a:solidFill>
                <a:latin typeface="Arial" pitchFamily="34" charset="0"/>
                <a:ea typeface="Arial" pitchFamily="34" charset="-122"/>
                <a:cs typeface="Arial" pitchFamily="34" charset="-120"/>
              </a:rPr>
              <a:t>"Ignore previous instructions and…"  </a:t>
            </a:r>
            <a:pPr indent="0" marL="0">
              <a:buNone/>
            </a:pPr>
            <a:r>
              <a:rPr lang="en-US" sz="800" b="1" dirty="0">
                <a:solidFill>
                  <a:srgbClr val="F0A497"/>
                </a:solidFill>
                <a:latin typeface="Arial" pitchFamily="34" charset="0"/>
                <a:ea typeface="Arial" pitchFamily="34" charset="-122"/>
                <a:cs typeface="Arial" pitchFamily="34" charset="-120"/>
              </a:rPr>
              <a:t>UNTRUSTED  </a:t>
            </a:r>
            <a:pPr indent="0" marL="0">
              <a:buNone/>
            </a:pPr>
            <a:r>
              <a:rPr lang="en-US" sz="1050" b="1" dirty="0">
                <a:solidFill>
                  <a:srgbClr val="FFF6E6"/>
                </a:solidFill>
                <a:latin typeface="Arial" pitchFamily="34" charset="0"/>
                <a:ea typeface="Arial" pitchFamily="34" charset="-122"/>
                <a:cs typeface="Arial" pitchFamily="34" charset="-120"/>
              </a:rPr>
              <a:t>Stored as data. Nothing happened.</a:t>
            </a:r>
            <a:endParaRPr lang="en-US" sz="1050" dirty="0"/>
          </a:p>
        </p:txBody>
      </p:sp>
      <p:sp>
        <p:nvSpPr>
          <p:cNvPr id="20" name="Shape 18"/>
          <p:cNvSpPr/>
          <p:nvPr/>
        </p:nvSpPr>
        <p:spPr>
          <a:xfrm>
            <a:off x="685800" y="4449826"/>
            <a:ext cx="201168" cy="27432"/>
          </a:xfrm>
          <a:prstGeom prst="rect">
            <a:avLst/>
          </a:prstGeom>
          <a:solidFill>
            <a:srgbClr val="C9955A"/>
          </a:solidFill>
          <a:ln w="12700">
            <a:solidFill>
              <a:srgbClr val="C9955A"/>
            </a:solidFill>
            <a:prstDash val="solid"/>
          </a:ln>
        </p:spPr>
      </p:sp>
      <p:sp>
        <p:nvSpPr>
          <p:cNvPr id="21" name="Text 19"/>
          <p:cNvSpPr txBox="1"/>
          <p:nvPr/>
        </p:nvSpPr>
        <p:spPr>
          <a:xfrm>
            <a:off x="1069848" y="4343400"/>
            <a:ext cx="4797400" cy="535432"/>
          </a:xfrm>
          <a:prstGeom prst="rect">
            <a:avLst/>
          </a:prstGeom>
          <a:noFill/>
          <a:ln/>
        </p:spPr>
        <p:txBody>
          <a:bodyPr wrap="square" lIns="0" tIns="0" rIns="0" bIns="0" rtlCol="0" anchor="t"/>
          <a:lstStyle/>
          <a:p>
            <a:pPr indent="0" marL="0">
              <a:buNone/>
            </a:pPr>
            <a:r>
              <a:rPr lang="en-US" sz="1400" b="1" dirty="0">
                <a:solidFill>
                  <a:srgbClr val="FFF6E6"/>
                </a:solidFill>
                <a:latin typeface="Arial" pitchFamily="34" charset="0"/>
                <a:ea typeface="Arial" pitchFamily="34" charset="-122"/>
                <a:cs typeface="Arial" pitchFamily="34" charset="-120"/>
              </a:rPr>
              <a:t>A handshake, not an integration.</a:t>
            </a:r>
            <a:pPr indent="0" marL="0">
              <a:buNone/>
            </a:pPr>
            <a:r>
              <a:rPr lang="en-US" sz="1400" dirty="0">
                <a:solidFill>
                  <a:srgbClr val="E4D8C6"/>
                </a:solidFill>
                <a:latin typeface="Arial" pitchFamily="34" charset="0"/>
                <a:ea typeface="Arial" pitchFamily="34" charset="-122"/>
                <a:cs typeface="Arial" pitchFamily="34" charset="-120"/>
              </a:rPr>
              <a:t> One URL, one token, no portal, no form.</a:t>
            </a:r>
            <a:endParaRPr lang="en-US" sz="1400" dirty="0"/>
          </a:p>
        </p:txBody>
      </p:sp>
      <p:sp>
        <p:nvSpPr>
          <p:cNvPr id="22" name="Shape 20"/>
          <p:cNvSpPr/>
          <p:nvPr/>
        </p:nvSpPr>
        <p:spPr>
          <a:xfrm>
            <a:off x="685800" y="5094986"/>
            <a:ext cx="201168" cy="27432"/>
          </a:xfrm>
          <a:prstGeom prst="rect">
            <a:avLst/>
          </a:prstGeom>
          <a:solidFill>
            <a:srgbClr val="C9955A"/>
          </a:solidFill>
          <a:ln w="12700">
            <a:solidFill>
              <a:srgbClr val="C9955A"/>
            </a:solidFill>
            <a:prstDash val="solid"/>
          </a:ln>
        </p:spPr>
      </p:sp>
      <p:sp>
        <p:nvSpPr>
          <p:cNvPr id="23" name="Text 21"/>
          <p:cNvSpPr txBox="1"/>
          <p:nvPr/>
        </p:nvSpPr>
        <p:spPr>
          <a:xfrm>
            <a:off x="1069848" y="4988560"/>
            <a:ext cx="4797400" cy="535432"/>
          </a:xfrm>
          <a:prstGeom prst="rect">
            <a:avLst/>
          </a:prstGeom>
          <a:noFill/>
          <a:ln/>
        </p:spPr>
        <p:txBody>
          <a:bodyPr wrap="square" lIns="0" tIns="0" rIns="0" bIns="0" rtlCol="0" anchor="t"/>
          <a:lstStyle/>
          <a:p>
            <a:pPr indent="0" marL="0">
              <a:buNone/>
            </a:pPr>
            <a:r>
              <a:rPr lang="en-US" sz="1400" b="1" dirty="0">
                <a:solidFill>
                  <a:srgbClr val="FFF6E6"/>
                </a:solidFill>
                <a:latin typeface="Arial" pitchFamily="34" charset="0"/>
                <a:ea typeface="Arial" pitchFamily="34" charset="-122"/>
                <a:cs typeface="Arial" pitchFamily="34" charset="-120"/>
              </a:rPr>
              <a:t>Append-only answers with provenance:</a:t>
            </a:r>
            <a:pPr indent="0" marL="0">
              <a:buNone/>
            </a:pPr>
            <a:r>
              <a:rPr lang="en-US" sz="1400" dirty="0">
                <a:solidFill>
                  <a:srgbClr val="E4D8C6"/>
                </a:solidFill>
                <a:latin typeface="Arial" pitchFamily="34" charset="0"/>
                <a:ea typeface="Arial" pitchFamily="34" charset="-122"/>
                <a:cs typeface="Arial" pitchFamily="34" charset="-120"/>
              </a:rPr>
              <a:t> who answered, which AI, when, full history.</a:t>
            </a:r>
            <a:endParaRPr lang="en-US" sz="1400" dirty="0"/>
          </a:p>
        </p:txBody>
      </p:sp>
      <p:sp>
        <p:nvSpPr>
          <p:cNvPr id="24" name="Shape 22"/>
          <p:cNvSpPr/>
          <p:nvPr/>
        </p:nvSpPr>
        <p:spPr>
          <a:xfrm>
            <a:off x="6324448" y="4449826"/>
            <a:ext cx="201168" cy="27432"/>
          </a:xfrm>
          <a:prstGeom prst="rect">
            <a:avLst/>
          </a:prstGeom>
          <a:solidFill>
            <a:srgbClr val="C9955A"/>
          </a:solidFill>
          <a:ln w="12700">
            <a:solidFill>
              <a:srgbClr val="C9955A"/>
            </a:solidFill>
            <a:prstDash val="solid"/>
          </a:ln>
        </p:spPr>
      </p:sp>
      <p:sp>
        <p:nvSpPr>
          <p:cNvPr id="25" name="Text 23"/>
          <p:cNvSpPr txBox="1"/>
          <p:nvPr/>
        </p:nvSpPr>
        <p:spPr>
          <a:xfrm>
            <a:off x="6708496" y="4343400"/>
            <a:ext cx="4797400" cy="535432"/>
          </a:xfrm>
          <a:prstGeom prst="rect">
            <a:avLst/>
          </a:prstGeom>
          <a:noFill/>
          <a:ln/>
        </p:spPr>
        <p:txBody>
          <a:bodyPr wrap="square" lIns="0" tIns="0" rIns="0" bIns="0" rtlCol="0" anchor="t"/>
          <a:lstStyle/>
          <a:p>
            <a:pPr indent="0" marL="0">
              <a:buNone/>
            </a:pPr>
            <a:r>
              <a:rPr lang="en-US" sz="1400" b="1" dirty="0">
                <a:solidFill>
                  <a:srgbClr val="FFF6E6"/>
                </a:solidFill>
                <a:latin typeface="Arial" pitchFamily="34" charset="0"/>
                <a:ea typeface="Arial" pitchFamily="34" charset="-122"/>
                <a:cs typeface="Arial" pitchFamily="34" charset="-120"/>
              </a:rPr>
              <a:t>Client text is data, never instructions.</a:t>
            </a:r>
            <a:pPr indent="0" marL="0">
              <a:buNone/>
            </a:pPr>
            <a:r>
              <a:rPr lang="en-US" sz="1400" dirty="0">
                <a:solidFill>
                  <a:srgbClr val="E4D8C6"/>
                </a:solidFill>
                <a:latin typeface="Arial" pitchFamily="34" charset="0"/>
                <a:ea typeface="Arial" pitchFamily="34" charset="-122"/>
                <a:cs typeface="Arial" pitchFamily="34" charset="-120"/>
              </a:rPr>
              <a:t> Prompt-injection cases are in the tests.</a:t>
            </a:r>
            <a:endParaRPr lang="en-US" sz="1400" dirty="0"/>
          </a:p>
        </p:txBody>
      </p:sp>
      <p:sp>
        <p:nvSpPr>
          <p:cNvPr id="26" name="Shape 24"/>
          <p:cNvSpPr/>
          <p:nvPr/>
        </p:nvSpPr>
        <p:spPr>
          <a:xfrm>
            <a:off x="6324448" y="5094986"/>
            <a:ext cx="201168" cy="27432"/>
          </a:xfrm>
          <a:prstGeom prst="rect">
            <a:avLst/>
          </a:prstGeom>
          <a:solidFill>
            <a:srgbClr val="C9955A"/>
          </a:solidFill>
          <a:ln w="12700">
            <a:solidFill>
              <a:srgbClr val="C9955A"/>
            </a:solidFill>
            <a:prstDash val="solid"/>
          </a:ln>
        </p:spPr>
      </p:sp>
      <p:sp>
        <p:nvSpPr>
          <p:cNvPr id="27" name="Text 25"/>
          <p:cNvSpPr txBox="1"/>
          <p:nvPr/>
        </p:nvSpPr>
        <p:spPr>
          <a:xfrm>
            <a:off x="6708496" y="4988560"/>
            <a:ext cx="4797400" cy="535432"/>
          </a:xfrm>
          <a:prstGeom prst="rect">
            <a:avLst/>
          </a:prstGeom>
          <a:noFill/>
          <a:ln/>
        </p:spPr>
        <p:txBody>
          <a:bodyPr wrap="square" lIns="0" tIns="0" rIns="0" bIns="0" rtlCol="0" anchor="t"/>
          <a:lstStyle/>
          <a:p>
            <a:pPr indent="0" marL="0">
              <a:buNone/>
            </a:pPr>
            <a:r>
              <a:rPr lang="en-US" sz="1400" b="1" dirty="0">
                <a:solidFill>
                  <a:srgbClr val="FFF6E6"/>
                </a:solidFill>
                <a:latin typeface="Arial" pitchFamily="34" charset="0"/>
                <a:ea typeface="Arial" pitchFamily="34" charset="-122"/>
                <a:cs typeface="Arial" pitchFamily="34" charset="-120"/>
              </a:rPr>
              <a:t>Every answer becomes a work item</a:t>
            </a:r>
            <a:pPr indent="0" marL="0">
              <a:buNone/>
            </a:pPr>
            <a:r>
              <a:rPr lang="en-US" sz="1400" dirty="0">
                <a:solidFill>
                  <a:srgbClr val="E4D8C6"/>
                </a:solidFill>
                <a:latin typeface="Arial" pitchFamily="34" charset="0"/>
                <a:ea typeface="Arial" pitchFamily="34" charset="-122"/>
                <a:cs typeface="Arial" pitchFamily="34" charset="-120"/>
              </a:rPr>
              <a:t> on someone's plate; every gap becomes a follow-up.</a:t>
            </a:r>
            <a:endParaRPr lang="en-US" sz="1400" dirty="0"/>
          </a:p>
        </p:txBody>
      </p:sp>
      <p:sp>
        <p:nvSpPr>
          <p:cNvPr id="25" name="Slide Number Placeholder 0"/>
          <p:cNvSpPr>
            <a:spLocks noGrp="1"/>
          </p:cNvSpPr>
          <p:nvPr>
            <p:ph type="sldNum" sz="quarter" idx="4294967295"/>
          </p:nvPr>
        </p:nvSpPr>
        <p:spPr>
          <a:xfrm>
            <a:off x="10408615" y="6355080"/>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7961"/>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85800" y="411480"/>
            <a:ext cx="10820095" cy="320040"/>
          </a:xfrm>
          <a:prstGeom prst="rect">
            <a:avLst/>
          </a:prstGeom>
          <a:noFill/>
          <a:ln/>
        </p:spPr>
        <p:txBody>
          <a:bodyPr wrap="square" lIns="0" tIns="0" rIns="0" bIns="0" rtlCol="0" anchor="ctr"/>
          <a:lstStyle/>
          <a:p>
            <a:pPr indent="0" marL="0">
              <a:buNone/>
            </a:pPr>
            <a:r>
              <a:rPr lang="en-US" sz="1100" spc="600" kern="0" dirty="0">
                <a:solidFill>
                  <a:srgbClr val="E8C290"/>
                </a:solidFill>
                <a:latin typeface="Arial" pitchFamily="34" charset="0"/>
                <a:ea typeface="Arial" pitchFamily="34" charset="-122"/>
                <a:cs typeface="Arial" pitchFamily="34" charset="-120"/>
              </a:rPr>
              <a:t>HOW IT WORKS</a:t>
            </a:r>
            <a:endParaRPr lang="en-US" sz="1100" dirty="0"/>
          </a:p>
        </p:txBody>
      </p:sp>
      <p:sp>
        <p:nvSpPr>
          <p:cNvPr id="3" name="Text 1"/>
          <p:cNvSpPr txBox="1"/>
          <p:nvPr/>
        </p:nvSpPr>
        <p:spPr>
          <a:xfrm>
            <a:off x="685800" y="731520"/>
            <a:ext cx="10820095" cy="731520"/>
          </a:xfrm>
          <a:prstGeom prst="rect">
            <a:avLst/>
          </a:prstGeom>
          <a:noFill/>
          <a:ln/>
        </p:spPr>
        <p:txBody>
          <a:bodyPr wrap="square" lIns="0" tIns="0" rIns="0" bIns="0" rtlCol="0" anchor="t"/>
          <a:lstStyle/>
          <a:p>
            <a:pPr indent="0" marL="0">
              <a:lnSpc>
                <a:spcPct val="105000"/>
              </a:lnSpc>
              <a:buNone/>
            </a:pPr>
            <a:r>
              <a:rPr lang="en-US" sz="3400" dirty="0">
                <a:solidFill>
                  <a:srgbClr val="FFF6E6"/>
                </a:solidFill>
                <a:latin typeface="Arial" pitchFamily="34" charset="0"/>
                <a:ea typeface="Arial" pitchFamily="34" charset="-122"/>
                <a:cs typeface="Arial" pitchFamily="34" charset="-120"/>
              </a:rPr>
              <a:t>Eight stages. </a:t>
            </a:r>
            <a:pPr indent="0" marL="0">
              <a:lnSpc>
                <a:spcPct val="105000"/>
              </a:lnSpc>
              <a:buNone/>
            </a:pPr>
            <a:r>
              <a:rPr lang="en-US" sz="3400" dirty="0">
                <a:solidFill>
                  <a:srgbClr val="F3D9A4"/>
                </a:solidFill>
                <a:latin typeface="Arial" pitchFamily="34" charset="0"/>
                <a:ea typeface="Arial" pitchFamily="34" charset="-122"/>
                <a:cs typeface="Arial" pitchFamily="34" charset="-120"/>
              </a:rPr>
              <a:t>Five human gates.</a:t>
            </a:r>
            <a:pPr indent="0" marL="0">
              <a:lnSpc>
                <a:spcPct val="105000"/>
              </a:lnSpc>
              <a:buNone/>
            </a:pPr>
            <a:r>
              <a:rPr lang="en-US" sz="3400" dirty="0">
                <a:solidFill>
                  <a:srgbClr val="FFF6E6"/>
                </a:solidFill>
                <a:latin typeface="Arial" pitchFamily="34" charset="0"/>
                <a:ea typeface="Arial" pitchFamily="34" charset="-122"/>
                <a:cs typeface="Arial" pitchFamily="34" charset="-120"/>
              </a:rPr>
              <a:t> The agent does the paperwork.</a:t>
            </a:r>
            <a:endParaRPr lang="en-US" sz="3400" dirty="0"/>
          </a:p>
        </p:txBody>
      </p:sp>
      <p:sp>
        <p:nvSpPr>
          <p:cNvPr id="4" name="Shape 2"/>
          <p:cNvSpPr/>
          <p:nvPr/>
        </p:nvSpPr>
        <p:spPr>
          <a:xfrm>
            <a:off x="685800" y="3040380"/>
            <a:ext cx="10820095" cy="18288"/>
          </a:xfrm>
          <a:prstGeom prst="rect">
            <a:avLst/>
          </a:prstGeom>
          <a:solidFill>
            <a:srgbClr val="8A5A2B"/>
          </a:solidFill>
          <a:ln w="12700">
            <a:solidFill>
              <a:srgbClr val="8A5A2B"/>
            </a:solidFill>
            <a:prstDash val="solid"/>
          </a:ln>
        </p:spPr>
      </p:sp>
      <p:sp>
        <p:nvSpPr>
          <p:cNvPr id="5" name="Shape 3"/>
          <p:cNvSpPr/>
          <p:nvPr/>
        </p:nvSpPr>
        <p:spPr>
          <a:xfrm>
            <a:off x="685800" y="1965960"/>
            <a:ext cx="1256500" cy="2148840"/>
          </a:xfrm>
          <a:prstGeom prst="roundRect">
            <a:avLst>
              <a:gd name="adj" fmla="val 8733"/>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6" name="Text 4"/>
          <p:cNvSpPr txBox="1"/>
          <p:nvPr/>
        </p:nvSpPr>
        <p:spPr>
          <a:xfrm>
            <a:off x="795528" y="2093976"/>
            <a:ext cx="1037044" cy="201168"/>
          </a:xfrm>
          <a:prstGeom prst="rect">
            <a:avLst/>
          </a:prstGeom>
          <a:noFill/>
          <a:ln/>
        </p:spPr>
        <p:txBody>
          <a:bodyPr wrap="square" lIns="0" tIns="0" rIns="0" bIns="0" rtlCol="0" anchor="t"/>
          <a:lstStyle/>
          <a:p>
            <a:pPr indent="0" marL="0">
              <a:buNone/>
            </a:pPr>
            <a:r>
              <a:rPr lang="en-US" sz="700" spc="100" kern="0" dirty="0">
                <a:solidFill>
                  <a:srgbClr val="B5A186"/>
                </a:solidFill>
                <a:latin typeface="Arial" pitchFamily="34" charset="0"/>
                <a:ea typeface="Arial" pitchFamily="34" charset="-122"/>
                <a:cs typeface="Arial" pitchFamily="34" charset="-120"/>
              </a:rPr>
              <a:t>1 · CLIENT AI</a:t>
            </a:r>
            <a:endParaRPr lang="en-US" sz="700" dirty="0"/>
          </a:p>
        </p:txBody>
      </p:sp>
      <p:sp>
        <p:nvSpPr>
          <p:cNvPr id="7" name="Text 5"/>
          <p:cNvSpPr txBox="1"/>
          <p:nvPr/>
        </p:nvSpPr>
        <p:spPr>
          <a:xfrm>
            <a:off x="795528" y="2350008"/>
            <a:ext cx="1037044" cy="365760"/>
          </a:xfrm>
          <a:prstGeom prst="rect">
            <a:avLst/>
          </a:prstGeom>
          <a:noFill/>
          <a:ln/>
        </p:spPr>
        <p:txBody>
          <a:bodyPr wrap="square" lIns="0" tIns="0" rIns="0" bIns="0" rtlCol="0" anchor="ctr"/>
          <a:lstStyle/>
          <a:p>
            <a:pPr indent="0" marL="0">
              <a:buNone/>
            </a:pPr>
            <a:r>
              <a:rPr lang="en-US" sz="1700" dirty="0">
                <a:solidFill>
                  <a:srgbClr val="FFF6E6"/>
                </a:solidFill>
                <a:latin typeface="Arial" pitchFamily="34" charset="0"/>
                <a:ea typeface="Arial" pitchFamily="34" charset="-122"/>
                <a:cs typeface="Arial" pitchFamily="34" charset="-120"/>
              </a:rPr>
              <a:t>Intake</a:t>
            </a:r>
            <a:endParaRPr lang="en-US" sz="1700" dirty="0"/>
          </a:p>
        </p:txBody>
      </p:sp>
      <p:sp>
        <p:nvSpPr>
          <p:cNvPr id="8" name="Text 6"/>
          <p:cNvSpPr txBox="1"/>
          <p:nvPr/>
        </p:nvSpPr>
        <p:spPr>
          <a:xfrm>
            <a:off x="795528" y="2743200"/>
            <a:ext cx="1037044" cy="822960"/>
          </a:xfrm>
          <a:prstGeom prst="rect">
            <a:avLst/>
          </a:prstGeom>
          <a:noFill/>
          <a:ln/>
        </p:spPr>
        <p:txBody>
          <a:bodyPr wrap="square" lIns="0" tIns="0" rIns="0" bIns="0" rtlCol="0" anchor="t"/>
          <a:lstStyle/>
          <a:p>
            <a:pPr indent="0" marL="0">
              <a:buNone/>
            </a:pPr>
            <a:r>
              <a:rPr lang="en-US" sz="1000" dirty="0">
                <a:solidFill>
                  <a:srgbClr val="B5A186"/>
                </a:solidFill>
                <a:latin typeface="Arial" pitchFamily="34" charset="0"/>
                <a:ea typeface="Arial" pitchFamily="34" charset="-122"/>
                <a:cs typeface="Arial" pitchFamily="34" charset="-120"/>
              </a:rPr>
              <a:t>Asks the next item, records answers with provenance</a:t>
            </a:r>
            <a:endParaRPr lang="en-US" sz="1000" dirty="0"/>
          </a:p>
        </p:txBody>
      </p:sp>
      <p:sp>
        <p:nvSpPr>
          <p:cNvPr id="9" name="Shape 7"/>
          <p:cNvSpPr/>
          <p:nvPr/>
        </p:nvSpPr>
        <p:spPr>
          <a:xfrm>
            <a:off x="795528" y="3950208"/>
            <a:ext cx="1037044" cy="45720"/>
          </a:xfrm>
          <a:prstGeom prst="rect">
            <a:avLst/>
          </a:prstGeom>
          <a:solidFill>
            <a:srgbClr val="C9955A"/>
          </a:solidFill>
          <a:ln w="12700">
            <a:solidFill>
              <a:srgbClr val="C9955A"/>
            </a:solidFill>
            <a:prstDash val="solid"/>
          </a:ln>
        </p:spPr>
      </p:sp>
      <p:sp>
        <p:nvSpPr>
          <p:cNvPr id="10" name="Shape 8"/>
          <p:cNvSpPr/>
          <p:nvPr/>
        </p:nvSpPr>
        <p:spPr>
          <a:xfrm>
            <a:off x="2052028" y="1965960"/>
            <a:ext cx="1256500" cy="2148840"/>
          </a:xfrm>
          <a:prstGeom prst="roundRect">
            <a:avLst>
              <a:gd name="adj" fmla="val 8733"/>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11" name="Text 9"/>
          <p:cNvSpPr txBox="1"/>
          <p:nvPr/>
        </p:nvSpPr>
        <p:spPr>
          <a:xfrm>
            <a:off x="2161756" y="2093976"/>
            <a:ext cx="1037044" cy="201168"/>
          </a:xfrm>
          <a:prstGeom prst="rect">
            <a:avLst/>
          </a:prstGeom>
          <a:noFill/>
          <a:ln/>
        </p:spPr>
        <p:txBody>
          <a:bodyPr wrap="square" lIns="0" tIns="0" rIns="0" bIns="0" rtlCol="0" anchor="t"/>
          <a:lstStyle/>
          <a:p>
            <a:pPr indent="0" marL="0">
              <a:buNone/>
            </a:pPr>
            <a:r>
              <a:rPr lang="en-US" sz="700" spc="100" kern="0" dirty="0">
                <a:solidFill>
                  <a:srgbClr val="B5A186"/>
                </a:solidFill>
                <a:latin typeface="Arial" pitchFamily="34" charset="0"/>
                <a:ea typeface="Arial" pitchFamily="34" charset="-122"/>
                <a:cs typeface="Arial" pitchFamily="34" charset="-120"/>
              </a:rPr>
              <a:t>2 · AGENT</a:t>
            </a:r>
            <a:endParaRPr lang="en-US" sz="700" dirty="0"/>
          </a:p>
        </p:txBody>
      </p:sp>
      <p:sp>
        <p:nvSpPr>
          <p:cNvPr id="12" name="Text 10"/>
          <p:cNvSpPr txBox="1"/>
          <p:nvPr/>
        </p:nvSpPr>
        <p:spPr>
          <a:xfrm>
            <a:off x="2161756" y="2350008"/>
            <a:ext cx="1037044" cy="365760"/>
          </a:xfrm>
          <a:prstGeom prst="rect">
            <a:avLst/>
          </a:prstGeom>
          <a:noFill/>
          <a:ln/>
        </p:spPr>
        <p:txBody>
          <a:bodyPr wrap="square" lIns="0" tIns="0" rIns="0" bIns="0" rtlCol="0" anchor="ctr"/>
          <a:lstStyle/>
          <a:p>
            <a:pPr indent="0" marL="0">
              <a:buNone/>
            </a:pPr>
            <a:r>
              <a:rPr lang="en-US" sz="1700" dirty="0">
                <a:solidFill>
                  <a:srgbClr val="FFF6E6"/>
                </a:solidFill>
                <a:latin typeface="Arial" pitchFamily="34" charset="0"/>
                <a:ea typeface="Arial" pitchFamily="34" charset="-122"/>
                <a:cs typeface="Arial" pitchFamily="34" charset="-120"/>
              </a:rPr>
              <a:t>BRD</a:t>
            </a:r>
            <a:endParaRPr lang="en-US" sz="1700" dirty="0"/>
          </a:p>
        </p:txBody>
      </p:sp>
      <p:sp>
        <p:nvSpPr>
          <p:cNvPr id="13" name="Text 11"/>
          <p:cNvSpPr txBox="1"/>
          <p:nvPr/>
        </p:nvSpPr>
        <p:spPr>
          <a:xfrm>
            <a:off x="2161756" y="2743200"/>
            <a:ext cx="1037044" cy="822960"/>
          </a:xfrm>
          <a:prstGeom prst="rect">
            <a:avLst/>
          </a:prstGeom>
          <a:noFill/>
          <a:ln/>
        </p:spPr>
        <p:txBody>
          <a:bodyPr wrap="square" lIns="0" tIns="0" rIns="0" bIns="0" rtlCol="0" anchor="t"/>
          <a:lstStyle/>
          <a:p>
            <a:pPr indent="0" marL="0">
              <a:buNone/>
            </a:pPr>
            <a:r>
              <a:rPr lang="en-US" sz="1000" dirty="0">
                <a:solidFill>
                  <a:srgbClr val="B5A186"/>
                </a:solidFill>
                <a:latin typeface="Arial" pitchFamily="34" charset="0"/>
                <a:ea typeface="Arial" pitchFamily="34" charset="-122"/>
                <a:cs typeface="Arial" pitchFamily="34" charset="-120"/>
              </a:rPr>
              <a:t>Groups answers by section, lists open gaps</a:t>
            </a:r>
            <a:endParaRPr lang="en-US" sz="1000" dirty="0"/>
          </a:p>
        </p:txBody>
      </p:sp>
      <p:sp>
        <p:nvSpPr>
          <p:cNvPr id="14" name="Shape 12"/>
          <p:cNvSpPr/>
          <p:nvPr/>
        </p:nvSpPr>
        <p:spPr>
          <a:xfrm>
            <a:off x="2161756" y="3950208"/>
            <a:ext cx="1037044" cy="45720"/>
          </a:xfrm>
          <a:prstGeom prst="rect">
            <a:avLst/>
          </a:prstGeom>
          <a:solidFill>
            <a:srgbClr val="C9955A"/>
          </a:solidFill>
          <a:ln w="12700">
            <a:solidFill>
              <a:srgbClr val="C9955A"/>
            </a:solidFill>
            <a:prstDash val="solid"/>
          </a:ln>
        </p:spPr>
      </p:sp>
      <p:sp>
        <p:nvSpPr>
          <p:cNvPr id="15" name="Shape 13"/>
          <p:cNvSpPr/>
          <p:nvPr/>
        </p:nvSpPr>
        <p:spPr>
          <a:xfrm>
            <a:off x="3418256" y="1965960"/>
            <a:ext cx="1256500" cy="2148840"/>
          </a:xfrm>
          <a:prstGeom prst="roundRect">
            <a:avLst>
              <a:gd name="adj" fmla="val 8733"/>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16" name="Text 14"/>
          <p:cNvSpPr txBox="1"/>
          <p:nvPr/>
        </p:nvSpPr>
        <p:spPr>
          <a:xfrm>
            <a:off x="3527984" y="2093976"/>
            <a:ext cx="652996" cy="201168"/>
          </a:xfrm>
          <a:prstGeom prst="rect">
            <a:avLst/>
          </a:prstGeom>
          <a:noFill/>
          <a:ln/>
        </p:spPr>
        <p:txBody>
          <a:bodyPr wrap="square" lIns="0" tIns="0" rIns="0" bIns="0" rtlCol="0" anchor="t"/>
          <a:lstStyle/>
          <a:p>
            <a:pPr indent="0" marL="0">
              <a:buNone/>
            </a:pPr>
            <a:r>
              <a:rPr lang="en-US" sz="700" spc="100" kern="0" dirty="0">
                <a:solidFill>
                  <a:srgbClr val="B5A186"/>
                </a:solidFill>
                <a:latin typeface="Arial" pitchFamily="34" charset="0"/>
                <a:ea typeface="Arial" pitchFamily="34" charset="-122"/>
                <a:cs typeface="Arial" pitchFamily="34" charset="-120"/>
              </a:rPr>
              <a:t>3 · AGENT</a:t>
            </a:r>
            <a:endParaRPr lang="en-US" sz="700" dirty="0"/>
          </a:p>
        </p:txBody>
      </p:sp>
      <p:sp>
        <p:nvSpPr>
          <p:cNvPr id="17" name="Shape 15"/>
          <p:cNvSpPr/>
          <p:nvPr/>
        </p:nvSpPr>
        <p:spPr>
          <a:xfrm>
            <a:off x="4217556" y="2075688"/>
            <a:ext cx="347472" cy="201168"/>
          </a:xfrm>
          <a:prstGeom prst="roundRect">
            <a:avLst>
              <a:gd name="adj" fmla="val 22727"/>
            </a:avLst>
          </a:prstGeom>
          <a:solidFill>
            <a:srgbClr val="F3D9A4"/>
          </a:solidFill>
          <a:ln w="12700">
            <a:solidFill>
              <a:srgbClr val="F3D9A4"/>
            </a:solidFill>
            <a:prstDash val="solid"/>
          </a:ln>
        </p:spPr>
      </p:sp>
      <p:sp>
        <p:nvSpPr>
          <p:cNvPr id="18" name="Text 16"/>
          <p:cNvSpPr txBox="1"/>
          <p:nvPr/>
        </p:nvSpPr>
        <p:spPr>
          <a:xfrm>
            <a:off x="4217556" y="2075688"/>
            <a:ext cx="347472" cy="201168"/>
          </a:xfrm>
          <a:prstGeom prst="rect">
            <a:avLst/>
          </a:prstGeom>
          <a:noFill/>
          <a:ln/>
        </p:spPr>
        <p:txBody>
          <a:bodyPr wrap="square" lIns="0" tIns="0" rIns="0" bIns="0" rtlCol="0" anchor="ctr"/>
          <a:lstStyle/>
          <a:p>
            <a:pPr algn="ctr" indent="0" marL="0">
              <a:buNone/>
            </a:pPr>
            <a:r>
              <a:rPr lang="en-US" sz="800" b="1" dirty="0">
                <a:solidFill>
                  <a:srgbClr val="2A1B0C"/>
                </a:solidFill>
                <a:latin typeface="Arial" pitchFamily="34" charset="0"/>
                <a:ea typeface="Arial" pitchFamily="34" charset="-122"/>
                <a:cs typeface="Arial" pitchFamily="34" charset="-120"/>
              </a:rPr>
              <a:t>G1</a:t>
            </a:r>
            <a:endParaRPr lang="en-US" sz="800" dirty="0"/>
          </a:p>
        </p:txBody>
      </p:sp>
      <p:sp>
        <p:nvSpPr>
          <p:cNvPr id="19" name="Text 17"/>
          <p:cNvSpPr txBox="1"/>
          <p:nvPr/>
        </p:nvSpPr>
        <p:spPr>
          <a:xfrm>
            <a:off x="3527984" y="2350008"/>
            <a:ext cx="1037044" cy="365760"/>
          </a:xfrm>
          <a:prstGeom prst="rect">
            <a:avLst/>
          </a:prstGeom>
          <a:noFill/>
          <a:ln/>
        </p:spPr>
        <p:txBody>
          <a:bodyPr wrap="square" lIns="0" tIns="0" rIns="0" bIns="0" rtlCol="0" anchor="ctr"/>
          <a:lstStyle/>
          <a:p>
            <a:pPr indent="0" marL="0">
              <a:buNone/>
            </a:pPr>
            <a:r>
              <a:rPr lang="en-US" sz="1700" dirty="0">
                <a:solidFill>
                  <a:srgbClr val="FFF6E6"/>
                </a:solidFill>
                <a:latin typeface="Arial" pitchFamily="34" charset="0"/>
                <a:ea typeface="Arial" pitchFamily="34" charset="-122"/>
                <a:cs typeface="Arial" pitchFamily="34" charset="-120"/>
              </a:rPr>
              <a:t>Spec</a:t>
            </a:r>
            <a:endParaRPr lang="en-US" sz="1700" dirty="0"/>
          </a:p>
        </p:txBody>
      </p:sp>
      <p:sp>
        <p:nvSpPr>
          <p:cNvPr id="20" name="Text 18"/>
          <p:cNvSpPr txBox="1"/>
          <p:nvPr/>
        </p:nvSpPr>
        <p:spPr>
          <a:xfrm>
            <a:off x="3527984" y="2743200"/>
            <a:ext cx="1037044" cy="822960"/>
          </a:xfrm>
          <a:prstGeom prst="rect">
            <a:avLst/>
          </a:prstGeom>
          <a:noFill/>
          <a:ln/>
        </p:spPr>
        <p:txBody>
          <a:bodyPr wrap="square" lIns="0" tIns="0" rIns="0" bIns="0" rtlCol="0" anchor="t"/>
          <a:lstStyle/>
          <a:p>
            <a:pPr indent="0" marL="0">
              <a:buNone/>
            </a:pPr>
            <a:r>
              <a:rPr lang="en-US" sz="1000" dirty="0">
                <a:solidFill>
                  <a:srgbClr val="B5A186"/>
                </a:solidFill>
                <a:latin typeface="Arial" pitchFamily="34" charset="0"/>
                <a:ea typeface="Arial" pitchFamily="34" charset="-122"/>
                <a:cs typeface="Arial" pitchFamily="34" charset="-120"/>
              </a:rPr>
              <a:t>One spec per section: goal, scope, acceptance criteria</a:t>
            </a:r>
            <a:endParaRPr lang="en-US" sz="1000" dirty="0"/>
          </a:p>
        </p:txBody>
      </p:sp>
      <p:sp>
        <p:nvSpPr>
          <p:cNvPr id="21" name="Text 19"/>
          <p:cNvSpPr txBox="1"/>
          <p:nvPr/>
        </p:nvSpPr>
        <p:spPr>
          <a:xfrm>
            <a:off x="3527984" y="3538728"/>
            <a:ext cx="1037044" cy="329184"/>
          </a:xfrm>
          <a:prstGeom prst="rect">
            <a:avLst/>
          </a:prstGeom>
          <a:noFill/>
          <a:ln/>
        </p:spPr>
        <p:txBody>
          <a:bodyPr wrap="square" lIns="0" tIns="0" rIns="0" bIns="0" rtlCol="0" anchor="t"/>
          <a:lstStyle/>
          <a:p>
            <a:pPr indent="0" marL="0">
              <a:buNone/>
            </a:pPr>
            <a:r>
              <a:rPr lang="en-US" sz="850" dirty="0">
                <a:solidFill>
                  <a:srgbClr val="E8C290"/>
                </a:solidFill>
                <a:latin typeface="Arial" pitchFamily="34" charset="0"/>
                <a:ea typeface="Arial" pitchFamily="34" charset="-122"/>
                <a:cs typeface="Arial" pitchFamily="34" charset="-120"/>
              </a:rPr>
              <a:t>owner approves</a:t>
            </a:r>
            <a:endParaRPr lang="en-US" sz="850" dirty="0"/>
          </a:p>
        </p:txBody>
      </p:sp>
      <p:sp>
        <p:nvSpPr>
          <p:cNvPr id="22" name="Shape 20"/>
          <p:cNvSpPr/>
          <p:nvPr/>
        </p:nvSpPr>
        <p:spPr>
          <a:xfrm>
            <a:off x="3527984" y="3950208"/>
            <a:ext cx="1037044" cy="45720"/>
          </a:xfrm>
          <a:prstGeom prst="rect">
            <a:avLst/>
          </a:prstGeom>
          <a:solidFill>
            <a:srgbClr val="C9955A"/>
          </a:solidFill>
          <a:ln w="12700">
            <a:solidFill>
              <a:srgbClr val="C9955A"/>
            </a:solidFill>
            <a:prstDash val="solid"/>
          </a:ln>
        </p:spPr>
      </p:sp>
      <p:sp>
        <p:nvSpPr>
          <p:cNvPr id="23" name="Shape 21"/>
          <p:cNvSpPr/>
          <p:nvPr/>
        </p:nvSpPr>
        <p:spPr>
          <a:xfrm>
            <a:off x="4784484" y="1965960"/>
            <a:ext cx="1256500" cy="2148840"/>
          </a:xfrm>
          <a:prstGeom prst="roundRect">
            <a:avLst>
              <a:gd name="adj" fmla="val 8733"/>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24" name="Text 22"/>
          <p:cNvSpPr txBox="1"/>
          <p:nvPr/>
        </p:nvSpPr>
        <p:spPr>
          <a:xfrm>
            <a:off x="4894212" y="2093976"/>
            <a:ext cx="652996" cy="201168"/>
          </a:xfrm>
          <a:prstGeom prst="rect">
            <a:avLst/>
          </a:prstGeom>
          <a:noFill/>
          <a:ln/>
        </p:spPr>
        <p:txBody>
          <a:bodyPr wrap="square" lIns="0" tIns="0" rIns="0" bIns="0" rtlCol="0" anchor="t"/>
          <a:lstStyle/>
          <a:p>
            <a:pPr indent="0" marL="0">
              <a:buNone/>
            </a:pPr>
            <a:r>
              <a:rPr lang="en-US" sz="700" spc="100" kern="0" dirty="0">
                <a:solidFill>
                  <a:srgbClr val="B5A186"/>
                </a:solidFill>
                <a:latin typeface="Arial" pitchFamily="34" charset="0"/>
                <a:ea typeface="Arial" pitchFamily="34" charset="-122"/>
                <a:cs typeface="Arial" pitchFamily="34" charset="-120"/>
              </a:rPr>
              <a:t>4 · AGENT</a:t>
            </a:r>
            <a:endParaRPr lang="en-US" sz="700" dirty="0"/>
          </a:p>
        </p:txBody>
      </p:sp>
      <p:sp>
        <p:nvSpPr>
          <p:cNvPr id="25" name="Shape 23"/>
          <p:cNvSpPr/>
          <p:nvPr/>
        </p:nvSpPr>
        <p:spPr>
          <a:xfrm>
            <a:off x="5583784" y="2075688"/>
            <a:ext cx="347472" cy="201168"/>
          </a:xfrm>
          <a:prstGeom prst="roundRect">
            <a:avLst>
              <a:gd name="adj" fmla="val 22727"/>
            </a:avLst>
          </a:prstGeom>
          <a:solidFill>
            <a:srgbClr val="F3D9A4"/>
          </a:solidFill>
          <a:ln w="12700">
            <a:solidFill>
              <a:srgbClr val="F3D9A4"/>
            </a:solidFill>
            <a:prstDash val="solid"/>
          </a:ln>
        </p:spPr>
      </p:sp>
      <p:sp>
        <p:nvSpPr>
          <p:cNvPr id="26" name="Text 24"/>
          <p:cNvSpPr txBox="1"/>
          <p:nvPr/>
        </p:nvSpPr>
        <p:spPr>
          <a:xfrm>
            <a:off x="5583784" y="2075688"/>
            <a:ext cx="347472" cy="201168"/>
          </a:xfrm>
          <a:prstGeom prst="rect">
            <a:avLst/>
          </a:prstGeom>
          <a:noFill/>
          <a:ln/>
        </p:spPr>
        <p:txBody>
          <a:bodyPr wrap="square" lIns="0" tIns="0" rIns="0" bIns="0" rtlCol="0" anchor="ctr"/>
          <a:lstStyle/>
          <a:p>
            <a:pPr algn="ctr" indent="0" marL="0">
              <a:buNone/>
            </a:pPr>
            <a:r>
              <a:rPr lang="en-US" sz="800" b="1" dirty="0">
                <a:solidFill>
                  <a:srgbClr val="2A1B0C"/>
                </a:solidFill>
                <a:latin typeface="Arial" pitchFamily="34" charset="0"/>
                <a:ea typeface="Arial" pitchFamily="34" charset="-122"/>
                <a:cs typeface="Arial" pitchFamily="34" charset="-120"/>
              </a:rPr>
              <a:t>G2</a:t>
            </a:r>
            <a:endParaRPr lang="en-US" sz="800" dirty="0"/>
          </a:p>
        </p:txBody>
      </p:sp>
      <p:sp>
        <p:nvSpPr>
          <p:cNvPr id="27" name="Text 25"/>
          <p:cNvSpPr txBox="1"/>
          <p:nvPr/>
        </p:nvSpPr>
        <p:spPr>
          <a:xfrm>
            <a:off x="4894212" y="2350008"/>
            <a:ext cx="1037044" cy="365760"/>
          </a:xfrm>
          <a:prstGeom prst="rect">
            <a:avLst/>
          </a:prstGeom>
          <a:noFill/>
          <a:ln/>
        </p:spPr>
        <p:txBody>
          <a:bodyPr wrap="square" lIns="0" tIns="0" rIns="0" bIns="0" rtlCol="0" anchor="ctr"/>
          <a:lstStyle/>
          <a:p>
            <a:pPr indent="0" marL="0">
              <a:buNone/>
            </a:pPr>
            <a:r>
              <a:rPr lang="en-US" sz="1700" dirty="0">
                <a:solidFill>
                  <a:srgbClr val="FFF6E6"/>
                </a:solidFill>
                <a:latin typeface="Arial" pitchFamily="34" charset="0"/>
                <a:ea typeface="Arial" pitchFamily="34" charset="-122"/>
                <a:cs typeface="Arial" pitchFamily="34" charset="-120"/>
              </a:rPr>
              <a:t>Tickets</a:t>
            </a:r>
            <a:endParaRPr lang="en-US" sz="1700" dirty="0"/>
          </a:p>
        </p:txBody>
      </p:sp>
      <p:sp>
        <p:nvSpPr>
          <p:cNvPr id="28" name="Text 26"/>
          <p:cNvSpPr txBox="1"/>
          <p:nvPr/>
        </p:nvSpPr>
        <p:spPr>
          <a:xfrm>
            <a:off x="4894212" y="2743200"/>
            <a:ext cx="1037044" cy="822960"/>
          </a:xfrm>
          <a:prstGeom prst="rect">
            <a:avLst/>
          </a:prstGeom>
          <a:noFill/>
          <a:ln/>
        </p:spPr>
        <p:txBody>
          <a:bodyPr wrap="square" lIns="0" tIns="0" rIns="0" bIns="0" rtlCol="0" anchor="t"/>
          <a:lstStyle/>
          <a:p>
            <a:pPr indent="0" marL="0">
              <a:buNone/>
            </a:pPr>
            <a:r>
              <a:rPr lang="en-US" sz="1000" dirty="0">
                <a:solidFill>
                  <a:srgbClr val="B5A186"/>
                </a:solidFill>
                <a:latin typeface="Arial" pitchFamily="34" charset="0"/>
                <a:ea typeface="Arial" pitchFamily="34" charset="-122"/>
                <a:cs typeface="Arial" pitchFamily="34" charset="-120"/>
              </a:rPr>
              <a:t>Split with dependencies from the dependency map</a:t>
            </a:r>
            <a:endParaRPr lang="en-US" sz="1000" dirty="0"/>
          </a:p>
        </p:txBody>
      </p:sp>
      <p:sp>
        <p:nvSpPr>
          <p:cNvPr id="29" name="Text 27"/>
          <p:cNvSpPr txBox="1"/>
          <p:nvPr/>
        </p:nvSpPr>
        <p:spPr>
          <a:xfrm>
            <a:off x="4894212" y="3538728"/>
            <a:ext cx="1037044" cy="329184"/>
          </a:xfrm>
          <a:prstGeom prst="rect">
            <a:avLst/>
          </a:prstGeom>
          <a:noFill/>
          <a:ln/>
        </p:spPr>
        <p:txBody>
          <a:bodyPr wrap="square" lIns="0" tIns="0" rIns="0" bIns="0" rtlCol="0" anchor="t"/>
          <a:lstStyle/>
          <a:p>
            <a:pPr indent="0" marL="0">
              <a:buNone/>
            </a:pPr>
            <a:r>
              <a:rPr lang="en-US" sz="850" dirty="0">
                <a:solidFill>
                  <a:srgbClr val="E8C290"/>
                </a:solidFill>
                <a:latin typeface="Arial" pitchFamily="34" charset="0"/>
                <a:ea typeface="Arial" pitchFamily="34" charset="-122"/>
                <a:cs typeface="Arial" pitchFamily="34" charset="-120"/>
              </a:rPr>
              <a:t>role accepts</a:t>
            </a:r>
            <a:endParaRPr lang="en-US" sz="850" dirty="0"/>
          </a:p>
        </p:txBody>
      </p:sp>
      <p:sp>
        <p:nvSpPr>
          <p:cNvPr id="30" name="Shape 28"/>
          <p:cNvSpPr/>
          <p:nvPr/>
        </p:nvSpPr>
        <p:spPr>
          <a:xfrm>
            <a:off x="4894212" y="3950208"/>
            <a:ext cx="1037044" cy="45720"/>
          </a:xfrm>
          <a:prstGeom prst="rect">
            <a:avLst/>
          </a:prstGeom>
          <a:solidFill>
            <a:srgbClr val="C9955A"/>
          </a:solidFill>
          <a:ln w="12700">
            <a:solidFill>
              <a:srgbClr val="C9955A"/>
            </a:solidFill>
            <a:prstDash val="solid"/>
          </a:ln>
        </p:spPr>
      </p:sp>
      <p:sp>
        <p:nvSpPr>
          <p:cNvPr id="31" name="Shape 29"/>
          <p:cNvSpPr/>
          <p:nvPr/>
        </p:nvSpPr>
        <p:spPr>
          <a:xfrm>
            <a:off x="6150712" y="1965960"/>
            <a:ext cx="1256500" cy="2148840"/>
          </a:xfrm>
          <a:prstGeom prst="roundRect">
            <a:avLst>
              <a:gd name="adj" fmla="val 8733"/>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32" name="Text 30"/>
          <p:cNvSpPr txBox="1"/>
          <p:nvPr/>
        </p:nvSpPr>
        <p:spPr>
          <a:xfrm>
            <a:off x="6260440" y="2093976"/>
            <a:ext cx="1037044" cy="201168"/>
          </a:xfrm>
          <a:prstGeom prst="rect">
            <a:avLst/>
          </a:prstGeom>
          <a:noFill/>
          <a:ln/>
        </p:spPr>
        <p:txBody>
          <a:bodyPr wrap="square" lIns="0" tIns="0" rIns="0" bIns="0" rtlCol="0" anchor="t"/>
          <a:lstStyle/>
          <a:p>
            <a:pPr indent="0" marL="0">
              <a:buNone/>
            </a:pPr>
            <a:r>
              <a:rPr lang="en-US" sz="700" spc="100" kern="0" dirty="0">
                <a:solidFill>
                  <a:srgbClr val="B5A186"/>
                </a:solidFill>
                <a:latin typeface="Arial" pitchFamily="34" charset="0"/>
                <a:ea typeface="Arial" pitchFamily="34" charset="-122"/>
                <a:cs typeface="Arial" pitchFamily="34" charset="-120"/>
              </a:rPr>
              <a:t>5 · BUILDER</a:t>
            </a:r>
            <a:endParaRPr lang="en-US" sz="700" dirty="0"/>
          </a:p>
        </p:txBody>
      </p:sp>
      <p:sp>
        <p:nvSpPr>
          <p:cNvPr id="33" name="Text 31"/>
          <p:cNvSpPr txBox="1"/>
          <p:nvPr/>
        </p:nvSpPr>
        <p:spPr>
          <a:xfrm>
            <a:off x="6260440" y="2350008"/>
            <a:ext cx="1037044" cy="365760"/>
          </a:xfrm>
          <a:prstGeom prst="rect">
            <a:avLst/>
          </a:prstGeom>
          <a:noFill/>
          <a:ln/>
        </p:spPr>
        <p:txBody>
          <a:bodyPr wrap="square" lIns="0" tIns="0" rIns="0" bIns="0" rtlCol="0" anchor="ctr"/>
          <a:lstStyle/>
          <a:p>
            <a:pPr indent="0" marL="0">
              <a:buNone/>
            </a:pPr>
            <a:r>
              <a:rPr lang="en-US" sz="1700" dirty="0">
                <a:solidFill>
                  <a:srgbClr val="FFF6E6"/>
                </a:solidFill>
                <a:latin typeface="Arial" pitchFamily="34" charset="0"/>
                <a:ea typeface="Arial" pitchFamily="34" charset="-122"/>
                <a:cs typeface="Arial" pitchFamily="34" charset="-120"/>
              </a:rPr>
              <a:t>Build</a:t>
            </a:r>
            <a:endParaRPr lang="en-US" sz="1700" dirty="0"/>
          </a:p>
        </p:txBody>
      </p:sp>
      <p:sp>
        <p:nvSpPr>
          <p:cNvPr id="34" name="Text 32"/>
          <p:cNvSpPr txBox="1"/>
          <p:nvPr/>
        </p:nvSpPr>
        <p:spPr>
          <a:xfrm>
            <a:off x="6260440" y="2743200"/>
            <a:ext cx="1037044" cy="822960"/>
          </a:xfrm>
          <a:prstGeom prst="rect">
            <a:avLst/>
          </a:prstGeom>
          <a:noFill/>
          <a:ln/>
        </p:spPr>
        <p:txBody>
          <a:bodyPr wrap="square" lIns="0" tIns="0" rIns="0" bIns="0" rtlCol="0" anchor="t"/>
          <a:lstStyle/>
          <a:p>
            <a:pPr indent="0" marL="0">
              <a:buNone/>
            </a:pPr>
            <a:r>
              <a:rPr lang="en-US" sz="1000" dirty="0">
                <a:solidFill>
                  <a:srgbClr val="B5A186"/>
                </a:solidFill>
                <a:latin typeface="Arial" pitchFamily="34" charset="0"/>
                <a:ea typeface="Arial" pitchFamily="34" charset="-122"/>
                <a:cs typeface="Arial" pitchFamily="34" charset="-120"/>
              </a:rPr>
              <a:t>Working draft from the client's own figures; builder edits</a:t>
            </a:r>
            <a:endParaRPr lang="en-US" sz="1000" dirty="0"/>
          </a:p>
        </p:txBody>
      </p:sp>
      <p:sp>
        <p:nvSpPr>
          <p:cNvPr id="35" name="Text 33"/>
          <p:cNvSpPr txBox="1"/>
          <p:nvPr/>
        </p:nvSpPr>
        <p:spPr>
          <a:xfrm>
            <a:off x="6260440" y="3538728"/>
            <a:ext cx="1037044" cy="329184"/>
          </a:xfrm>
          <a:prstGeom prst="rect">
            <a:avLst/>
          </a:prstGeom>
          <a:noFill/>
          <a:ln/>
        </p:spPr>
        <p:txBody>
          <a:bodyPr wrap="square" lIns="0" tIns="0" rIns="0" bIns="0" rtlCol="0" anchor="t"/>
          <a:lstStyle/>
          <a:p>
            <a:pPr indent="0" marL="0">
              <a:buNone/>
            </a:pPr>
            <a:r>
              <a:rPr lang="en-US" sz="850" dirty="0">
                <a:solidFill>
                  <a:srgbClr val="E8C290"/>
                </a:solidFill>
                <a:latin typeface="Arial" pitchFamily="34" charset="0"/>
                <a:ea typeface="Arial" pitchFamily="34" charset="-122"/>
                <a:cs typeface="Arial" pitchFamily="34" charset="-120"/>
              </a:rPr>
              <a:t>evidence required to leave</a:t>
            </a:r>
            <a:endParaRPr lang="en-US" sz="850" dirty="0"/>
          </a:p>
        </p:txBody>
      </p:sp>
      <p:sp>
        <p:nvSpPr>
          <p:cNvPr id="36" name="Shape 34"/>
          <p:cNvSpPr/>
          <p:nvPr/>
        </p:nvSpPr>
        <p:spPr>
          <a:xfrm>
            <a:off x="6260440" y="3950208"/>
            <a:ext cx="1037044" cy="45720"/>
          </a:xfrm>
          <a:prstGeom prst="rect">
            <a:avLst/>
          </a:prstGeom>
          <a:solidFill>
            <a:srgbClr val="C9955A"/>
          </a:solidFill>
          <a:ln w="12700">
            <a:solidFill>
              <a:srgbClr val="C9955A"/>
            </a:solidFill>
            <a:prstDash val="solid"/>
          </a:ln>
        </p:spPr>
      </p:sp>
      <p:sp>
        <p:nvSpPr>
          <p:cNvPr id="37" name="Shape 35"/>
          <p:cNvSpPr/>
          <p:nvPr/>
        </p:nvSpPr>
        <p:spPr>
          <a:xfrm>
            <a:off x="7516940" y="1965960"/>
            <a:ext cx="1256500" cy="2148840"/>
          </a:xfrm>
          <a:prstGeom prst="roundRect">
            <a:avLst>
              <a:gd name="adj" fmla="val 8733"/>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38" name="Text 36"/>
          <p:cNvSpPr txBox="1"/>
          <p:nvPr/>
        </p:nvSpPr>
        <p:spPr>
          <a:xfrm>
            <a:off x="7626667" y="2093976"/>
            <a:ext cx="652996" cy="201168"/>
          </a:xfrm>
          <a:prstGeom prst="rect">
            <a:avLst/>
          </a:prstGeom>
          <a:noFill/>
          <a:ln/>
        </p:spPr>
        <p:txBody>
          <a:bodyPr wrap="square" lIns="0" tIns="0" rIns="0" bIns="0" rtlCol="0" anchor="t"/>
          <a:lstStyle/>
          <a:p>
            <a:pPr indent="0" marL="0">
              <a:buNone/>
            </a:pPr>
            <a:r>
              <a:rPr lang="en-US" sz="700" spc="100" kern="0" dirty="0">
                <a:solidFill>
                  <a:srgbClr val="B5A186"/>
                </a:solidFill>
                <a:latin typeface="Arial" pitchFamily="34" charset="0"/>
                <a:ea typeface="Arial" pitchFamily="34" charset="-122"/>
                <a:cs typeface="Arial" pitchFamily="34" charset="-120"/>
              </a:rPr>
              <a:t>6 · REVIEW</a:t>
            </a:r>
            <a:endParaRPr lang="en-US" sz="700" dirty="0"/>
          </a:p>
        </p:txBody>
      </p:sp>
      <p:sp>
        <p:nvSpPr>
          <p:cNvPr id="39" name="Shape 37"/>
          <p:cNvSpPr/>
          <p:nvPr/>
        </p:nvSpPr>
        <p:spPr>
          <a:xfrm>
            <a:off x="8316239" y="2075688"/>
            <a:ext cx="347472" cy="201168"/>
          </a:xfrm>
          <a:prstGeom prst="roundRect">
            <a:avLst>
              <a:gd name="adj" fmla="val 22727"/>
            </a:avLst>
          </a:prstGeom>
          <a:solidFill>
            <a:srgbClr val="F3D9A4"/>
          </a:solidFill>
          <a:ln w="12700">
            <a:solidFill>
              <a:srgbClr val="F3D9A4"/>
            </a:solidFill>
            <a:prstDash val="solid"/>
          </a:ln>
        </p:spPr>
      </p:sp>
      <p:sp>
        <p:nvSpPr>
          <p:cNvPr id="40" name="Text 38"/>
          <p:cNvSpPr txBox="1"/>
          <p:nvPr/>
        </p:nvSpPr>
        <p:spPr>
          <a:xfrm>
            <a:off x="8316239" y="2075688"/>
            <a:ext cx="347472" cy="201168"/>
          </a:xfrm>
          <a:prstGeom prst="rect">
            <a:avLst/>
          </a:prstGeom>
          <a:noFill/>
          <a:ln/>
        </p:spPr>
        <p:txBody>
          <a:bodyPr wrap="square" lIns="0" tIns="0" rIns="0" bIns="0" rtlCol="0" anchor="ctr"/>
          <a:lstStyle/>
          <a:p>
            <a:pPr algn="ctr" indent="0" marL="0">
              <a:buNone/>
            </a:pPr>
            <a:r>
              <a:rPr lang="en-US" sz="800" b="1" dirty="0">
                <a:solidFill>
                  <a:srgbClr val="2A1B0C"/>
                </a:solidFill>
                <a:latin typeface="Arial" pitchFamily="34" charset="0"/>
                <a:ea typeface="Arial" pitchFamily="34" charset="-122"/>
                <a:cs typeface="Arial" pitchFamily="34" charset="-120"/>
              </a:rPr>
              <a:t>G3</a:t>
            </a:r>
            <a:endParaRPr lang="en-US" sz="800" dirty="0"/>
          </a:p>
        </p:txBody>
      </p:sp>
      <p:sp>
        <p:nvSpPr>
          <p:cNvPr id="41" name="Text 39"/>
          <p:cNvSpPr txBox="1"/>
          <p:nvPr/>
        </p:nvSpPr>
        <p:spPr>
          <a:xfrm>
            <a:off x="7626667" y="2350008"/>
            <a:ext cx="1037044" cy="365760"/>
          </a:xfrm>
          <a:prstGeom prst="rect">
            <a:avLst/>
          </a:prstGeom>
          <a:noFill/>
          <a:ln/>
        </p:spPr>
        <p:txBody>
          <a:bodyPr wrap="square" lIns="0" tIns="0" rIns="0" bIns="0" rtlCol="0" anchor="ctr"/>
          <a:lstStyle/>
          <a:p>
            <a:pPr indent="0" marL="0">
              <a:buNone/>
            </a:pPr>
            <a:r>
              <a:rPr lang="en-US" sz="1700" dirty="0">
                <a:solidFill>
                  <a:srgbClr val="FFF6E6"/>
                </a:solidFill>
                <a:latin typeface="Arial" pitchFamily="34" charset="0"/>
                <a:ea typeface="Arial" pitchFamily="34" charset="-122"/>
                <a:cs typeface="Arial" pitchFamily="34" charset="-120"/>
              </a:rPr>
              <a:t>Review</a:t>
            </a:r>
            <a:endParaRPr lang="en-US" sz="1700" dirty="0"/>
          </a:p>
        </p:txBody>
      </p:sp>
      <p:sp>
        <p:nvSpPr>
          <p:cNvPr id="42" name="Text 40"/>
          <p:cNvSpPr txBox="1"/>
          <p:nvPr/>
        </p:nvSpPr>
        <p:spPr>
          <a:xfrm>
            <a:off x="7626667" y="2743200"/>
            <a:ext cx="1037044" cy="822960"/>
          </a:xfrm>
          <a:prstGeom prst="rect">
            <a:avLst/>
          </a:prstGeom>
          <a:noFill/>
          <a:ln/>
        </p:spPr>
        <p:txBody>
          <a:bodyPr wrap="square" lIns="0" tIns="0" rIns="0" bIns="0" rtlCol="0" anchor="t"/>
          <a:lstStyle/>
          <a:p>
            <a:pPr indent="0" marL="0">
              <a:buNone/>
            </a:pPr>
            <a:r>
              <a:rPr lang="en-US" sz="1000" dirty="0">
                <a:solidFill>
                  <a:srgbClr val="B5A186"/>
                </a:solidFill>
                <a:latin typeface="Arial" pitchFamily="34" charset="0"/>
                <a:ea typeface="Arial" pitchFamily="34" charset="-122"/>
                <a:cs typeface="Arial" pitchFamily="34" charset="-120"/>
              </a:rPr>
              <a:t>Pre-checks every acceptance criterion</a:t>
            </a:r>
            <a:endParaRPr lang="en-US" sz="1000" dirty="0"/>
          </a:p>
        </p:txBody>
      </p:sp>
      <p:sp>
        <p:nvSpPr>
          <p:cNvPr id="43" name="Text 41"/>
          <p:cNvSpPr txBox="1"/>
          <p:nvPr/>
        </p:nvSpPr>
        <p:spPr>
          <a:xfrm>
            <a:off x="7626667" y="3538728"/>
            <a:ext cx="1037044" cy="329184"/>
          </a:xfrm>
          <a:prstGeom prst="rect">
            <a:avLst/>
          </a:prstGeom>
          <a:noFill/>
          <a:ln/>
        </p:spPr>
        <p:txBody>
          <a:bodyPr wrap="square" lIns="0" tIns="0" rIns="0" bIns="0" rtlCol="0" anchor="t"/>
          <a:lstStyle/>
          <a:p>
            <a:pPr indent="0" marL="0">
              <a:buNone/>
            </a:pPr>
            <a:r>
              <a:rPr lang="en-US" sz="850" dirty="0">
                <a:solidFill>
                  <a:srgbClr val="E8C290"/>
                </a:solidFill>
                <a:latin typeface="Arial" pitchFamily="34" charset="0"/>
                <a:ea typeface="Arial" pitchFamily="34" charset="-122"/>
                <a:cs typeface="Arial" pitchFamily="34" charset="-120"/>
              </a:rPr>
              <a:t>a different person approves</a:t>
            </a:r>
            <a:endParaRPr lang="en-US" sz="850" dirty="0"/>
          </a:p>
        </p:txBody>
      </p:sp>
      <p:sp>
        <p:nvSpPr>
          <p:cNvPr id="44" name="Shape 42"/>
          <p:cNvSpPr/>
          <p:nvPr/>
        </p:nvSpPr>
        <p:spPr>
          <a:xfrm>
            <a:off x="7626667" y="3950208"/>
            <a:ext cx="1037044" cy="45720"/>
          </a:xfrm>
          <a:prstGeom prst="rect">
            <a:avLst/>
          </a:prstGeom>
          <a:solidFill>
            <a:srgbClr val="C9955A"/>
          </a:solidFill>
          <a:ln w="12700">
            <a:solidFill>
              <a:srgbClr val="C9955A"/>
            </a:solidFill>
            <a:prstDash val="solid"/>
          </a:ln>
        </p:spPr>
      </p:sp>
      <p:sp>
        <p:nvSpPr>
          <p:cNvPr id="45" name="Shape 43"/>
          <p:cNvSpPr/>
          <p:nvPr/>
        </p:nvSpPr>
        <p:spPr>
          <a:xfrm>
            <a:off x="8883167" y="1965960"/>
            <a:ext cx="1256500" cy="2148840"/>
          </a:xfrm>
          <a:prstGeom prst="roundRect">
            <a:avLst>
              <a:gd name="adj" fmla="val 8733"/>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46" name="Text 44"/>
          <p:cNvSpPr txBox="1"/>
          <p:nvPr/>
        </p:nvSpPr>
        <p:spPr>
          <a:xfrm>
            <a:off x="8992895" y="2093976"/>
            <a:ext cx="652996" cy="201168"/>
          </a:xfrm>
          <a:prstGeom prst="rect">
            <a:avLst/>
          </a:prstGeom>
          <a:noFill/>
          <a:ln/>
        </p:spPr>
        <p:txBody>
          <a:bodyPr wrap="square" lIns="0" tIns="0" rIns="0" bIns="0" rtlCol="0" anchor="t"/>
          <a:lstStyle/>
          <a:p>
            <a:pPr indent="0" marL="0">
              <a:buNone/>
            </a:pPr>
            <a:r>
              <a:rPr lang="en-US" sz="700" spc="100" kern="0" dirty="0">
                <a:solidFill>
                  <a:srgbClr val="B5A186"/>
                </a:solidFill>
                <a:latin typeface="Arial" pitchFamily="34" charset="0"/>
                <a:ea typeface="Arial" pitchFamily="34" charset="-122"/>
                <a:cs typeface="Arial" pitchFamily="34" charset="-120"/>
              </a:rPr>
              <a:t>7 · OWNER</a:t>
            </a:r>
            <a:endParaRPr lang="en-US" sz="700" dirty="0"/>
          </a:p>
        </p:txBody>
      </p:sp>
      <p:sp>
        <p:nvSpPr>
          <p:cNvPr id="47" name="Shape 45"/>
          <p:cNvSpPr/>
          <p:nvPr/>
        </p:nvSpPr>
        <p:spPr>
          <a:xfrm>
            <a:off x="9682467" y="2075688"/>
            <a:ext cx="347472" cy="201168"/>
          </a:xfrm>
          <a:prstGeom prst="roundRect">
            <a:avLst>
              <a:gd name="adj" fmla="val 22727"/>
            </a:avLst>
          </a:prstGeom>
          <a:solidFill>
            <a:srgbClr val="F3D9A4"/>
          </a:solidFill>
          <a:ln w="12700">
            <a:solidFill>
              <a:srgbClr val="F3D9A4"/>
            </a:solidFill>
            <a:prstDash val="solid"/>
          </a:ln>
        </p:spPr>
      </p:sp>
      <p:sp>
        <p:nvSpPr>
          <p:cNvPr id="48" name="Text 46"/>
          <p:cNvSpPr txBox="1"/>
          <p:nvPr/>
        </p:nvSpPr>
        <p:spPr>
          <a:xfrm>
            <a:off x="9682467" y="2075688"/>
            <a:ext cx="347472" cy="201168"/>
          </a:xfrm>
          <a:prstGeom prst="rect">
            <a:avLst/>
          </a:prstGeom>
          <a:noFill/>
          <a:ln/>
        </p:spPr>
        <p:txBody>
          <a:bodyPr wrap="square" lIns="0" tIns="0" rIns="0" bIns="0" rtlCol="0" anchor="ctr"/>
          <a:lstStyle/>
          <a:p>
            <a:pPr algn="ctr" indent="0" marL="0">
              <a:buNone/>
            </a:pPr>
            <a:r>
              <a:rPr lang="en-US" sz="800" b="1" dirty="0">
                <a:solidFill>
                  <a:srgbClr val="2A1B0C"/>
                </a:solidFill>
                <a:latin typeface="Arial" pitchFamily="34" charset="0"/>
                <a:ea typeface="Arial" pitchFamily="34" charset="-122"/>
                <a:cs typeface="Arial" pitchFamily="34" charset="-120"/>
              </a:rPr>
              <a:t>G4</a:t>
            </a:r>
            <a:endParaRPr lang="en-US" sz="800" dirty="0"/>
          </a:p>
        </p:txBody>
      </p:sp>
      <p:sp>
        <p:nvSpPr>
          <p:cNvPr id="49" name="Text 47"/>
          <p:cNvSpPr txBox="1"/>
          <p:nvPr/>
        </p:nvSpPr>
        <p:spPr>
          <a:xfrm>
            <a:off x="8992895" y="2350008"/>
            <a:ext cx="1037044" cy="365760"/>
          </a:xfrm>
          <a:prstGeom prst="rect">
            <a:avLst/>
          </a:prstGeom>
          <a:noFill/>
          <a:ln/>
        </p:spPr>
        <p:txBody>
          <a:bodyPr wrap="square" lIns="0" tIns="0" rIns="0" bIns="0" rtlCol="0" anchor="ctr"/>
          <a:lstStyle/>
          <a:p>
            <a:pPr indent="0" marL="0">
              <a:buNone/>
            </a:pPr>
            <a:r>
              <a:rPr lang="en-US" sz="1700" dirty="0">
                <a:solidFill>
                  <a:srgbClr val="FFF6E6"/>
                </a:solidFill>
                <a:latin typeface="Arial" pitchFamily="34" charset="0"/>
                <a:ea typeface="Arial" pitchFamily="34" charset="-122"/>
                <a:cs typeface="Arial" pitchFamily="34" charset="-120"/>
              </a:rPr>
              <a:t>Release</a:t>
            </a:r>
            <a:endParaRPr lang="en-US" sz="1700" dirty="0"/>
          </a:p>
        </p:txBody>
      </p:sp>
      <p:sp>
        <p:nvSpPr>
          <p:cNvPr id="50" name="Text 48"/>
          <p:cNvSpPr txBox="1"/>
          <p:nvPr/>
        </p:nvSpPr>
        <p:spPr>
          <a:xfrm>
            <a:off x="8992895" y="2743200"/>
            <a:ext cx="1037044" cy="822960"/>
          </a:xfrm>
          <a:prstGeom prst="rect">
            <a:avLst/>
          </a:prstGeom>
          <a:noFill/>
          <a:ln/>
        </p:spPr>
        <p:txBody>
          <a:bodyPr wrap="square" lIns="0" tIns="0" rIns="0" bIns="0" rtlCol="0" anchor="t"/>
          <a:lstStyle/>
          <a:p>
            <a:pPr indent="0" marL="0">
              <a:buNone/>
            </a:pPr>
            <a:r>
              <a:rPr lang="en-US" sz="1000" dirty="0">
                <a:solidFill>
                  <a:srgbClr val="B5A186"/>
                </a:solidFill>
                <a:latin typeface="Arial" pitchFamily="34" charset="0"/>
                <a:ea typeface="Arial" pitchFamily="34" charset="-122"/>
                <a:cs typeface="Arial" pitchFamily="34" charset="-120"/>
              </a:rPr>
              <a:t>Release notes and a client-facing summary</a:t>
            </a:r>
            <a:endParaRPr lang="en-US" sz="1000" dirty="0"/>
          </a:p>
        </p:txBody>
      </p:sp>
      <p:sp>
        <p:nvSpPr>
          <p:cNvPr id="51" name="Text 49"/>
          <p:cNvSpPr txBox="1"/>
          <p:nvPr/>
        </p:nvSpPr>
        <p:spPr>
          <a:xfrm>
            <a:off x="8992895" y="3538728"/>
            <a:ext cx="1037044" cy="329184"/>
          </a:xfrm>
          <a:prstGeom prst="rect">
            <a:avLst/>
          </a:prstGeom>
          <a:noFill/>
          <a:ln/>
        </p:spPr>
        <p:txBody>
          <a:bodyPr wrap="square" lIns="0" tIns="0" rIns="0" bIns="0" rtlCol="0" anchor="t"/>
          <a:lstStyle/>
          <a:p>
            <a:pPr indent="0" marL="0">
              <a:buNone/>
            </a:pPr>
            <a:r>
              <a:rPr lang="en-US" sz="850" dirty="0">
                <a:solidFill>
                  <a:srgbClr val="E8C290"/>
                </a:solidFill>
                <a:latin typeface="Arial" pitchFamily="34" charset="0"/>
                <a:ea typeface="Arial" pitchFamily="34" charset="-122"/>
                <a:cs typeface="Arial" pitchFamily="34" charset="-120"/>
              </a:rPr>
              <a:t>owner + client sign-off</a:t>
            </a:r>
            <a:endParaRPr lang="en-US" sz="850" dirty="0"/>
          </a:p>
        </p:txBody>
      </p:sp>
      <p:sp>
        <p:nvSpPr>
          <p:cNvPr id="52" name="Shape 50"/>
          <p:cNvSpPr/>
          <p:nvPr/>
        </p:nvSpPr>
        <p:spPr>
          <a:xfrm>
            <a:off x="8992895" y="3950208"/>
            <a:ext cx="1037044" cy="45720"/>
          </a:xfrm>
          <a:prstGeom prst="rect">
            <a:avLst/>
          </a:prstGeom>
          <a:solidFill>
            <a:srgbClr val="C9955A"/>
          </a:solidFill>
          <a:ln w="12700">
            <a:solidFill>
              <a:srgbClr val="C9955A"/>
            </a:solidFill>
            <a:prstDash val="solid"/>
          </a:ln>
        </p:spPr>
      </p:sp>
      <p:sp>
        <p:nvSpPr>
          <p:cNvPr id="53" name="Shape 51"/>
          <p:cNvSpPr/>
          <p:nvPr/>
        </p:nvSpPr>
        <p:spPr>
          <a:xfrm>
            <a:off x="10249395" y="1965960"/>
            <a:ext cx="1256500" cy="2148840"/>
          </a:xfrm>
          <a:prstGeom prst="roundRect">
            <a:avLst>
              <a:gd name="adj" fmla="val 8733"/>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54" name="Text 52"/>
          <p:cNvSpPr txBox="1"/>
          <p:nvPr/>
        </p:nvSpPr>
        <p:spPr>
          <a:xfrm>
            <a:off x="10359123" y="2093976"/>
            <a:ext cx="652996" cy="201168"/>
          </a:xfrm>
          <a:prstGeom prst="rect">
            <a:avLst/>
          </a:prstGeom>
          <a:noFill/>
          <a:ln/>
        </p:spPr>
        <p:txBody>
          <a:bodyPr wrap="square" lIns="0" tIns="0" rIns="0" bIns="0" rtlCol="0" anchor="t"/>
          <a:lstStyle/>
          <a:p>
            <a:pPr indent="0" marL="0">
              <a:buNone/>
            </a:pPr>
            <a:r>
              <a:rPr lang="en-US" sz="700" spc="100" kern="0" dirty="0">
                <a:solidFill>
                  <a:srgbClr val="B5A186"/>
                </a:solidFill>
                <a:latin typeface="Arial" pitchFamily="34" charset="0"/>
                <a:ea typeface="Arial" pitchFamily="34" charset="-122"/>
                <a:cs typeface="Arial" pitchFamily="34" charset="-120"/>
              </a:rPr>
              <a:t>8 · LOOP</a:t>
            </a:r>
            <a:endParaRPr lang="en-US" sz="700" dirty="0"/>
          </a:p>
        </p:txBody>
      </p:sp>
      <p:sp>
        <p:nvSpPr>
          <p:cNvPr id="55" name="Shape 53"/>
          <p:cNvSpPr/>
          <p:nvPr/>
        </p:nvSpPr>
        <p:spPr>
          <a:xfrm>
            <a:off x="11048695" y="2075688"/>
            <a:ext cx="347472" cy="201168"/>
          </a:xfrm>
          <a:prstGeom prst="roundRect">
            <a:avLst>
              <a:gd name="adj" fmla="val 22727"/>
            </a:avLst>
          </a:prstGeom>
          <a:solidFill>
            <a:srgbClr val="F3D9A4"/>
          </a:solidFill>
          <a:ln w="12700">
            <a:solidFill>
              <a:srgbClr val="F3D9A4"/>
            </a:solidFill>
            <a:prstDash val="solid"/>
          </a:ln>
        </p:spPr>
      </p:sp>
      <p:sp>
        <p:nvSpPr>
          <p:cNvPr id="56" name="Text 54"/>
          <p:cNvSpPr txBox="1"/>
          <p:nvPr/>
        </p:nvSpPr>
        <p:spPr>
          <a:xfrm>
            <a:off x="11048695" y="2075688"/>
            <a:ext cx="347472" cy="201168"/>
          </a:xfrm>
          <a:prstGeom prst="rect">
            <a:avLst/>
          </a:prstGeom>
          <a:noFill/>
          <a:ln/>
        </p:spPr>
        <p:txBody>
          <a:bodyPr wrap="square" lIns="0" tIns="0" rIns="0" bIns="0" rtlCol="0" anchor="ctr"/>
          <a:lstStyle/>
          <a:p>
            <a:pPr algn="ctr" indent="0" marL="0">
              <a:buNone/>
            </a:pPr>
            <a:r>
              <a:rPr lang="en-US" sz="800" b="1" dirty="0">
                <a:solidFill>
                  <a:srgbClr val="2A1B0C"/>
                </a:solidFill>
                <a:latin typeface="Arial" pitchFamily="34" charset="0"/>
                <a:ea typeface="Arial" pitchFamily="34" charset="-122"/>
                <a:cs typeface="Arial" pitchFamily="34" charset="-120"/>
              </a:rPr>
              <a:t>G5</a:t>
            </a:r>
            <a:endParaRPr lang="en-US" sz="800" dirty="0"/>
          </a:p>
        </p:txBody>
      </p:sp>
      <p:sp>
        <p:nvSpPr>
          <p:cNvPr id="57" name="Text 55"/>
          <p:cNvSpPr txBox="1"/>
          <p:nvPr/>
        </p:nvSpPr>
        <p:spPr>
          <a:xfrm>
            <a:off x="10359123" y="2350008"/>
            <a:ext cx="1037044" cy="365760"/>
          </a:xfrm>
          <a:prstGeom prst="rect">
            <a:avLst/>
          </a:prstGeom>
          <a:noFill/>
          <a:ln/>
        </p:spPr>
        <p:txBody>
          <a:bodyPr wrap="square" lIns="0" tIns="0" rIns="0" bIns="0" rtlCol="0" anchor="ctr"/>
          <a:lstStyle/>
          <a:p>
            <a:pPr indent="0" marL="0">
              <a:buNone/>
            </a:pPr>
            <a:r>
              <a:rPr lang="en-US" sz="1700" dirty="0">
                <a:solidFill>
                  <a:srgbClr val="FFF6E6"/>
                </a:solidFill>
                <a:latin typeface="Arial" pitchFamily="34" charset="0"/>
                <a:ea typeface="Arial" pitchFamily="34" charset="-122"/>
                <a:cs typeface="Arial" pitchFamily="34" charset="-120"/>
              </a:rPr>
              <a:t>Status</a:t>
            </a:r>
            <a:endParaRPr lang="en-US" sz="1700" dirty="0"/>
          </a:p>
        </p:txBody>
      </p:sp>
      <p:sp>
        <p:nvSpPr>
          <p:cNvPr id="58" name="Text 56"/>
          <p:cNvSpPr txBox="1"/>
          <p:nvPr/>
        </p:nvSpPr>
        <p:spPr>
          <a:xfrm>
            <a:off x="10359123" y="2743200"/>
            <a:ext cx="1037044" cy="822960"/>
          </a:xfrm>
          <a:prstGeom prst="rect">
            <a:avLst/>
          </a:prstGeom>
          <a:noFill/>
          <a:ln/>
        </p:spPr>
        <p:txBody>
          <a:bodyPr wrap="square" lIns="0" tIns="0" rIns="0" bIns="0" rtlCol="0" anchor="t"/>
          <a:lstStyle/>
          <a:p>
            <a:pPr indent="0" marL="0">
              <a:buNone/>
            </a:pPr>
            <a:r>
              <a:rPr lang="en-US" sz="1000" dirty="0">
                <a:solidFill>
                  <a:srgbClr val="B5A186"/>
                </a:solidFill>
                <a:latin typeface="Arial" pitchFamily="34" charset="0"/>
                <a:ea typeface="Arial" pitchFamily="34" charset="-122"/>
                <a:cs typeface="Arial" pitchFamily="34" charset="-120"/>
              </a:rPr>
              <a:t>Plain-language client update with follow-up questions</a:t>
            </a:r>
            <a:endParaRPr lang="en-US" sz="1000" dirty="0"/>
          </a:p>
        </p:txBody>
      </p:sp>
      <p:sp>
        <p:nvSpPr>
          <p:cNvPr id="59" name="Text 57"/>
          <p:cNvSpPr txBox="1"/>
          <p:nvPr/>
        </p:nvSpPr>
        <p:spPr>
          <a:xfrm>
            <a:off x="10359123" y="3538728"/>
            <a:ext cx="1037044" cy="329184"/>
          </a:xfrm>
          <a:prstGeom prst="rect">
            <a:avLst/>
          </a:prstGeom>
          <a:noFill/>
          <a:ln/>
        </p:spPr>
        <p:txBody>
          <a:bodyPr wrap="square" lIns="0" tIns="0" rIns="0" bIns="0" rtlCol="0" anchor="t"/>
          <a:lstStyle/>
          <a:p>
            <a:pPr indent="0" marL="0">
              <a:buNone/>
            </a:pPr>
            <a:r>
              <a:rPr lang="en-US" sz="850" dirty="0">
                <a:solidFill>
                  <a:srgbClr val="E8C290"/>
                </a:solidFill>
                <a:latin typeface="Arial" pitchFamily="34" charset="0"/>
                <a:ea typeface="Arial" pitchFamily="34" charset="-122"/>
                <a:cs typeface="Arial" pitchFamily="34" charset="-120"/>
              </a:rPr>
              <a:t>owner sends</a:t>
            </a:r>
            <a:endParaRPr lang="en-US" sz="850" dirty="0"/>
          </a:p>
        </p:txBody>
      </p:sp>
      <p:sp>
        <p:nvSpPr>
          <p:cNvPr id="60" name="Shape 58"/>
          <p:cNvSpPr/>
          <p:nvPr/>
        </p:nvSpPr>
        <p:spPr>
          <a:xfrm>
            <a:off x="10359123" y="3950208"/>
            <a:ext cx="1037044" cy="45720"/>
          </a:xfrm>
          <a:prstGeom prst="rect">
            <a:avLst/>
          </a:prstGeom>
          <a:solidFill>
            <a:srgbClr val="C9955A"/>
          </a:solidFill>
          <a:ln w="12700">
            <a:solidFill>
              <a:srgbClr val="C9955A"/>
            </a:solidFill>
            <a:prstDash val="solid"/>
          </a:ln>
        </p:spPr>
      </p:sp>
      <p:sp>
        <p:nvSpPr>
          <p:cNvPr id="61" name="Text 59"/>
          <p:cNvSpPr txBox="1"/>
          <p:nvPr/>
        </p:nvSpPr>
        <p:spPr>
          <a:xfrm>
            <a:off x="685800" y="4434840"/>
            <a:ext cx="5135728" cy="228600"/>
          </a:xfrm>
          <a:prstGeom prst="rect">
            <a:avLst/>
          </a:prstGeom>
          <a:noFill/>
          <a:ln/>
        </p:spPr>
        <p:txBody>
          <a:bodyPr wrap="square" lIns="0" tIns="0" rIns="0" bIns="0" rtlCol="0" anchor="t"/>
          <a:lstStyle/>
          <a:p>
            <a:pPr indent="0" marL="0">
              <a:buNone/>
            </a:pPr>
            <a:r>
              <a:rPr lang="en-US" sz="850" b="1" spc="400" kern="0" dirty="0">
                <a:solidFill>
                  <a:srgbClr val="8C7961"/>
                </a:solidFill>
                <a:latin typeface="Arial" pitchFamily="34" charset="0"/>
                <a:ea typeface="Arial" pitchFamily="34" charset="-122"/>
                <a:cs typeface="Arial" pitchFamily="34" charset="-120"/>
              </a:rPr>
              <a:t>THE AGENT DOES</a:t>
            </a:r>
            <a:endParaRPr lang="en-US" sz="850" dirty="0"/>
          </a:p>
        </p:txBody>
      </p:sp>
      <p:sp>
        <p:nvSpPr>
          <p:cNvPr id="62" name="Text 60"/>
          <p:cNvSpPr txBox="1"/>
          <p:nvPr/>
        </p:nvSpPr>
        <p:spPr>
          <a:xfrm>
            <a:off x="685800" y="4709160"/>
            <a:ext cx="5135728" cy="1463040"/>
          </a:xfrm>
          <a:prstGeom prst="rect">
            <a:avLst/>
          </a:prstGeom>
          <a:noFill/>
          <a:ln/>
        </p:spPr>
        <p:txBody>
          <a:bodyPr wrap="square" lIns="0" tIns="0" rIns="0" bIns="0" rtlCol="0" anchor="t"/>
          <a:lstStyle/>
          <a:p>
            <a:pPr indent="0" marL="0">
              <a:buNone/>
            </a:pPr>
            <a:r>
              <a:rPr lang="en-US" sz="1400" dirty="0">
                <a:solidFill>
                  <a:srgbClr val="E4D8C6"/>
                </a:solidFill>
                <a:latin typeface="Arial" pitchFamily="34" charset="0"/>
                <a:ea typeface="Arial" pitchFamily="34" charset="-122"/>
                <a:cs typeface="Arial" pitchFamily="34" charset="-120"/>
              </a:rPr>
              <a:t>Asks, groups, drafts, splits, pre-checks, summarises. Rules first, so it runs with the model down; the local model adds polish. </a:t>
            </a:r>
            <a:pPr indent="0" marL="0">
              <a:buNone/>
            </a:pPr>
            <a:r>
              <a:rPr lang="en-US" sz="1400" b="1" dirty="0">
                <a:solidFill>
                  <a:srgbClr val="FFF6E6"/>
                </a:solidFill>
                <a:latin typeface="Arial" pitchFamily="34" charset="0"/>
                <a:ea typeface="Arial" pitchFamily="34" charset="-122"/>
                <a:cs typeface="Arial" pitchFamily="34" charset="-120"/>
              </a:rPr>
              <a:t>It has no approve, send or delete tool.</a:t>
            </a:r>
            <a:endParaRPr lang="en-US" sz="1400" dirty="0"/>
          </a:p>
        </p:txBody>
      </p:sp>
      <p:sp>
        <p:nvSpPr>
          <p:cNvPr id="63" name="Text 61"/>
          <p:cNvSpPr txBox="1"/>
          <p:nvPr/>
        </p:nvSpPr>
        <p:spPr>
          <a:xfrm>
            <a:off x="6370168" y="4434840"/>
            <a:ext cx="5135728" cy="228600"/>
          </a:xfrm>
          <a:prstGeom prst="rect">
            <a:avLst/>
          </a:prstGeom>
          <a:noFill/>
          <a:ln/>
        </p:spPr>
        <p:txBody>
          <a:bodyPr wrap="square" lIns="0" tIns="0" rIns="0" bIns="0" rtlCol="0" anchor="t"/>
          <a:lstStyle/>
          <a:p>
            <a:pPr indent="0" marL="0">
              <a:buNone/>
            </a:pPr>
            <a:r>
              <a:rPr lang="en-US" sz="850" b="1" spc="400" kern="0" dirty="0">
                <a:solidFill>
                  <a:srgbClr val="8C7961"/>
                </a:solidFill>
                <a:latin typeface="Arial" pitchFamily="34" charset="0"/>
                <a:ea typeface="Arial" pitchFamily="34" charset="-122"/>
                <a:cs typeface="Arial" pitchFamily="34" charset="-120"/>
              </a:rPr>
              <a:t>A NAMED PERSON DOES</a:t>
            </a:r>
            <a:endParaRPr lang="en-US" sz="850" dirty="0"/>
          </a:p>
        </p:txBody>
      </p:sp>
      <p:sp>
        <p:nvSpPr>
          <p:cNvPr id="64" name="Text 62"/>
          <p:cNvSpPr txBox="1"/>
          <p:nvPr/>
        </p:nvSpPr>
        <p:spPr>
          <a:xfrm>
            <a:off x="6370168" y="4709160"/>
            <a:ext cx="5135728" cy="1463040"/>
          </a:xfrm>
          <a:prstGeom prst="rect">
            <a:avLst/>
          </a:prstGeom>
          <a:noFill/>
          <a:ln/>
        </p:spPr>
        <p:txBody>
          <a:bodyPr wrap="square" lIns="0" tIns="0" rIns="0" bIns="0" rtlCol="0" anchor="t"/>
          <a:lstStyle/>
          <a:p>
            <a:pPr indent="0" marL="0">
              <a:buNone/>
            </a:pPr>
            <a:r>
              <a:rPr lang="en-US" sz="1400" dirty="0">
                <a:solidFill>
                  <a:srgbClr val="E4D8C6"/>
                </a:solidFill>
                <a:latin typeface="Arial" pitchFamily="34" charset="0"/>
                <a:ea typeface="Arial" pitchFamily="34" charset="-122"/>
                <a:cs typeface="Arial" pitchFamily="34" charset="-120"/>
              </a:rPr>
              <a:t>Approves the spec (G1) · accepts tickets (G2) · reviews, never the builder (G3) · releases, with client sign-off (G4) · sends (G5). </a:t>
            </a:r>
            <a:pPr indent="0" marL="0">
              <a:buNone/>
            </a:pPr>
            <a:r>
              <a:rPr lang="en-US" sz="1400" b="1" dirty="0">
                <a:solidFill>
                  <a:srgbClr val="FFF6E6"/>
                </a:solidFill>
                <a:latin typeface="Arial" pitchFamily="34" charset="0"/>
                <a:ea typeface="Arial" pitchFamily="34" charset="-122"/>
                <a:cs typeface="Arial" pitchFamily="34" charset="-120"/>
              </a:rPr>
              <a:t>Open gaps flow back to the client's AI through intake.</a:t>
            </a:r>
            <a:endParaRPr lang="en-US" sz="1400" dirty="0"/>
          </a:p>
        </p:txBody>
      </p:sp>
      <p:sp>
        <p:nvSpPr>
          <p:cNvPr id="25" name="Slide Number Placeholder 0"/>
          <p:cNvSpPr>
            <a:spLocks noGrp="1"/>
          </p:cNvSpPr>
          <p:nvPr>
            <p:ph type="sldNum" sz="quarter" idx="4294967295"/>
          </p:nvPr>
        </p:nvSpPr>
        <p:spPr>
          <a:xfrm>
            <a:off x="10408615" y="6355080"/>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7961"/>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85800" y="411480"/>
            <a:ext cx="10820095" cy="320040"/>
          </a:xfrm>
          <a:prstGeom prst="rect">
            <a:avLst/>
          </a:prstGeom>
          <a:noFill/>
          <a:ln/>
        </p:spPr>
        <p:txBody>
          <a:bodyPr wrap="square" lIns="0" tIns="0" rIns="0" bIns="0" rtlCol="0" anchor="ctr"/>
          <a:lstStyle/>
          <a:p>
            <a:pPr indent="0" marL="0">
              <a:buNone/>
            </a:pPr>
            <a:r>
              <a:rPr lang="en-US" sz="1100" spc="600" kern="0" dirty="0">
                <a:solidFill>
                  <a:srgbClr val="E8C290"/>
                </a:solidFill>
                <a:latin typeface="Arial" pitchFamily="34" charset="0"/>
                <a:ea typeface="Arial" pitchFamily="34" charset="-122"/>
                <a:cs typeface="Arial" pitchFamily="34" charset="-120"/>
              </a:rPr>
              <a:t>THE MONEY MOMENT · SPEC-003 PROFIT MODEL · NORTHLINE GOODS</a:t>
            </a:r>
            <a:endParaRPr lang="en-US" sz="1100" dirty="0"/>
          </a:p>
        </p:txBody>
      </p:sp>
      <p:sp>
        <p:nvSpPr>
          <p:cNvPr id="3" name="Text 1"/>
          <p:cNvSpPr txBox="1"/>
          <p:nvPr/>
        </p:nvSpPr>
        <p:spPr>
          <a:xfrm>
            <a:off x="685800" y="731520"/>
            <a:ext cx="10820095" cy="731520"/>
          </a:xfrm>
          <a:prstGeom prst="rect">
            <a:avLst/>
          </a:prstGeom>
          <a:noFill/>
          <a:ln/>
        </p:spPr>
        <p:txBody>
          <a:bodyPr wrap="square" lIns="0" tIns="0" rIns="0" bIns="0" rtlCol="0" anchor="t"/>
          <a:lstStyle/>
          <a:p>
            <a:pPr indent="0" marL="0">
              <a:lnSpc>
                <a:spcPct val="105000"/>
              </a:lnSpc>
              <a:buNone/>
            </a:pPr>
            <a:r>
              <a:rPr lang="en-US" sz="3400" dirty="0">
                <a:solidFill>
                  <a:srgbClr val="FFF6E6"/>
                </a:solidFill>
                <a:latin typeface="Arial" pitchFamily="34" charset="0"/>
                <a:ea typeface="Arial" pitchFamily="34" charset="-122"/>
                <a:cs typeface="Arial" pitchFamily="34" charset="-120"/>
              </a:rPr>
              <a:t>A 3× campaign on seasonal decor </a:t>
            </a:r>
            <a:pPr indent="0" marL="0">
              <a:lnSpc>
                <a:spcPct val="105000"/>
              </a:lnSpc>
              <a:buNone/>
            </a:pPr>
            <a:r>
              <a:rPr lang="en-US" sz="3400" dirty="0">
                <a:solidFill>
                  <a:srgbClr val="F3D9A4"/>
                </a:solidFill>
                <a:latin typeface="Arial" pitchFamily="34" charset="0"/>
                <a:ea typeface="Arial" pitchFamily="34" charset="-122"/>
                <a:cs typeface="Arial" pitchFamily="34" charset="-120"/>
              </a:rPr>
              <a:t>loses money.</a:t>
            </a:r>
            <a:pPr indent="0" marL="0">
              <a:lnSpc>
                <a:spcPct val="105000"/>
              </a:lnSpc>
              <a:buNone/>
            </a:pPr>
            <a:r>
              <a:rPr lang="en-US" sz="3400" dirty="0">
                <a:solidFill>
                  <a:srgbClr val="FFF6E6"/>
                </a:solidFill>
                <a:latin typeface="Arial" pitchFamily="34" charset="0"/>
                <a:ea typeface="Arial" pitchFamily="34" charset="-122"/>
                <a:cs typeface="Arial" pitchFamily="34" charset="-120"/>
              </a:rPr>
              <a:t> The agent said so first.</a:t>
            </a:r>
            <a:endParaRPr lang="en-US" sz="3400" dirty="0"/>
          </a:p>
        </p:txBody>
      </p:sp>
      <p:sp>
        <p:nvSpPr>
          <p:cNvPr id="4" name="Text 2"/>
          <p:cNvSpPr txBox="1"/>
          <p:nvPr/>
        </p:nvSpPr>
        <p:spPr>
          <a:xfrm>
            <a:off x="685800" y="1947672"/>
            <a:ext cx="1828800" cy="228600"/>
          </a:xfrm>
          <a:prstGeom prst="rect">
            <a:avLst/>
          </a:prstGeom>
          <a:noFill/>
          <a:ln/>
        </p:spPr>
        <p:txBody>
          <a:bodyPr wrap="square" lIns="0" tIns="0" rIns="0" bIns="0" rtlCol="0" anchor="t"/>
          <a:lstStyle/>
          <a:p>
            <a:pPr indent="0" marL="0">
              <a:buNone/>
            </a:pPr>
            <a:r>
              <a:rPr lang="en-US" sz="800" spc="300" kern="0" dirty="0">
                <a:solidFill>
                  <a:srgbClr val="8C7961"/>
                </a:solidFill>
                <a:latin typeface="Arial" pitchFamily="34" charset="0"/>
                <a:ea typeface="Arial" pitchFamily="34" charset="-122"/>
                <a:cs typeface="Arial" pitchFamily="34" charset="-120"/>
              </a:rPr>
              <a:t>CATEGORY</a:t>
            </a:r>
            <a:endParaRPr lang="en-US" sz="800" dirty="0"/>
          </a:p>
        </p:txBody>
      </p:sp>
      <p:sp>
        <p:nvSpPr>
          <p:cNvPr id="5" name="Text 3"/>
          <p:cNvSpPr txBox="1"/>
          <p:nvPr/>
        </p:nvSpPr>
        <p:spPr>
          <a:xfrm>
            <a:off x="2788920" y="1947672"/>
            <a:ext cx="1097280" cy="228600"/>
          </a:xfrm>
          <a:prstGeom prst="rect">
            <a:avLst/>
          </a:prstGeom>
          <a:noFill/>
          <a:ln/>
        </p:spPr>
        <p:txBody>
          <a:bodyPr wrap="square" lIns="0" tIns="0" rIns="0" bIns="0" rtlCol="0" anchor="t"/>
          <a:lstStyle/>
          <a:p>
            <a:pPr indent="0" marL="0">
              <a:buNone/>
            </a:pPr>
            <a:r>
              <a:rPr lang="en-US" sz="800" spc="300" kern="0" dirty="0">
                <a:solidFill>
                  <a:srgbClr val="8C7961"/>
                </a:solidFill>
                <a:latin typeface="Arial" pitchFamily="34" charset="0"/>
                <a:ea typeface="Arial" pitchFamily="34" charset="-122"/>
                <a:cs typeface="Arial" pitchFamily="34" charset="-120"/>
              </a:rPr>
              <a:t>MARGIN (R2)</a:t>
            </a:r>
            <a:endParaRPr lang="en-US" sz="800" dirty="0"/>
          </a:p>
        </p:txBody>
      </p:sp>
      <p:sp>
        <p:nvSpPr>
          <p:cNvPr id="6" name="Text 4"/>
          <p:cNvSpPr txBox="1"/>
          <p:nvPr/>
        </p:nvSpPr>
        <p:spPr>
          <a:xfrm>
            <a:off x="3886200" y="1947672"/>
            <a:ext cx="7619695" cy="228600"/>
          </a:xfrm>
          <a:prstGeom prst="rect">
            <a:avLst/>
          </a:prstGeom>
          <a:noFill/>
          <a:ln/>
        </p:spPr>
        <p:txBody>
          <a:bodyPr wrap="square" lIns="0" tIns="0" rIns="0" bIns="0" rtlCol="0" anchor="t"/>
          <a:lstStyle/>
          <a:p>
            <a:pPr indent="0" marL="0">
              <a:buNone/>
            </a:pPr>
            <a:r>
              <a:rPr lang="en-US" sz="800" spc="300" kern="0" dirty="0">
                <a:solidFill>
                  <a:srgbClr val="8C7961"/>
                </a:solidFill>
                <a:latin typeface="Arial" pitchFamily="34" charset="0"/>
                <a:ea typeface="Arial" pitchFamily="34" charset="-122"/>
                <a:cs typeface="Arial" pitchFamily="34" charset="-120"/>
              </a:rPr>
              <a:t>MARGIN-ONLY FLOOR ≈ 1 ÷ MARGIN   ·   | CLIENT'S BREAK-EVEN (R3)</a:t>
            </a:r>
            <a:endParaRPr lang="en-US" sz="800" dirty="0"/>
          </a:p>
        </p:txBody>
      </p:sp>
      <p:sp>
        <p:nvSpPr>
          <p:cNvPr id="7" name="Text 5"/>
          <p:cNvSpPr txBox="1"/>
          <p:nvPr/>
        </p:nvSpPr>
        <p:spPr>
          <a:xfrm>
            <a:off x="685800" y="2240280"/>
            <a:ext cx="2011680" cy="457200"/>
          </a:xfrm>
          <a:prstGeom prst="rect">
            <a:avLst/>
          </a:prstGeom>
          <a:noFill/>
          <a:ln/>
        </p:spPr>
        <p:txBody>
          <a:bodyPr wrap="square" lIns="0" tIns="0" rIns="0" bIns="0" rtlCol="0" anchor="ctr"/>
          <a:lstStyle/>
          <a:p>
            <a:pPr indent="0" marL="0">
              <a:buNone/>
            </a:pPr>
            <a:r>
              <a:rPr lang="en-US" sz="1700" dirty="0">
                <a:solidFill>
                  <a:srgbClr val="FFF6E6"/>
                </a:solidFill>
                <a:latin typeface="Arial" pitchFamily="34" charset="0"/>
                <a:ea typeface="Arial" pitchFamily="34" charset="-122"/>
                <a:cs typeface="Arial" pitchFamily="34" charset="-120"/>
              </a:rPr>
              <a:t>Tableware</a:t>
            </a:r>
            <a:endParaRPr lang="en-US" sz="1700" dirty="0"/>
          </a:p>
        </p:txBody>
      </p:sp>
      <p:sp>
        <p:nvSpPr>
          <p:cNvPr id="8" name="Text 6"/>
          <p:cNvSpPr txBox="1"/>
          <p:nvPr/>
        </p:nvSpPr>
        <p:spPr>
          <a:xfrm>
            <a:off x="2788920" y="2240280"/>
            <a:ext cx="914400" cy="457200"/>
          </a:xfrm>
          <a:prstGeom prst="rect">
            <a:avLst/>
          </a:prstGeom>
          <a:noFill/>
          <a:ln/>
        </p:spPr>
        <p:txBody>
          <a:bodyPr wrap="square" lIns="0" tIns="0" rIns="0" bIns="0" rtlCol="0" anchor="ctr"/>
          <a:lstStyle/>
          <a:p>
            <a:pPr indent="0" marL="0">
              <a:buNone/>
            </a:pPr>
            <a:r>
              <a:rPr lang="en-US" sz="1700" dirty="0">
                <a:solidFill>
                  <a:srgbClr val="E4D8C6"/>
                </a:solidFill>
                <a:latin typeface="Arial" pitchFamily="34" charset="0"/>
                <a:ea typeface="Arial" pitchFamily="34" charset="-122"/>
                <a:cs typeface="Arial" pitchFamily="34" charset="-120"/>
              </a:rPr>
              <a:t>58%</a:t>
            </a:r>
            <a:endParaRPr lang="en-US" sz="1700" dirty="0"/>
          </a:p>
        </p:txBody>
      </p:sp>
      <p:sp>
        <p:nvSpPr>
          <p:cNvPr id="9" name="Shape 7"/>
          <p:cNvSpPr/>
          <p:nvPr/>
        </p:nvSpPr>
        <p:spPr>
          <a:xfrm>
            <a:off x="3886200" y="2267712"/>
            <a:ext cx="7619695" cy="402336"/>
          </a:xfrm>
          <a:prstGeom prst="roundRect">
            <a:avLst>
              <a:gd name="adj" fmla="val 18182"/>
            </a:avLst>
          </a:prstGeom>
          <a:solidFill>
            <a:srgbClr val="19110C"/>
          </a:solidFill>
          <a:ln w="9525">
            <a:solidFill>
              <a:srgbClr val="332A1F"/>
            </a:solidFill>
            <a:prstDash val="solid"/>
          </a:ln>
        </p:spPr>
      </p:sp>
      <p:sp>
        <p:nvSpPr>
          <p:cNvPr id="10" name="Shape 8"/>
          <p:cNvSpPr/>
          <p:nvPr/>
        </p:nvSpPr>
        <p:spPr>
          <a:xfrm>
            <a:off x="3886200" y="2267712"/>
            <a:ext cx="3276469" cy="402336"/>
          </a:xfrm>
          <a:prstGeom prst="roundRect">
            <a:avLst>
              <a:gd name="adj" fmla="val 18182"/>
            </a:avLst>
          </a:prstGeom>
          <a:solidFill>
            <a:srgbClr val="C9955A"/>
          </a:solidFill>
          <a:ln w="12700">
            <a:solidFill>
              <a:srgbClr val="C9955A"/>
            </a:solidFill>
            <a:prstDash val="solid"/>
          </a:ln>
        </p:spPr>
      </p:sp>
      <p:sp>
        <p:nvSpPr>
          <p:cNvPr id="11" name="Text 9"/>
          <p:cNvSpPr txBox="1"/>
          <p:nvPr/>
        </p:nvSpPr>
        <p:spPr>
          <a:xfrm>
            <a:off x="6156829" y="2267712"/>
            <a:ext cx="914400" cy="402336"/>
          </a:xfrm>
          <a:prstGeom prst="rect">
            <a:avLst/>
          </a:prstGeom>
          <a:noFill/>
          <a:ln/>
        </p:spPr>
        <p:txBody>
          <a:bodyPr wrap="square" lIns="0" tIns="0" rIns="0" bIns="0" rtlCol="0" anchor="ctr"/>
          <a:lstStyle/>
          <a:p>
            <a:pPr algn="r" indent="0" marL="0">
              <a:buNone/>
            </a:pPr>
            <a:r>
              <a:rPr lang="en-US" sz="1200" b="1" dirty="0">
                <a:solidFill>
                  <a:srgbClr val="2A1B0C"/>
                </a:solidFill>
                <a:latin typeface="Arial" pitchFamily="34" charset="0"/>
                <a:ea typeface="Arial" pitchFamily="34" charset="-122"/>
                <a:cs typeface="Arial" pitchFamily="34" charset="-120"/>
              </a:rPr>
              <a:t>≈1.72×</a:t>
            </a:r>
            <a:endParaRPr lang="en-US" sz="1200" dirty="0"/>
          </a:p>
        </p:txBody>
      </p:sp>
      <p:sp>
        <p:nvSpPr>
          <p:cNvPr id="12" name="Shape 10"/>
          <p:cNvSpPr/>
          <p:nvPr/>
        </p:nvSpPr>
        <p:spPr>
          <a:xfrm>
            <a:off x="7868252" y="2194560"/>
            <a:ext cx="36576" cy="548640"/>
          </a:xfrm>
          <a:prstGeom prst="rect">
            <a:avLst/>
          </a:prstGeom>
          <a:solidFill>
            <a:srgbClr val="F3D9A4"/>
          </a:solidFill>
          <a:ln w="12700">
            <a:solidFill>
              <a:srgbClr val="F3D9A4"/>
            </a:solidFill>
            <a:prstDash val="solid"/>
          </a:ln>
        </p:spPr>
      </p:sp>
      <p:sp>
        <p:nvSpPr>
          <p:cNvPr id="13" name="Text 11"/>
          <p:cNvSpPr txBox="1"/>
          <p:nvPr/>
        </p:nvSpPr>
        <p:spPr>
          <a:xfrm>
            <a:off x="7959692" y="2267712"/>
            <a:ext cx="731520" cy="402336"/>
          </a:xfrm>
          <a:prstGeom prst="rect">
            <a:avLst/>
          </a:prstGeom>
          <a:noFill/>
          <a:ln/>
        </p:spPr>
        <p:txBody>
          <a:bodyPr wrap="square" lIns="0" tIns="0" rIns="0" bIns="0" rtlCol="0" anchor="ctr"/>
          <a:lstStyle/>
          <a:p>
            <a:pPr indent="0" marL="0">
              <a:buNone/>
            </a:pPr>
            <a:r>
              <a:rPr lang="en-US" sz="1100" dirty="0">
                <a:solidFill>
                  <a:srgbClr val="F3D9A4"/>
                </a:solidFill>
                <a:latin typeface="Arial" pitchFamily="34" charset="0"/>
                <a:ea typeface="Arial" pitchFamily="34" charset="-122"/>
                <a:cs typeface="Arial" pitchFamily="34" charset="-120"/>
              </a:rPr>
              <a:t>2.1×</a:t>
            </a:r>
            <a:endParaRPr lang="en-US" sz="1100" dirty="0"/>
          </a:p>
        </p:txBody>
      </p:sp>
      <p:sp>
        <p:nvSpPr>
          <p:cNvPr id="14" name="Text 12"/>
          <p:cNvSpPr txBox="1"/>
          <p:nvPr/>
        </p:nvSpPr>
        <p:spPr>
          <a:xfrm>
            <a:off x="685800" y="2770632"/>
            <a:ext cx="2011680" cy="457200"/>
          </a:xfrm>
          <a:prstGeom prst="rect">
            <a:avLst/>
          </a:prstGeom>
          <a:noFill/>
          <a:ln/>
        </p:spPr>
        <p:txBody>
          <a:bodyPr wrap="square" lIns="0" tIns="0" rIns="0" bIns="0" rtlCol="0" anchor="ctr"/>
          <a:lstStyle/>
          <a:p>
            <a:pPr indent="0" marL="0">
              <a:buNone/>
            </a:pPr>
            <a:r>
              <a:rPr lang="en-US" sz="1700" dirty="0">
                <a:solidFill>
                  <a:srgbClr val="FFF6E6"/>
                </a:solidFill>
                <a:latin typeface="Arial" pitchFamily="34" charset="0"/>
                <a:ea typeface="Arial" pitchFamily="34" charset="-122"/>
                <a:cs typeface="Arial" pitchFamily="34" charset="-120"/>
              </a:rPr>
              <a:t>Textiles</a:t>
            </a:r>
            <a:endParaRPr lang="en-US" sz="1700" dirty="0"/>
          </a:p>
        </p:txBody>
      </p:sp>
      <p:sp>
        <p:nvSpPr>
          <p:cNvPr id="15" name="Text 13"/>
          <p:cNvSpPr txBox="1"/>
          <p:nvPr/>
        </p:nvSpPr>
        <p:spPr>
          <a:xfrm>
            <a:off x="2788920" y="2770632"/>
            <a:ext cx="914400" cy="457200"/>
          </a:xfrm>
          <a:prstGeom prst="rect">
            <a:avLst/>
          </a:prstGeom>
          <a:noFill/>
          <a:ln/>
        </p:spPr>
        <p:txBody>
          <a:bodyPr wrap="square" lIns="0" tIns="0" rIns="0" bIns="0" rtlCol="0" anchor="ctr"/>
          <a:lstStyle/>
          <a:p>
            <a:pPr indent="0" marL="0">
              <a:buNone/>
            </a:pPr>
            <a:r>
              <a:rPr lang="en-US" sz="1700" dirty="0">
                <a:solidFill>
                  <a:srgbClr val="E4D8C6"/>
                </a:solidFill>
                <a:latin typeface="Arial" pitchFamily="34" charset="0"/>
                <a:ea typeface="Arial" pitchFamily="34" charset="-122"/>
                <a:cs typeface="Arial" pitchFamily="34" charset="-120"/>
              </a:rPr>
              <a:t>46%</a:t>
            </a:r>
            <a:endParaRPr lang="en-US" sz="1700" dirty="0"/>
          </a:p>
        </p:txBody>
      </p:sp>
      <p:sp>
        <p:nvSpPr>
          <p:cNvPr id="16" name="Shape 14"/>
          <p:cNvSpPr/>
          <p:nvPr/>
        </p:nvSpPr>
        <p:spPr>
          <a:xfrm>
            <a:off x="3886200" y="2798064"/>
            <a:ext cx="7619695" cy="402336"/>
          </a:xfrm>
          <a:prstGeom prst="roundRect">
            <a:avLst>
              <a:gd name="adj" fmla="val 18182"/>
            </a:avLst>
          </a:prstGeom>
          <a:solidFill>
            <a:srgbClr val="19110C"/>
          </a:solidFill>
          <a:ln w="9525">
            <a:solidFill>
              <a:srgbClr val="332A1F"/>
            </a:solidFill>
            <a:prstDash val="solid"/>
          </a:ln>
        </p:spPr>
      </p:sp>
      <p:sp>
        <p:nvSpPr>
          <p:cNvPr id="17" name="Shape 15"/>
          <p:cNvSpPr/>
          <p:nvPr/>
        </p:nvSpPr>
        <p:spPr>
          <a:xfrm>
            <a:off x="3886200" y="2798064"/>
            <a:ext cx="4133685" cy="402336"/>
          </a:xfrm>
          <a:prstGeom prst="roundRect">
            <a:avLst>
              <a:gd name="adj" fmla="val 18182"/>
            </a:avLst>
          </a:prstGeom>
          <a:solidFill>
            <a:srgbClr val="C9955A"/>
          </a:solidFill>
          <a:ln w="12700">
            <a:solidFill>
              <a:srgbClr val="C9955A"/>
            </a:solidFill>
            <a:prstDash val="solid"/>
          </a:ln>
        </p:spPr>
      </p:sp>
      <p:sp>
        <p:nvSpPr>
          <p:cNvPr id="18" name="Text 16"/>
          <p:cNvSpPr txBox="1"/>
          <p:nvPr/>
        </p:nvSpPr>
        <p:spPr>
          <a:xfrm>
            <a:off x="7014045" y="2798064"/>
            <a:ext cx="914400" cy="402336"/>
          </a:xfrm>
          <a:prstGeom prst="rect">
            <a:avLst/>
          </a:prstGeom>
          <a:noFill/>
          <a:ln/>
        </p:spPr>
        <p:txBody>
          <a:bodyPr wrap="square" lIns="0" tIns="0" rIns="0" bIns="0" rtlCol="0" anchor="ctr"/>
          <a:lstStyle/>
          <a:p>
            <a:pPr algn="r" indent="0" marL="0">
              <a:buNone/>
            </a:pPr>
            <a:r>
              <a:rPr lang="en-US" sz="1200" b="1" dirty="0">
                <a:solidFill>
                  <a:srgbClr val="2A1B0C"/>
                </a:solidFill>
                <a:latin typeface="Arial" pitchFamily="34" charset="0"/>
                <a:ea typeface="Arial" pitchFamily="34" charset="-122"/>
                <a:cs typeface="Arial" pitchFamily="34" charset="-120"/>
              </a:rPr>
              <a:t>≈2.17×</a:t>
            </a:r>
            <a:endParaRPr lang="en-US" sz="1200" dirty="0"/>
          </a:p>
        </p:txBody>
      </p:sp>
      <p:sp>
        <p:nvSpPr>
          <p:cNvPr id="19" name="Shape 17"/>
          <p:cNvSpPr/>
          <p:nvPr/>
        </p:nvSpPr>
        <p:spPr>
          <a:xfrm>
            <a:off x="8820714" y="2724912"/>
            <a:ext cx="36576" cy="548640"/>
          </a:xfrm>
          <a:prstGeom prst="rect">
            <a:avLst/>
          </a:prstGeom>
          <a:solidFill>
            <a:srgbClr val="F3D9A4"/>
          </a:solidFill>
          <a:ln w="12700">
            <a:solidFill>
              <a:srgbClr val="F3D9A4"/>
            </a:solidFill>
            <a:prstDash val="solid"/>
          </a:ln>
        </p:spPr>
      </p:sp>
      <p:sp>
        <p:nvSpPr>
          <p:cNvPr id="20" name="Text 18"/>
          <p:cNvSpPr txBox="1"/>
          <p:nvPr/>
        </p:nvSpPr>
        <p:spPr>
          <a:xfrm>
            <a:off x="8912154" y="2798064"/>
            <a:ext cx="731520" cy="402336"/>
          </a:xfrm>
          <a:prstGeom prst="rect">
            <a:avLst/>
          </a:prstGeom>
          <a:noFill/>
          <a:ln/>
        </p:spPr>
        <p:txBody>
          <a:bodyPr wrap="square" lIns="0" tIns="0" rIns="0" bIns="0" rtlCol="0" anchor="ctr"/>
          <a:lstStyle/>
          <a:p>
            <a:pPr indent="0" marL="0">
              <a:buNone/>
            </a:pPr>
            <a:r>
              <a:rPr lang="en-US" sz="1100" dirty="0">
                <a:solidFill>
                  <a:srgbClr val="F3D9A4"/>
                </a:solidFill>
                <a:latin typeface="Arial" pitchFamily="34" charset="0"/>
                <a:ea typeface="Arial" pitchFamily="34" charset="-122"/>
                <a:cs typeface="Arial" pitchFamily="34" charset="-120"/>
              </a:rPr>
              <a:t>2.6×</a:t>
            </a:r>
            <a:endParaRPr lang="en-US" sz="1100" dirty="0"/>
          </a:p>
        </p:txBody>
      </p:sp>
      <p:sp>
        <p:nvSpPr>
          <p:cNvPr id="21" name="Text 19"/>
          <p:cNvSpPr txBox="1"/>
          <p:nvPr/>
        </p:nvSpPr>
        <p:spPr>
          <a:xfrm>
            <a:off x="685800" y="3300984"/>
            <a:ext cx="2011680" cy="457200"/>
          </a:xfrm>
          <a:prstGeom prst="rect">
            <a:avLst/>
          </a:prstGeom>
          <a:noFill/>
          <a:ln/>
        </p:spPr>
        <p:txBody>
          <a:bodyPr wrap="square" lIns="0" tIns="0" rIns="0" bIns="0" rtlCol="0" anchor="ctr"/>
          <a:lstStyle/>
          <a:p>
            <a:pPr indent="0" marL="0">
              <a:buNone/>
            </a:pPr>
            <a:r>
              <a:rPr lang="en-US" sz="1700" dirty="0">
                <a:solidFill>
                  <a:srgbClr val="FFF6E6"/>
                </a:solidFill>
                <a:latin typeface="Arial" pitchFamily="34" charset="0"/>
                <a:ea typeface="Arial" pitchFamily="34" charset="-122"/>
                <a:cs typeface="Arial" pitchFamily="34" charset="-120"/>
              </a:rPr>
              <a:t>Lighting</a:t>
            </a:r>
            <a:endParaRPr lang="en-US" sz="1700" dirty="0"/>
          </a:p>
        </p:txBody>
      </p:sp>
      <p:sp>
        <p:nvSpPr>
          <p:cNvPr id="22" name="Text 20"/>
          <p:cNvSpPr txBox="1"/>
          <p:nvPr/>
        </p:nvSpPr>
        <p:spPr>
          <a:xfrm>
            <a:off x="2788920" y="3300984"/>
            <a:ext cx="914400" cy="457200"/>
          </a:xfrm>
          <a:prstGeom prst="rect">
            <a:avLst/>
          </a:prstGeom>
          <a:noFill/>
          <a:ln/>
        </p:spPr>
        <p:txBody>
          <a:bodyPr wrap="square" lIns="0" tIns="0" rIns="0" bIns="0" rtlCol="0" anchor="ctr"/>
          <a:lstStyle/>
          <a:p>
            <a:pPr indent="0" marL="0">
              <a:buNone/>
            </a:pPr>
            <a:r>
              <a:rPr lang="en-US" sz="1700" dirty="0">
                <a:solidFill>
                  <a:srgbClr val="E4D8C6"/>
                </a:solidFill>
                <a:latin typeface="Arial" pitchFamily="34" charset="0"/>
                <a:ea typeface="Arial" pitchFamily="34" charset="-122"/>
                <a:cs typeface="Arial" pitchFamily="34" charset="-120"/>
              </a:rPr>
              <a:t>41%</a:t>
            </a:r>
            <a:endParaRPr lang="en-US" sz="1700" dirty="0"/>
          </a:p>
        </p:txBody>
      </p:sp>
      <p:sp>
        <p:nvSpPr>
          <p:cNvPr id="23" name="Shape 21"/>
          <p:cNvSpPr/>
          <p:nvPr/>
        </p:nvSpPr>
        <p:spPr>
          <a:xfrm>
            <a:off x="3886200" y="3328416"/>
            <a:ext cx="7619695" cy="402336"/>
          </a:xfrm>
          <a:prstGeom prst="roundRect">
            <a:avLst>
              <a:gd name="adj" fmla="val 18182"/>
            </a:avLst>
          </a:prstGeom>
          <a:solidFill>
            <a:srgbClr val="19110C"/>
          </a:solidFill>
          <a:ln w="9525">
            <a:solidFill>
              <a:srgbClr val="332A1F"/>
            </a:solidFill>
            <a:prstDash val="solid"/>
          </a:ln>
        </p:spPr>
      </p:sp>
      <p:sp>
        <p:nvSpPr>
          <p:cNvPr id="24" name="Shape 22"/>
          <p:cNvSpPr/>
          <p:nvPr/>
        </p:nvSpPr>
        <p:spPr>
          <a:xfrm>
            <a:off x="3886200" y="3328416"/>
            <a:ext cx="4648014" cy="402336"/>
          </a:xfrm>
          <a:prstGeom prst="roundRect">
            <a:avLst>
              <a:gd name="adj" fmla="val 18182"/>
            </a:avLst>
          </a:prstGeom>
          <a:solidFill>
            <a:srgbClr val="C9955A"/>
          </a:solidFill>
          <a:ln w="12700">
            <a:solidFill>
              <a:srgbClr val="C9955A"/>
            </a:solidFill>
            <a:prstDash val="solid"/>
          </a:ln>
        </p:spPr>
      </p:sp>
      <p:sp>
        <p:nvSpPr>
          <p:cNvPr id="25" name="Text 23"/>
          <p:cNvSpPr txBox="1"/>
          <p:nvPr/>
        </p:nvSpPr>
        <p:spPr>
          <a:xfrm>
            <a:off x="7528374" y="3328416"/>
            <a:ext cx="914400" cy="402336"/>
          </a:xfrm>
          <a:prstGeom prst="rect">
            <a:avLst/>
          </a:prstGeom>
          <a:noFill/>
          <a:ln/>
        </p:spPr>
        <p:txBody>
          <a:bodyPr wrap="square" lIns="0" tIns="0" rIns="0" bIns="0" rtlCol="0" anchor="ctr"/>
          <a:lstStyle/>
          <a:p>
            <a:pPr algn="r" indent="0" marL="0">
              <a:buNone/>
            </a:pPr>
            <a:r>
              <a:rPr lang="en-US" sz="1200" b="1" dirty="0">
                <a:solidFill>
                  <a:srgbClr val="2A1B0C"/>
                </a:solidFill>
                <a:latin typeface="Arial" pitchFamily="34" charset="0"/>
                <a:ea typeface="Arial" pitchFamily="34" charset="-122"/>
                <a:cs typeface="Arial" pitchFamily="34" charset="-120"/>
              </a:rPr>
              <a:t>≈2.44×</a:t>
            </a:r>
            <a:endParaRPr lang="en-US" sz="1200" dirty="0"/>
          </a:p>
        </p:txBody>
      </p:sp>
      <p:sp>
        <p:nvSpPr>
          <p:cNvPr id="26" name="Shape 24"/>
          <p:cNvSpPr/>
          <p:nvPr/>
        </p:nvSpPr>
        <p:spPr>
          <a:xfrm>
            <a:off x="9392191" y="3255264"/>
            <a:ext cx="36576" cy="548640"/>
          </a:xfrm>
          <a:prstGeom prst="rect">
            <a:avLst/>
          </a:prstGeom>
          <a:solidFill>
            <a:srgbClr val="F3D9A4"/>
          </a:solidFill>
          <a:ln w="12700">
            <a:solidFill>
              <a:srgbClr val="F3D9A4"/>
            </a:solidFill>
            <a:prstDash val="solid"/>
          </a:ln>
        </p:spPr>
      </p:sp>
      <p:sp>
        <p:nvSpPr>
          <p:cNvPr id="27" name="Text 25"/>
          <p:cNvSpPr txBox="1"/>
          <p:nvPr/>
        </p:nvSpPr>
        <p:spPr>
          <a:xfrm>
            <a:off x="9483631" y="3328416"/>
            <a:ext cx="731520" cy="402336"/>
          </a:xfrm>
          <a:prstGeom prst="rect">
            <a:avLst/>
          </a:prstGeom>
          <a:noFill/>
          <a:ln/>
        </p:spPr>
        <p:txBody>
          <a:bodyPr wrap="square" lIns="0" tIns="0" rIns="0" bIns="0" rtlCol="0" anchor="ctr"/>
          <a:lstStyle/>
          <a:p>
            <a:pPr indent="0" marL="0">
              <a:buNone/>
            </a:pPr>
            <a:r>
              <a:rPr lang="en-US" sz="1100" dirty="0">
                <a:solidFill>
                  <a:srgbClr val="F3D9A4"/>
                </a:solidFill>
                <a:latin typeface="Arial" pitchFamily="34" charset="0"/>
                <a:ea typeface="Arial" pitchFamily="34" charset="-122"/>
                <a:cs typeface="Arial" pitchFamily="34" charset="-120"/>
              </a:rPr>
              <a:t>2.9×</a:t>
            </a:r>
            <a:endParaRPr lang="en-US" sz="1100" dirty="0"/>
          </a:p>
        </p:txBody>
      </p:sp>
      <p:sp>
        <p:nvSpPr>
          <p:cNvPr id="28" name="Text 26"/>
          <p:cNvSpPr txBox="1"/>
          <p:nvPr/>
        </p:nvSpPr>
        <p:spPr>
          <a:xfrm>
            <a:off x="685800" y="3831336"/>
            <a:ext cx="2011680" cy="457200"/>
          </a:xfrm>
          <a:prstGeom prst="rect">
            <a:avLst/>
          </a:prstGeom>
          <a:noFill/>
          <a:ln/>
        </p:spPr>
        <p:txBody>
          <a:bodyPr wrap="square" lIns="0" tIns="0" rIns="0" bIns="0" rtlCol="0" anchor="ctr"/>
          <a:lstStyle/>
          <a:p>
            <a:pPr indent="0" marL="0">
              <a:buNone/>
            </a:pPr>
            <a:r>
              <a:rPr lang="en-US" sz="1700" dirty="0">
                <a:solidFill>
                  <a:srgbClr val="FFF6E6"/>
                </a:solidFill>
                <a:latin typeface="Arial" pitchFamily="34" charset="0"/>
                <a:ea typeface="Arial" pitchFamily="34" charset="-122"/>
                <a:cs typeface="Arial" pitchFamily="34" charset="-120"/>
              </a:rPr>
              <a:t>Seasonal decor</a:t>
            </a:r>
            <a:endParaRPr lang="en-US" sz="1700" dirty="0"/>
          </a:p>
        </p:txBody>
      </p:sp>
      <p:sp>
        <p:nvSpPr>
          <p:cNvPr id="29" name="Text 27"/>
          <p:cNvSpPr txBox="1"/>
          <p:nvPr/>
        </p:nvSpPr>
        <p:spPr>
          <a:xfrm>
            <a:off x="685800" y="4197096"/>
            <a:ext cx="2011680" cy="182880"/>
          </a:xfrm>
          <a:prstGeom prst="rect">
            <a:avLst/>
          </a:prstGeom>
          <a:noFill/>
          <a:ln/>
        </p:spPr>
        <p:txBody>
          <a:bodyPr wrap="square" lIns="0" tIns="0" rIns="0" bIns="0" rtlCol="0" anchor="t"/>
          <a:lstStyle/>
          <a:p>
            <a:pPr indent="0" marL="0">
              <a:buNone/>
            </a:pPr>
            <a:r>
              <a:rPr lang="en-US" sz="850" dirty="0">
                <a:solidFill>
                  <a:srgbClr val="B5A186"/>
                </a:solidFill>
                <a:latin typeface="Arial" pitchFamily="34" charset="0"/>
                <a:ea typeface="Arial" pitchFamily="34" charset="-122"/>
                <a:cs typeface="Arial" pitchFamily="34" charset="-120"/>
              </a:rPr>
              <a:t>the campaign on the table</a:t>
            </a:r>
            <a:endParaRPr lang="en-US" sz="850" dirty="0"/>
          </a:p>
        </p:txBody>
      </p:sp>
      <p:sp>
        <p:nvSpPr>
          <p:cNvPr id="30" name="Text 28"/>
          <p:cNvSpPr txBox="1"/>
          <p:nvPr/>
        </p:nvSpPr>
        <p:spPr>
          <a:xfrm>
            <a:off x="2788920" y="3831336"/>
            <a:ext cx="914400" cy="457200"/>
          </a:xfrm>
          <a:prstGeom prst="rect">
            <a:avLst/>
          </a:prstGeom>
          <a:noFill/>
          <a:ln/>
        </p:spPr>
        <p:txBody>
          <a:bodyPr wrap="square" lIns="0" tIns="0" rIns="0" bIns="0" rtlCol="0" anchor="ctr"/>
          <a:lstStyle/>
          <a:p>
            <a:pPr indent="0" marL="0">
              <a:buNone/>
            </a:pPr>
            <a:r>
              <a:rPr lang="en-US" sz="1700" dirty="0">
                <a:solidFill>
                  <a:srgbClr val="E4D8C6"/>
                </a:solidFill>
                <a:latin typeface="Arial" pitchFamily="34" charset="0"/>
                <a:ea typeface="Arial" pitchFamily="34" charset="-122"/>
                <a:cs typeface="Arial" pitchFamily="34" charset="-120"/>
              </a:rPr>
              <a:t>33%</a:t>
            </a:r>
            <a:endParaRPr lang="en-US" sz="1700" dirty="0"/>
          </a:p>
        </p:txBody>
      </p:sp>
      <p:sp>
        <p:nvSpPr>
          <p:cNvPr id="31" name="Shape 29"/>
          <p:cNvSpPr/>
          <p:nvPr/>
        </p:nvSpPr>
        <p:spPr>
          <a:xfrm>
            <a:off x="3886200" y="3858768"/>
            <a:ext cx="7619695" cy="402336"/>
          </a:xfrm>
          <a:prstGeom prst="roundRect">
            <a:avLst>
              <a:gd name="adj" fmla="val 18182"/>
            </a:avLst>
          </a:prstGeom>
          <a:solidFill>
            <a:srgbClr val="19110C"/>
          </a:solidFill>
          <a:ln w="9525">
            <a:solidFill>
              <a:srgbClr val="332A1F"/>
            </a:solidFill>
            <a:prstDash val="solid"/>
          </a:ln>
        </p:spPr>
      </p:sp>
      <p:sp>
        <p:nvSpPr>
          <p:cNvPr id="32" name="Shape 30"/>
          <p:cNvSpPr/>
          <p:nvPr/>
        </p:nvSpPr>
        <p:spPr>
          <a:xfrm>
            <a:off x="3886200" y="3858768"/>
            <a:ext cx="5771919" cy="402336"/>
          </a:xfrm>
          <a:prstGeom prst="roundRect">
            <a:avLst>
              <a:gd name="adj" fmla="val 18182"/>
            </a:avLst>
          </a:prstGeom>
          <a:solidFill>
            <a:srgbClr val="E05A48"/>
          </a:solidFill>
          <a:ln w="12700">
            <a:solidFill>
              <a:srgbClr val="E05A48"/>
            </a:solidFill>
            <a:prstDash val="solid"/>
          </a:ln>
        </p:spPr>
      </p:sp>
      <p:sp>
        <p:nvSpPr>
          <p:cNvPr id="33" name="Text 31"/>
          <p:cNvSpPr txBox="1"/>
          <p:nvPr/>
        </p:nvSpPr>
        <p:spPr>
          <a:xfrm>
            <a:off x="8652279" y="3858768"/>
            <a:ext cx="914400" cy="402336"/>
          </a:xfrm>
          <a:prstGeom prst="rect">
            <a:avLst/>
          </a:prstGeom>
          <a:noFill/>
          <a:ln/>
        </p:spPr>
        <p:txBody>
          <a:bodyPr wrap="square" lIns="0" tIns="0" rIns="0" bIns="0" rtlCol="0" anchor="ctr"/>
          <a:lstStyle/>
          <a:p>
            <a:pPr algn="r" indent="0" marL="0">
              <a:buNone/>
            </a:pPr>
            <a:r>
              <a:rPr lang="en-US" sz="1200" b="1" dirty="0">
                <a:solidFill>
                  <a:srgbClr val="FFF3F0"/>
                </a:solidFill>
                <a:latin typeface="Arial" pitchFamily="34" charset="0"/>
                <a:ea typeface="Arial" pitchFamily="34" charset="-122"/>
                <a:cs typeface="Arial" pitchFamily="34" charset="-120"/>
              </a:rPr>
              <a:t>≈3.03×</a:t>
            </a:r>
            <a:endParaRPr lang="en-US" sz="1200" dirty="0"/>
          </a:p>
        </p:txBody>
      </p:sp>
      <p:sp>
        <p:nvSpPr>
          <p:cNvPr id="34" name="Shape 32"/>
          <p:cNvSpPr/>
          <p:nvPr/>
        </p:nvSpPr>
        <p:spPr>
          <a:xfrm>
            <a:off x="10344653" y="3785616"/>
            <a:ext cx="36576" cy="548640"/>
          </a:xfrm>
          <a:prstGeom prst="rect">
            <a:avLst/>
          </a:prstGeom>
          <a:solidFill>
            <a:srgbClr val="F3D9A4"/>
          </a:solidFill>
          <a:ln w="12700">
            <a:solidFill>
              <a:srgbClr val="F3D9A4"/>
            </a:solidFill>
            <a:prstDash val="solid"/>
          </a:ln>
        </p:spPr>
      </p:sp>
      <p:sp>
        <p:nvSpPr>
          <p:cNvPr id="35" name="Text 33"/>
          <p:cNvSpPr txBox="1"/>
          <p:nvPr/>
        </p:nvSpPr>
        <p:spPr>
          <a:xfrm>
            <a:off x="10436093" y="3858768"/>
            <a:ext cx="731520" cy="402336"/>
          </a:xfrm>
          <a:prstGeom prst="rect">
            <a:avLst/>
          </a:prstGeom>
          <a:noFill/>
          <a:ln/>
        </p:spPr>
        <p:txBody>
          <a:bodyPr wrap="square" lIns="0" tIns="0" rIns="0" bIns="0" rtlCol="0" anchor="ctr"/>
          <a:lstStyle/>
          <a:p>
            <a:pPr indent="0" marL="0">
              <a:buNone/>
            </a:pPr>
            <a:r>
              <a:rPr lang="en-US" sz="1100" dirty="0">
                <a:solidFill>
                  <a:srgbClr val="F3D9A4"/>
                </a:solidFill>
                <a:latin typeface="Arial" pitchFamily="34" charset="0"/>
                <a:ea typeface="Arial" pitchFamily="34" charset="-122"/>
                <a:cs typeface="Arial" pitchFamily="34" charset="-120"/>
              </a:rPr>
              <a:t>3.4×</a:t>
            </a:r>
            <a:endParaRPr lang="en-US" sz="1100" dirty="0"/>
          </a:p>
        </p:txBody>
      </p:sp>
      <p:sp>
        <p:nvSpPr>
          <p:cNvPr id="36" name="Shape 34"/>
          <p:cNvSpPr/>
          <p:nvPr/>
        </p:nvSpPr>
        <p:spPr>
          <a:xfrm>
            <a:off x="9600971" y="2148840"/>
            <a:ext cx="0" cy="2212848"/>
          </a:xfrm>
          <a:prstGeom prst="line">
            <a:avLst/>
          </a:prstGeom>
          <a:noFill/>
          <a:ln w="12700">
            <a:solidFill>
              <a:srgbClr val="F6EFE4"/>
            </a:solidFill>
            <a:prstDash val="dash"/>
          </a:ln>
        </p:spPr>
      </p:sp>
      <p:sp>
        <p:nvSpPr>
          <p:cNvPr id="37" name="Text 35"/>
          <p:cNvSpPr txBox="1"/>
          <p:nvPr/>
        </p:nvSpPr>
        <p:spPr>
          <a:xfrm>
            <a:off x="3703320" y="4379976"/>
            <a:ext cx="365760" cy="182880"/>
          </a:xfrm>
          <a:prstGeom prst="rect">
            <a:avLst/>
          </a:prstGeom>
          <a:noFill/>
          <a:ln/>
        </p:spPr>
        <p:txBody>
          <a:bodyPr wrap="square" lIns="0" tIns="0" rIns="0" bIns="0" rtlCol="0" anchor="t"/>
          <a:lstStyle/>
          <a:p>
            <a:pPr algn="ctr" indent="0" marL="0">
              <a:buNone/>
            </a:pPr>
            <a:r>
              <a:rPr lang="en-US" sz="800" dirty="0">
                <a:solidFill>
                  <a:srgbClr val="8C7961"/>
                </a:solidFill>
                <a:latin typeface="Arial" pitchFamily="34" charset="0"/>
                <a:ea typeface="Arial" pitchFamily="34" charset="-122"/>
                <a:cs typeface="Arial" pitchFamily="34" charset="-120"/>
              </a:rPr>
              <a:t>0×</a:t>
            </a:r>
            <a:endParaRPr lang="en-US" sz="800" dirty="0"/>
          </a:p>
        </p:txBody>
      </p:sp>
      <p:sp>
        <p:nvSpPr>
          <p:cNvPr id="38" name="Text 36"/>
          <p:cNvSpPr txBox="1"/>
          <p:nvPr/>
        </p:nvSpPr>
        <p:spPr>
          <a:xfrm>
            <a:off x="5608244" y="4379976"/>
            <a:ext cx="365760" cy="182880"/>
          </a:xfrm>
          <a:prstGeom prst="rect">
            <a:avLst/>
          </a:prstGeom>
          <a:noFill/>
          <a:ln/>
        </p:spPr>
        <p:txBody>
          <a:bodyPr wrap="square" lIns="0" tIns="0" rIns="0" bIns="0" rtlCol="0" anchor="t"/>
          <a:lstStyle/>
          <a:p>
            <a:pPr algn="ctr" indent="0" marL="0">
              <a:buNone/>
            </a:pPr>
            <a:r>
              <a:rPr lang="en-US" sz="800" dirty="0">
                <a:solidFill>
                  <a:srgbClr val="8C7961"/>
                </a:solidFill>
                <a:latin typeface="Arial" pitchFamily="34" charset="0"/>
                <a:ea typeface="Arial" pitchFamily="34" charset="-122"/>
                <a:cs typeface="Arial" pitchFamily="34" charset="-120"/>
              </a:rPr>
              <a:t>1×</a:t>
            </a:r>
            <a:endParaRPr lang="en-US" sz="800" dirty="0"/>
          </a:p>
        </p:txBody>
      </p:sp>
      <p:sp>
        <p:nvSpPr>
          <p:cNvPr id="39" name="Text 37"/>
          <p:cNvSpPr txBox="1"/>
          <p:nvPr/>
        </p:nvSpPr>
        <p:spPr>
          <a:xfrm>
            <a:off x="7513168" y="4379976"/>
            <a:ext cx="365760" cy="182880"/>
          </a:xfrm>
          <a:prstGeom prst="rect">
            <a:avLst/>
          </a:prstGeom>
          <a:noFill/>
          <a:ln/>
        </p:spPr>
        <p:txBody>
          <a:bodyPr wrap="square" lIns="0" tIns="0" rIns="0" bIns="0" rtlCol="0" anchor="t"/>
          <a:lstStyle/>
          <a:p>
            <a:pPr algn="ctr" indent="0" marL="0">
              <a:buNone/>
            </a:pPr>
            <a:r>
              <a:rPr lang="en-US" sz="800" dirty="0">
                <a:solidFill>
                  <a:srgbClr val="8C7961"/>
                </a:solidFill>
                <a:latin typeface="Arial" pitchFamily="34" charset="0"/>
                <a:ea typeface="Arial" pitchFamily="34" charset="-122"/>
                <a:cs typeface="Arial" pitchFamily="34" charset="-120"/>
              </a:rPr>
              <a:t>2×</a:t>
            </a:r>
            <a:endParaRPr lang="en-US" sz="800" dirty="0"/>
          </a:p>
        </p:txBody>
      </p:sp>
      <p:sp>
        <p:nvSpPr>
          <p:cNvPr id="40" name="Text 38"/>
          <p:cNvSpPr txBox="1"/>
          <p:nvPr/>
        </p:nvSpPr>
        <p:spPr>
          <a:xfrm>
            <a:off x="11323015" y="4379976"/>
            <a:ext cx="365760" cy="182880"/>
          </a:xfrm>
          <a:prstGeom prst="rect">
            <a:avLst/>
          </a:prstGeom>
          <a:noFill/>
          <a:ln/>
        </p:spPr>
        <p:txBody>
          <a:bodyPr wrap="square" lIns="0" tIns="0" rIns="0" bIns="0" rtlCol="0" anchor="t"/>
          <a:lstStyle/>
          <a:p>
            <a:pPr algn="ctr" indent="0" marL="0">
              <a:buNone/>
            </a:pPr>
            <a:r>
              <a:rPr lang="en-US" sz="800" dirty="0">
                <a:solidFill>
                  <a:srgbClr val="8C7961"/>
                </a:solidFill>
                <a:latin typeface="Arial" pitchFamily="34" charset="0"/>
                <a:ea typeface="Arial" pitchFamily="34" charset="-122"/>
                <a:cs typeface="Arial" pitchFamily="34" charset="-120"/>
              </a:rPr>
              <a:t>4×</a:t>
            </a:r>
            <a:endParaRPr lang="en-US" sz="800" dirty="0"/>
          </a:p>
        </p:txBody>
      </p:sp>
      <p:sp>
        <p:nvSpPr>
          <p:cNvPr id="41" name="Text 39"/>
          <p:cNvSpPr txBox="1"/>
          <p:nvPr/>
        </p:nvSpPr>
        <p:spPr>
          <a:xfrm>
            <a:off x="8686571" y="4379976"/>
            <a:ext cx="1828800" cy="182880"/>
          </a:xfrm>
          <a:prstGeom prst="rect">
            <a:avLst/>
          </a:prstGeom>
          <a:noFill/>
          <a:ln/>
        </p:spPr>
        <p:txBody>
          <a:bodyPr wrap="square" lIns="0" tIns="0" rIns="0" bIns="0" rtlCol="0" anchor="t"/>
          <a:lstStyle/>
          <a:p>
            <a:pPr algn="ctr" indent="0" marL="0">
              <a:buNone/>
            </a:pPr>
            <a:r>
              <a:rPr lang="en-US" sz="800" b="1" spc="200" kern="0" dirty="0">
                <a:solidFill>
                  <a:srgbClr val="F6EFE4"/>
                </a:solidFill>
                <a:latin typeface="Arial" pitchFamily="34" charset="0"/>
                <a:ea typeface="Arial" pitchFamily="34" charset="-122"/>
                <a:cs typeface="Arial" pitchFamily="34" charset="-120"/>
              </a:rPr>
              <a:t>3× CAMPAIGN TARGET</a:t>
            </a:r>
            <a:endParaRPr lang="en-US" sz="800" dirty="0"/>
          </a:p>
        </p:txBody>
      </p:sp>
      <p:sp>
        <p:nvSpPr>
          <p:cNvPr id="42" name="Shape 40"/>
          <p:cNvSpPr/>
          <p:nvPr/>
        </p:nvSpPr>
        <p:spPr>
          <a:xfrm>
            <a:off x="685800" y="4754880"/>
            <a:ext cx="10820095" cy="457200"/>
          </a:xfrm>
          <a:prstGeom prst="roundRect">
            <a:avLst>
              <a:gd name="adj" fmla="val 20000"/>
            </a:avLst>
          </a:prstGeom>
          <a:solidFill>
            <a:srgbClr val="3A1A14"/>
          </a:solidFill>
          <a:ln w="9525">
            <a:solidFill>
              <a:srgbClr val="F0A497"/>
            </a:solidFill>
            <a:prstDash val="solid"/>
          </a:ln>
        </p:spPr>
      </p:sp>
      <p:sp>
        <p:nvSpPr>
          <p:cNvPr id="43" name="Text 41"/>
          <p:cNvSpPr txBox="1"/>
          <p:nvPr/>
        </p:nvSpPr>
        <p:spPr>
          <a:xfrm>
            <a:off x="914400" y="4754880"/>
            <a:ext cx="10362895" cy="4572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3.00× &lt; ≈3.03×</a:t>
            </a:r>
            <a:pPr indent="0" marL="0">
              <a:buNone/>
            </a:pPr>
            <a:r>
              <a:rPr lang="en-US" sz="1400" dirty="0">
                <a:solidFill>
                  <a:srgbClr val="FFD9D2"/>
                </a:solidFill>
                <a:latin typeface="Arial" pitchFamily="34" charset="0"/>
                <a:ea typeface="Arial" pitchFamily="34" charset="-122"/>
                <a:cs typeface="Arial" pitchFamily="34" charset="-120"/>
              </a:rPr>
              <a:t>  — at the campaign target, every seasonal-decor order loses money before shipping and returns are counted.</a:t>
            </a:r>
            <a:endParaRPr lang="en-US" sz="1400" dirty="0"/>
          </a:p>
        </p:txBody>
      </p:sp>
      <p:sp>
        <p:nvSpPr>
          <p:cNvPr id="44" name="Text 42"/>
          <p:cNvSpPr txBox="1"/>
          <p:nvPr/>
        </p:nvSpPr>
        <p:spPr>
          <a:xfrm>
            <a:off x="685800" y="5349240"/>
            <a:ext cx="10820095" cy="731520"/>
          </a:xfrm>
          <a:prstGeom prst="rect">
            <a:avLst/>
          </a:prstGeom>
          <a:noFill/>
          <a:ln/>
        </p:spPr>
        <p:txBody>
          <a:bodyPr wrap="square" lIns="0" tIns="0" rIns="0" bIns="0" rtlCol="0" anchor="t"/>
          <a:lstStyle/>
          <a:p>
            <a:pPr indent="0" marL="0">
              <a:buNone/>
            </a:pPr>
            <a:r>
              <a:rPr lang="en-US" sz="1150" dirty="0">
                <a:solidFill>
                  <a:srgbClr val="B5A186"/>
                </a:solidFill>
                <a:latin typeface="Arial" pitchFamily="34" charset="0"/>
                <a:ea typeface="Arial" pitchFamily="34" charset="-122"/>
                <a:cs typeface="Arial" pitchFamily="34" charset="-120"/>
              </a:rPr>
              <a:t>Floors are </a:t>
            </a:r>
            <a:pPr indent="0" marL="0">
              <a:buNone/>
            </a:pPr>
            <a:r>
              <a:rPr lang="en-US" sz="1150" dirty="0">
                <a:solidFill>
                  <a:srgbClr val="E8C290"/>
                </a:solidFill>
                <a:latin typeface="Arial" pitchFamily="34" charset="0"/>
                <a:ea typeface="Arial" pitchFamily="34" charset="-122"/>
                <a:cs typeface="Arial" pitchFamily="34" charset="-120"/>
              </a:rPr>
              <a:t>derived</a:t>
            </a:r>
            <a:pPr indent="0" marL="0">
              <a:buNone/>
            </a:pPr>
            <a:r>
              <a:rPr lang="en-US" sz="1150" dirty="0">
                <a:solidFill>
                  <a:srgbClr val="B5A186"/>
                </a:solidFill>
                <a:latin typeface="Arial" pitchFamily="34" charset="0"/>
                <a:ea typeface="Arial" pitchFamily="34" charset="-122"/>
                <a:cs typeface="Arial" pitchFamily="34" charset="-120"/>
              </a:rPr>
              <a:t> by the agent from the client's own R2 answer and marked ≈; the client's R3 break-even adds shipping and returns. A number that traces to no answer and isn't marked ≈ fails the review pre-check.</a:t>
            </a:r>
            <a:endParaRPr lang="en-US" sz="1150" dirty="0"/>
          </a:p>
        </p:txBody>
      </p:sp>
      <p:sp>
        <p:nvSpPr>
          <p:cNvPr id="25" name="Slide Number Placeholder 0"/>
          <p:cNvSpPr>
            <a:spLocks noGrp="1"/>
          </p:cNvSpPr>
          <p:nvPr>
            <p:ph type="sldNum" sz="quarter" idx="4294967295"/>
          </p:nvPr>
        </p:nvSpPr>
        <p:spPr>
          <a:xfrm>
            <a:off x="10408615" y="6355080"/>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7961"/>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85800" y="411480"/>
            <a:ext cx="10820095" cy="320040"/>
          </a:xfrm>
          <a:prstGeom prst="rect">
            <a:avLst/>
          </a:prstGeom>
          <a:noFill/>
          <a:ln/>
        </p:spPr>
        <p:txBody>
          <a:bodyPr wrap="square" lIns="0" tIns="0" rIns="0" bIns="0" rtlCol="0" anchor="ctr"/>
          <a:lstStyle/>
          <a:p>
            <a:pPr indent="0" marL="0">
              <a:buNone/>
            </a:pPr>
            <a:r>
              <a:rPr lang="en-US" sz="1100" spc="600" kern="0" dirty="0">
                <a:solidFill>
                  <a:srgbClr val="E8C290"/>
                </a:solidFill>
                <a:latin typeface="Arial" pitchFamily="34" charset="0"/>
                <a:ea typeface="Arial" pitchFamily="34" charset="-122"/>
                <a:cs typeface="Arial" pitchFamily="34" charset="-120"/>
              </a:rPr>
              <a:t>GUARDRAILS</a:t>
            </a:r>
            <a:endParaRPr lang="en-US" sz="1100" dirty="0"/>
          </a:p>
        </p:txBody>
      </p:sp>
      <p:sp>
        <p:nvSpPr>
          <p:cNvPr id="3" name="Text 1"/>
          <p:cNvSpPr txBox="1"/>
          <p:nvPr/>
        </p:nvSpPr>
        <p:spPr>
          <a:xfrm>
            <a:off x="685800" y="731520"/>
            <a:ext cx="10820095" cy="731520"/>
          </a:xfrm>
          <a:prstGeom prst="rect">
            <a:avLst/>
          </a:prstGeom>
          <a:noFill/>
          <a:ln/>
        </p:spPr>
        <p:txBody>
          <a:bodyPr wrap="square" lIns="0" tIns="0" rIns="0" bIns="0" rtlCol="0" anchor="t"/>
          <a:lstStyle/>
          <a:p>
            <a:pPr indent="0" marL="0">
              <a:lnSpc>
                <a:spcPct val="105000"/>
              </a:lnSpc>
              <a:buNone/>
            </a:pPr>
            <a:r>
              <a:rPr lang="en-US" sz="3400" dirty="0">
                <a:solidFill>
                  <a:srgbClr val="FFF6E6"/>
                </a:solidFill>
                <a:latin typeface="Arial" pitchFamily="34" charset="0"/>
                <a:ea typeface="Arial" pitchFamily="34" charset="-122"/>
                <a:cs typeface="Arial" pitchFamily="34" charset="-120"/>
              </a:rPr>
              <a:t>The agent drafts. </a:t>
            </a:r>
            <a:pPr indent="0" marL="0">
              <a:lnSpc>
                <a:spcPct val="105000"/>
              </a:lnSpc>
              <a:buNone/>
            </a:pPr>
            <a:r>
              <a:rPr lang="en-US" sz="3400" dirty="0">
                <a:solidFill>
                  <a:srgbClr val="F3D9A4"/>
                </a:solidFill>
                <a:latin typeface="Arial" pitchFamily="34" charset="0"/>
                <a:ea typeface="Arial" pitchFamily="34" charset="-122"/>
                <a:cs typeface="Arial" pitchFamily="34" charset="-120"/>
              </a:rPr>
              <a:t>People decide.</a:t>
            </a:r>
            <a:endParaRPr lang="en-US" sz="3400" dirty="0"/>
          </a:p>
        </p:txBody>
      </p:sp>
      <p:sp>
        <p:nvSpPr>
          <p:cNvPr id="4" name="Shape 2"/>
          <p:cNvSpPr/>
          <p:nvPr/>
        </p:nvSpPr>
        <p:spPr>
          <a:xfrm>
            <a:off x="685800" y="1802194"/>
            <a:ext cx="201168" cy="27432"/>
          </a:xfrm>
          <a:prstGeom prst="rect">
            <a:avLst/>
          </a:prstGeom>
          <a:solidFill>
            <a:srgbClr val="C9955A"/>
          </a:solidFill>
          <a:ln w="12700">
            <a:solidFill>
              <a:srgbClr val="C9955A"/>
            </a:solidFill>
            <a:prstDash val="solid"/>
          </a:ln>
        </p:spPr>
      </p:sp>
      <p:sp>
        <p:nvSpPr>
          <p:cNvPr id="5" name="Text 3"/>
          <p:cNvSpPr txBox="1"/>
          <p:nvPr/>
        </p:nvSpPr>
        <p:spPr>
          <a:xfrm>
            <a:off x="1069848" y="1691640"/>
            <a:ext cx="5376672" cy="791337"/>
          </a:xfrm>
          <a:prstGeom prst="rect">
            <a:avLst/>
          </a:prstGeom>
          <a:noFill/>
          <a:ln/>
        </p:spPr>
        <p:txBody>
          <a:bodyPr wrap="square" lIns="0" tIns="0" rIns="0" bIns="0" rtlCol="0" anchor="t"/>
          <a:lstStyle/>
          <a:p>
            <a:pPr indent="0" marL="0">
              <a:buNone/>
            </a:pPr>
            <a:r>
              <a:rPr lang="en-US" sz="1450" b="1" dirty="0">
                <a:solidFill>
                  <a:srgbClr val="FFF6E6"/>
                </a:solidFill>
                <a:latin typeface="Arial" pitchFamily="34" charset="0"/>
                <a:ea typeface="Arial" pitchFamily="34" charset="-122"/>
                <a:cs typeface="Arial" pitchFamily="34" charset="-120"/>
              </a:rPr>
              <a:t>The agent's MCP server has no approve, send or delete tool.</a:t>
            </a:r>
            <a:pPr indent="0" marL="0">
              <a:buNone/>
            </a:pPr>
            <a:r>
              <a:rPr lang="en-US" sz="1450" dirty="0">
                <a:solidFill>
                  <a:srgbClr val="E4D8C6"/>
                </a:solidFill>
                <a:latin typeface="Arial" pitchFamily="34" charset="0"/>
                <a:ea typeface="Arial" pitchFamily="34" charset="-122"/>
                <a:cs typeface="Arial" pitchFamily="34" charset="-120"/>
              </a:rPr>
              <a:t> It physically cannot approve its own work. Safety lives in the tool list, not the prompt.</a:t>
            </a:r>
            <a:endParaRPr lang="en-US" sz="1450" dirty="0"/>
          </a:p>
        </p:txBody>
      </p:sp>
      <p:sp>
        <p:nvSpPr>
          <p:cNvPr id="6" name="Shape 4"/>
          <p:cNvSpPr/>
          <p:nvPr/>
        </p:nvSpPr>
        <p:spPr>
          <a:xfrm>
            <a:off x="685800" y="2739835"/>
            <a:ext cx="201168" cy="27432"/>
          </a:xfrm>
          <a:prstGeom prst="rect">
            <a:avLst/>
          </a:prstGeom>
          <a:solidFill>
            <a:srgbClr val="C9955A"/>
          </a:solidFill>
          <a:ln w="12700">
            <a:solidFill>
              <a:srgbClr val="C9955A"/>
            </a:solidFill>
            <a:prstDash val="solid"/>
          </a:ln>
        </p:spPr>
      </p:sp>
      <p:sp>
        <p:nvSpPr>
          <p:cNvPr id="7" name="Text 5"/>
          <p:cNvSpPr txBox="1"/>
          <p:nvPr/>
        </p:nvSpPr>
        <p:spPr>
          <a:xfrm>
            <a:off x="1069848" y="2629281"/>
            <a:ext cx="5376672" cy="551942"/>
          </a:xfrm>
          <a:prstGeom prst="rect">
            <a:avLst/>
          </a:prstGeom>
          <a:noFill/>
          <a:ln/>
        </p:spPr>
        <p:txBody>
          <a:bodyPr wrap="square" lIns="0" tIns="0" rIns="0" bIns="0" rtlCol="0" anchor="t"/>
          <a:lstStyle/>
          <a:p>
            <a:pPr indent="0" marL="0">
              <a:buNone/>
            </a:pPr>
            <a:r>
              <a:rPr lang="en-US" sz="1450" b="1" dirty="0">
                <a:solidFill>
                  <a:srgbClr val="FFF6E6"/>
                </a:solidFill>
                <a:latin typeface="Arial" pitchFamily="34" charset="0"/>
                <a:ea typeface="Arial" pitchFamily="34" charset="-122"/>
                <a:cs typeface="Arial" pitchFamily="34" charset="-120"/>
              </a:rPr>
              <a:t>Self-review returns 409.</a:t>
            </a:r>
            <a:pPr indent="0" marL="0">
              <a:buNone/>
            </a:pPr>
            <a:r>
              <a:rPr lang="en-US" sz="1450" dirty="0">
                <a:solidFill>
                  <a:srgbClr val="E4D8C6"/>
                </a:solidFill>
                <a:latin typeface="Arial" pitchFamily="34" charset="0"/>
                <a:ea typeface="Arial" pitchFamily="34" charset="-122"/>
                <a:cs typeface="Arial" pitchFamily="34" charset="-120"/>
              </a:rPr>
              <a:t> Approving over a failing pre-check is refused too.</a:t>
            </a:r>
            <a:endParaRPr lang="en-US" sz="1450" dirty="0"/>
          </a:p>
        </p:txBody>
      </p:sp>
      <p:sp>
        <p:nvSpPr>
          <p:cNvPr id="8" name="Shape 6"/>
          <p:cNvSpPr/>
          <p:nvPr/>
        </p:nvSpPr>
        <p:spPr>
          <a:xfrm>
            <a:off x="685800" y="3438081"/>
            <a:ext cx="201168" cy="27432"/>
          </a:xfrm>
          <a:prstGeom prst="rect">
            <a:avLst/>
          </a:prstGeom>
          <a:solidFill>
            <a:srgbClr val="C9955A"/>
          </a:solidFill>
          <a:ln w="12700">
            <a:solidFill>
              <a:srgbClr val="C9955A"/>
            </a:solidFill>
            <a:prstDash val="solid"/>
          </a:ln>
        </p:spPr>
      </p:sp>
      <p:sp>
        <p:nvSpPr>
          <p:cNvPr id="9" name="Text 7"/>
          <p:cNvSpPr txBox="1"/>
          <p:nvPr/>
        </p:nvSpPr>
        <p:spPr>
          <a:xfrm>
            <a:off x="1069848" y="3327527"/>
            <a:ext cx="5376672" cy="551942"/>
          </a:xfrm>
          <a:prstGeom prst="rect">
            <a:avLst/>
          </a:prstGeom>
          <a:noFill/>
          <a:ln/>
        </p:spPr>
        <p:txBody>
          <a:bodyPr wrap="square" lIns="0" tIns="0" rIns="0" bIns="0" rtlCol="0" anchor="t"/>
          <a:lstStyle/>
          <a:p>
            <a:pPr indent="0" marL="0">
              <a:buNone/>
            </a:pPr>
            <a:r>
              <a:rPr lang="en-US" sz="1450" b="1" dirty="0">
                <a:solidFill>
                  <a:srgbClr val="FFF6E6"/>
                </a:solidFill>
                <a:latin typeface="Arial" pitchFamily="34" charset="0"/>
                <a:ea typeface="Arial" pitchFamily="34" charset="-122"/>
                <a:cs typeface="Arial" pitchFamily="34" charset="-120"/>
              </a:rPr>
              <a:t>Traceability pre-check:</a:t>
            </a:r>
            <a:pPr indent="0" marL="0">
              <a:buNone/>
            </a:pPr>
            <a:r>
              <a:rPr lang="en-US" sz="1450" dirty="0">
                <a:solidFill>
                  <a:srgbClr val="E4D8C6"/>
                </a:solidFill>
                <a:latin typeface="Arial" pitchFamily="34" charset="0"/>
                <a:ea typeface="Arial" pitchFamily="34" charset="-122"/>
                <a:cs typeface="Arial" pitchFamily="34" charset="-120"/>
              </a:rPr>
              <a:t> every number traces to a client answer or is marked ≈ derived.</a:t>
            </a:r>
            <a:endParaRPr lang="en-US" sz="1450" dirty="0"/>
          </a:p>
        </p:txBody>
      </p:sp>
      <p:sp>
        <p:nvSpPr>
          <p:cNvPr id="10" name="Shape 8"/>
          <p:cNvSpPr/>
          <p:nvPr/>
        </p:nvSpPr>
        <p:spPr>
          <a:xfrm>
            <a:off x="685800" y="4136327"/>
            <a:ext cx="201168" cy="27432"/>
          </a:xfrm>
          <a:prstGeom prst="rect">
            <a:avLst/>
          </a:prstGeom>
          <a:solidFill>
            <a:srgbClr val="C9955A"/>
          </a:solidFill>
          <a:ln w="12700">
            <a:solidFill>
              <a:srgbClr val="C9955A"/>
            </a:solidFill>
            <a:prstDash val="solid"/>
          </a:ln>
        </p:spPr>
      </p:sp>
      <p:sp>
        <p:nvSpPr>
          <p:cNvPr id="11" name="Text 9"/>
          <p:cNvSpPr txBox="1"/>
          <p:nvPr/>
        </p:nvSpPr>
        <p:spPr>
          <a:xfrm>
            <a:off x="1069848" y="4025773"/>
            <a:ext cx="5376672" cy="551942"/>
          </a:xfrm>
          <a:prstGeom prst="rect">
            <a:avLst/>
          </a:prstGeom>
          <a:noFill/>
          <a:ln/>
        </p:spPr>
        <p:txBody>
          <a:bodyPr wrap="square" lIns="0" tIns="0" rIns="0" bIns="0" rtlCol="0" anchor="t"/>
          <a:lstStyle/>
          <a:p>
            <a:pPr indent="0" marL="0">
              <a:buNone/>
            </a:pPr>
            <a:r>
              <a:rPr lang="en-US" sz="1450" b="1" dirty="0">
                <a:solidFill>
                  <a:srgbClr val="FFF6E6"/>
                </a:solidFill>
                <a:latin typeface="Arial" pitchFamily="34" charset="0"/>
                <a:ea typeface="Arial" pitchFamily="34" charset="-122"/>
                <a:cs typeface="Arial" pitchFamily="34" charset="-120"/>
              </a:rPr>
              <a:t>Client text is quoted data between fixed delimiters,</a:t>
            </a:r>
            <a:pPr indent="0" marL="0">
              <a:buNone/>
            </a:pPr>
            <a:r>
              <a:rPr lang="en-US" sz="1450" dirty="0">
                <a:solidFill>
                  <a:srgbClr val="E4D8C6"/>
                </a:solidFill>
                <a:latin typeface="Arial" pitchFamily="34" charset="0"/>
                <a:ea typeface="Arial" pitchFamily="34" charset="-122"/>
                <a:cs typeface="Arial" pitchFamily="34" charset="-120"/>
              </a:rPr>
              <a:t> never an instruction. Every output is schema-checked.</a:t>
            </a:r>
            <a:endParaRPr lang="en-US" sz="1450" dirty="0"/>
          </a:p>
        </p:txBody>
      </p:sp>
      <p:sp>
        <p:nvSpPr>
          <p:cNvPr id="12" name="Shape 10"/>
          <p:cNvSpPr/>
          <p:nvPr/>
        </p:nvSpPr>
        <p:spPr>
          <a:xfrm>
            <a:off x="6995160" y="1691640"/>
            <a:ext cx="4510735" cy="2514600"/>
          </a:xfrm>
          <a:prstGeom prst="roundRect">
            <a:avLst>
              <a:gd name="adj" fmla="val 4364"/>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13" name="Shape 11"/>
          <p:cNvSpPr/>
          <p:nvPr/>
        </p:nvSpPr>
        <p:spPr>
          <a:xfrm>
            <a:off x="6995160" y="1691640"/>
            <a:ext cx="4510735" cy="2514600"/>
          </a:xfrm>
          <a:prstGeom prst="roundRect">
            <a:avLst>
              <a:gd name="adj" fmla="val 4364"/>
            </a:avLst>
          </a:prstGeom>
          <a:solidFill>
            <a:srgbClr val="1F1610">
              <a:alpha val="0"/>
            </a:srgbClr>
          </a:solidFill>
          <a:ln w="12700">
            <a:solidFill>
              <a:srgbClr val="E8C290"/>
            </a:solidFill>
            <a:prstDash val="solid"/>
          </a:ln>
        </p:spPr>
      </p:sp>
      <p:sp>
        <p:nvSpPr>
          <p:cNvPr id="14" name="Text 12"/>
          <p:cNvSpPr txBox="1"/>
          <p:nvPr/>
        </p:nvSpPr>
        <p:spPr>
          <a:xfrm>
            <a:off x="7223760" y="1874520"/>
            <a:ext cx="4053535" cy="228600"/>
          </a:xfrm>
          <a:prstGeom prst="rect">
            <a:avLst/>
          </a:prstGeom>
          <a:noFill/>
          <a:ln/>
        </p:spPr>
        <p:txBody>
          <a:bodyPr wrap="square" lIns="0" tIns="0" rIns="0" bIns="0" rtlCol="0" anchor="t"/>
          <a:lstStyle/>
          <a:p>
            <a:pPr indent="0" marL="0">
              <a:buNone/>
            </a:pPr>
            <a:r>
              <a:rPr lang="en-US" sz="1000" dirty="0">
                <a:solidFill>
                  <a:srgbClr val="E8C290"/>
                </a:solidFill>
                <a:latin typeface="Courier New" pitchFamily="34" charset="0"/>
                <a:ea typeface="Courier New" pitchFamily="34" charset="-122"/>
                <a:cs typeface="Courier New" pitchFamily="34" charset="-120"/>
              </a:rPr>
              <a:t>SPEC-003-T02 · review · G3</a:t>
            </a:r>
            <a:endParaRPr lang="en-US" sz="1000" dirty="0"/>
          </a:p>
        </p:txBody>
      </p:sp>
      <p:sp>
        <p:nvSpPr>
          <p:cNvPr id="15" name="Text 13"/>
          <p:cNvSpPr txBox="1"/>
          <p:nvPr/>
        </p:nvSpPr>
        <p:spPr>
          <a:xfrm>
            <a:off x="7223760" y="2130552"/>
            <a:ext cx="4053535" cy="365760"/>
          </a:xfrm>
          <a:prstGeom prst="rect">
            <a:avLst/>
          </a:prstGeom>
          <a:noFill/>
          <a:ln/>
        </p:spPr>
        <p:txBody>
          <a:bodyPr wrap="square" lIns="0" tIns="0" rIns="0" bIns="0" rtlCol="0" anchor="ctr"/>
          <a:lstStyle/>
          <a:p>
            <a:pPr indent="0" marL="0">
              <a:buNone/>
            </a:pPr>
            <a:r>
              <a:rPr lang="en-US" sz="1700" dirty="0">
                <a:solidFill>
                  <a:srgbClr val="FFF6E6"/>
                </a:solidFill>
                <a:latin typeface="Arial" pitchFamily="34" charset="0"/>
                <a:ea typeface="Arial" pitchFamily="34" charset="-122"/>
                <a:cs typeface="Arial" pitchFamily="34" charset="-120"/>
              </a:rPr>
              <a:t>Break-even ROAS table by category</a:t>
            </a:r>
            <a:endParaRPr lang="en-US" sz="1700" dirty="0"/>
          </a:p>
        </p:txBody>
      </p:sp>
      <p:sp>
        <p:nvSpPr>
          <p:cNvPr id="16" name="Shape 14"/>
          <p:cNvSpPr/>
          <p:nvPr/>
        </p:nvSpPr>
        <p:spPr>
          <a:xfrm>
            <a:off x="7223760" y="2606040"/>
            <a:ext cx="4053535" cy="0"/>
          </a:xfrm>
          <a:prstGeom prst="line">
            <a:avLst/>
          </a:prstGeom>
          <a:noFill/>
          <a:ln w="9525">
            <a:solidFill>
              <a:srgbClr val="332A1F"/>
            </a:solidFill>
            <a:prstDash val="solid"/>
          </a:ln>
        </p:spPr>
      </p:sp>
      <p:sp>
        <p:nvSpPr>
          <p:cNvPr id="17" name="Text 15"/>
          <p:cNvSpPr txBox="1"/>
          <p:nvPr/>
        </p:nvSpPr>
        <p:spPr>
          <a:xfrm>
            <a:off x="7223760" y="2715768"/>
            <a:ext cx="1097280" cy="274320"/>
          </a:xfrm>
          <a:prstGeom prst="rect">
            <a:avLst/>
          </a:prstGeom>
          <a:noFill/>
          <a:ln/>
        </p:spPr>
        <p:txBody>
          <a:bodyPr wrap="square" lIns="0" tIns="0" rIns="0" bIns="0" rtlCol="0" anchor="t"/>
          <a:lstStyle/>
          <a:p>
            <a:pPr indent="0" marL="0">
              <a:buNone/>
            </a:pPr>
            <a:r>
              <a:rPr lang="en-US" sz="800" spc="300" kern="0" dirty="0">
                <a:solidFill>
                  <a:srgbClr val="8C7961"/>
                </a:solidFill>
                <a:latin typeface="Arial" pitchFamily="34" charset="0"/>
                <a:ea typeface="Arial" pitchFamily="34" charset="-122"/>
                <a:cs typeface="Arial" pitchFamily="34" charset="-120"/>
              </a:rPr>
              <a:t>BUILDER</a:t>
            </a:r>
            <a:endParaRPr lang="en-US" sz="800" dirty="0"/>
          </a:p>
        </p:txBody>
      </p:sp>
      <p:sp>
        <p:nvSpPr>
          <p:cNvPr id="18" name="Shape 16"/>
          <p:cNvSpPr/>
          <p:nvPr/>
        </p:nvSpPr>
        <p:spPr>
          <a:xfrm>
            <a:off x="8321040" y="2697480"/>
            <a:ext cx="274320" cy="274320"/>
          </a:xfrm>
          <a:prstGeom prst="ellipse">
            <a:avLst/>
          </a:prstGeom>
          <a:solidFill>
            <a:srgbClr val="3F9F9F"/>
          </a:solidFill>
          <a:ln w="12700">
            <a:solidFill>
              <a:srgbClr val="3F9F9F"/>
            </a:solidFill>
            <a:prstDash val="solid"/>
          </a:ln>
        </p:spPr>
      </p:sp>
      <p:sp>
        <p:nvSpPr>
          <p:cNvPr id="19" name="Text 17"/>
          <p:cNvSpPr txBox="1"/>
          <p:nvPr/>
        </p:nvSpPr>
        <p:spPr>
          <a:xfrm>
            <a:off x="8321040" y="2697480"/>
            <a:ext cx="27432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JL</a:t>
            </a:r>
            <a:endParaRPr lang="en-US" sz="700" dirty="0"/>
          </a:p>
        </p:txBody>
      </p:sp>
      <p:sp>
        <p:nvSpPr>
          <p:cNvPr id="20" name="Text 18"/>
          <p:cNvSpPr txBox="1"/>
          <p:nvPr/>
        </p:nvSpPr>
        <p:spPr>
          <a:xfrm>
            <a:off x="8686800" y="2679192"/>
            <a:ext cx="2499055" cy="310896"/>
          </a:xfrm>
          <a:prstGeom prst="rect">
            <a:avLst/>
          </a:prstGeom>
          <a:noFill/>
          <a:ln/>
        </p:spPr>
        <p:txBody>
          <a:bodyPr wrap="square" lIns="0" tIns="0" rIns="0" bIns="0" rtlCol="0" anchor="ctr"/>
          <a:lstStyle/>
          <a:p>
            <a:pPr indent="0" marL="0">
              <a:buNone/>
            </a:pPr>
            <a:r>
              <a:rPr lang="en-US" sz="1300" dirty="0">
                <a:solidFill>
                  <a:srgbClr val="F6EFE4"/>
                </a:solidFill>
                <a:latin typeface="Arial" pitchFamily="34" charset="0"/>
                <a:ea typeface="Arial" pitchFamily="34" charset="-122"/>
                <a:cs typeface="Arial" pitchFamily="34" charset="-120"/>
              </a:rPr>
              <a:t>Jordan Lee · Data Analyst</a:t>
            </a:r>
            <a:endParaRPr lang="en-US" sz="1300" dirty="0"/>
          </a:p>
        </p:txBody>
      </p:sp>
      <p:sp>
        <p:nvSpPr>
          <p:cNvPr id="21" name="Shape 19"/>
          <p:cNvSpPr/>
          <p:nvPr/>
        </p:nvSpPr>
        <p:spPr>
          <a:xfrm>
            <a:off x="7223760" y="3063240"/>
            <a:ext cx="4053535" cy="0"/>
          </a:xfrm>
          <a:prstGeom prst="line">
            <a:avLst/>
          </a:prstGeom>
          <a:noFill/>
          <a:ln w="9525">
            <a:solidFill>
              <a:srgbClr val="332A1F"/>
            </a:solidFill>
            <a:prstDash val="solid"/>
          </a:ln>
        </p:spPr>
      </p:sp>
      <p:sp>
        <p:nvSpPr>
          <p:cNvPr id="22" name="Text 20"/>
          <p:cNvSpPr txBox="1"/>
          <p:nvPr/>
        </p:nvSpPr>
        <p:spPr>
          <a:xfrm>
            <a:off x="7223760" y="3172968"/>
            <a:ext cx="1097280" cy="274320"/>
          </a:xfrm>
          <a:prstGeom prst="rect">
            <a:avLst/>
          </a:prstGeom>
          <a:noFill/>
          <a:ln/>
        </p:spPr>
        <p:txBody>
          <a:bodyPr wrap="square" lIns="0" tIns="0" rIns="0" bIns="0" rtlCol="0" anchor="t"/>
          <a:lstStyle/>
          <a:p>
            <a:pPr indent="0" marL="0">
              <a:buNone/>
            </a:pPr>
            <a:r>
              <a:rPr lang="en-US" sz="800" spc="300" kern="0" dirty="0">
                <a:solidFill>
                  <a:srgbClr val="8C7961"/>
                </a:solidFill>
                <a:latin typeface="Arial" pitchFamily="34" charset="0"/>
                <a:ea typeface="Arial" pitchFamily="34" charset="-122"/>
                <a:cs typeface="Arial" pitchFamily="34" charset="-120"/>
              </a:rPr>
              <a:t>REVIEWER</a:t>
            </a:r>
            <a:endParaRPr lang="en-US" sz="800" dirty="0"/>
          </a:p>
        </p:txBody>
      </p:sp>
      <p:sp>
        <p:nvSpPr>
          <p:cNvPr id="23" name="Shape 21"/>
          <p:cNvSpPr/>
          <p:nvPr/>
        </p:nvSpPr>
        <p:spPr>
          <a:xfrm>
            <a:off x="8321040" y="3154680"/>
            <a:ext cx="274320" cy="274320"/>
          </a:xfrm>
          <a:prstGeom prst="ellipse">
            <a:avLst/>
          </a:prstGeom>
          <a:solidFill>
            <a:srgbClr val="3F9F9F"/>
          </a:solidFill>
          <a:ln w="12700">
            <a:solidFill>
              <a:srgbClr val="3F9F9F"/>
            </a:solidFill>
            <a:prstDash val="solid"/>
          </a:ln>
        </p:spPr>
      </p:sp>
      <p:sp>
        <p:nvSpPr>
          <p:cNvPr id="24" name="Text 22"/>
          <p:cNvSpPr txBox="1"/>
          <p:nvPr/>
        </p:nvSpPr>
        <p:spPr>
          <a:xfrm>
            <a:off x="8321040" y="3154680"/>
            <a:ext cx="274320" cy="27432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MD</a:t>
            </a:r>
            <a:endParaRPr lang="en-US" sz="700" dirty="0"/>
          </a:p>
        </p:txBody>
      </p:sp>
      <p:sp>
        <p:nvSpPr>
          <p:cNvPr id="25" name="Text 23"/>
          <p:cNvSpPr txBox="1"/>
          <p:nvPr/>
        </p:nvSpPr>
        <p:spPr>
          <a:xfrm>
            <a:off x="8686800" y="3136392"/>
            <a:ext cx="2499055" cy="310896"/>
          </a:xfrm>
          <a:prstGeom prst="rect">
            <a:avLst/>
          </a:prstGeom>
          <a:noFill/>
          <a:ln/>
        </p:spPr>
        <p:txBody>
          <a:bodyPr wrap="square" lIns="0" tIns="0" rIns="0" bIns="0" rtlCol="0" anchor="ctr"/>
          <a:lstStyle/>
          <a:p>
            <a:pPr indent="0" marL="0">
              <a:buNone/>
            </a:pPr>
            <a:r>
              <a:rPr lang="en-US" sz="1300" dirty="0">
                <a:solidFill>
                  <a:srgbClr val="F3D9A4"/>
                </a:solidFill>
                <a:latin typeface="Arial" pitchFamily="34" charset="0"/>
                <a:ea typeface="Arial" pitchFamily="34" charset="-122"/>
                <a:cs typeface="Arial" pitchFamily="34" charset="-120"/>
              </a:rPr>
              <a:t>Morgan Diaz · Data Analyst</a:t>
            </a:r>
            <a:endParaRPr lang="en-US" sz="1300" dirty="0"/>
          </a:p>
        </p:txBody>
      </p:sp>
      <p:sp>
        <p:nvSpPr>
          <p:cNvPr id="26" name="Shape 24"/>
          <p:cNvSpPr/>
          <p:nvPr/>
        </p:nvSpPr>
        <p:spPr>
          <a:xfrm>
            <a:off x="7223760" y="3611880"/>
            <a:ext cx="1463040" cy="310896"/>
          </a:xfrm>
          <a:prstGeom prst="roundRect">
            <a:avLst>
              <a:gd name="adj" fmla="val 50000"/>
            </a:avLst>
          </a:prstGeom>
          <a:solidFill>
            <a:srgbClr val="F3D9A4"/>
          </a:solidFill>
          <a:ln w="9525">
            <a:solidFill>
              <a:srgbClr val="F3D9A4"/>
            </a:solidFill>
            <a:prstDash val="solid"/>
          </a:ln>
        </p:spPr>
      </p:sp>
      <p:sp>
        <p:nvSpPr>
          <p:cNvPr id="27" name="Text 25"/>
          <p:cNvSpPr txBox="1"/>
          <p:nvPr/>
        </p:nvSpPr>
        <p:spPr>
          <a:xfrm>
            <a:off x="7223760" y="3611880"/>
            <a:ext cx="1463040" cy="310896"/>
          </a:xfrm>
          <a:prstGeom prst="rect">
            <a:avLst/>
          </a:prstGeom>
          <a:noFill/>
          <a:ln/>
        </p:spPr>
        <p:txBody>
          <a:bodyPr wrap="square" lIns="0" tIns="0" rIns="0" bIns="0" rtlCol="0" anchor="ctr"/>
          <a:lstStyle/>
          <a:p>
            <a:pPr algn="ctr" indent="0" marL="0">
              <a:buNone/>
            </a:pPr>
            <a:r>
              <a:rPr lang="en-US" sz="1100" b="1" dirty="0">
                <a:solidFill>
                  <a:srgbClr val="2A1B0C"/>
                </a:solidFill>
                <a:latin typeface="Arial" pitchFamily="34" charset="0"/>
                <a:ea typeface="Arial" pitchFamily="34" charset="-122"/>
                <a:cs typeface="Arial" pitchFamily="34" charset="-120"/>
              </a:rPr>
              <a:t>Approve  G3</a:t>
            </a:r>
            <a:endParaRPr lang="en-US" sz="1100" dirty="0"/>
          </a:p>
        </p:txBody>
      </p:sp>
      <p:sp>
        <p:nvSpPr>
          <p:cNvPr id="28" name="Shape 26"/>
          <p:cNvSpPr/>
          <p:nvPr/>
        </p:nvSpPr>
        <p:spPr>
          <a:xfrm rot="-480000">
            <a:off x="9311335" y="3474720"/>
            <a:ext cx="1920240" cy="548640"/>
          </a:xfrm>
          <a:prstGeom prst="roundRect">
            <a:avLst>
              <a:gd name="adj" fmla="val 13333"/>
            </a:avLst>
          </a:prstGeom>
          <a:solidFill>
            <a:srgbClr val="120C08">
              <a:alpha val="70000"/>
            </a:srgbClr>
          </a:solidFill>
          <a:ln w="25400">
            <a:solidFill>
              <a:srgbClr val="F3D9A4"/>
            </a:solidFill>
            <a:prstDash val="solid"/>
          </a:ln>
        </p:spPr>
      </p:sp>
      <p:sp>
        <p:nvSpPr>
          <p:cNvPr id="29" name="Text 27"/>
          <p:cNvSpPr txBox="1"/>
          <p:nvPr/>
        </p:nvSpPr>
        <p:spPr>
          <a:xfrm rot="-480000">
            <a:off x="9311335" y="3474720"/>
            <a:ext cx="1920240" cy="548640"/>
          </a:xfrm>
          <a:prstGeom prst="rect">
            <a:avLst/>
          </a:prstGeom>
          <a:noFill/>
          <a:ln/>
        </p:spPr>
        <p:txBody>
          <a:bodyPr wrap="square" lIns="0" tIns="0" rIns="0" bIns="0" rtlCol="0" anchor="ctr"/>
          <a:lstStyle/>
          <a:p>
            <a:pPr algn="ctr" indent="0" marL="0">
              <a:buNone/>
            </a:pPr>
            <a:r>
              <a:rPr lang="en-US" sz="1300" b="1" spc="400" kern="0" dirty="0">
                <a:solidFill>
                  <a:srgbClr val="F3D9A4"/>
                </a:solidFill>
                <a:latin typeface="Arial" pitchFamily="34" charset="0"/>
                <a:ea typeface="Arial" pitchFamily="34" charset="-122"/>
                <a:cs typeface="Arial" pitchFamily="34" charset="-120"/>
              </a:rPr>
              <a:t>APPROVED</a:t>
            </a:r>
            <a:pPr algn="ctr" indent="0" marL="0">
              <a:buNone/>
            </a:pPr>
            <a:endParaRPr lang="en-US" sz="1300" dirty="0"/>
          </a:p>
          <a:p>
            <a:pPr algn="ctr" indent="0" marL="0">
              <a:buNone/>
            </a:pPr>
            <a:r>
              <a:rPr lang="en-US" sz="700" spc="300" kern="0" dirty="0">
                <a:solidFill>
                  <a:srgbClr val="F3D9A4"/>
                </a:solidFill>
                <a:latin typeface="Arial" pitchFamily="34" charset="0"/>
                <a:ea typeface="Arial" pitchFamily="34" charset="-122"/>
                <a:cs typeface="Arial" pitchFamily="34" charset="-120"/>
              </a:rPr>
              <a:t>G3 · MORGAN DIAZ</a:t>
            </a:r>
            <a:endParaRPr lang="en-US" sz="1300" dirty="0"/>
          </a:p>
        </p:txBody>
      </p:sp>
      <p:sp>
        <p:nvSpPr>
          <p:cNvPr id="30" name="Shape 28"/>
          <p:cNvSpPr/>
          <p:nvPr/>
        </p:nvSpPr>
        <p:spPr>
          <a:xfrm>
            <a:off x="6995160" y="4389120"/>
            <a:ext cx="4510735" cy="1097280"/>
          </a:xfrm>
          <a:prstGeom prst="roundRect">
            <a:avLst>
              <a:gd name="adj" fmla="val 10000"/>
            </a:avLst>
          </a:prstGeom>
          <a:solidFill>
            <a:srgbClr val="3A130D"/>
          </a:solidFill>
          <a:ln w="9525">
            <a:solidFill>
              <a:srgbClr val="F0A497"/>
            </a:solidFill>
            <a:prstDash val="solid"/>
          </a:ln>
        </p:spPr>
      </p:sp>
      <p:sp>
        <p:nvSpPr>
          <p:cNvPr id="31" name="Text 29"/>
          <p:cNvSpPr txBox="1"/>
          <p:nvPr/>
        </p:nvSpPr>
        <p:spPr>
          <a:xfrm>
            <a:off x="7223760" y="4434840"/>
            <a:ext cx="1554480" cy="100584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409</a:t>
            </a:r>
            <a:endParaRPr lang="en-US" sz="4800" dirty="0"/>
          </a:p>
        </p:txBody>
      </p:sp>
      <p:sp>
        <p:nvSpPr>
          <p:cNvPr id="32" name="Text 30"/>
          <p:cNvSpPr txBox="1"/>
          <p:nvPr/>
        </p:nvSpPr>
        <p:spPr>
          <a:xfrm>
            <a:off x="8823960" y="4434840"/>
            <a:ext cx="2453335" cy="1005840"/>
          </a:xfrm>
          <a:prstGeom prst="rect">
            <a:avLst/>
          </a:prstGeom>
          <a:noFill/>
          <a:ln/>
        </p:spPr>
        <p:txBody>
          <a:bodyPr wrap="square" lIns="0" tIns="0" rIns="0" bIns="0" rtlCol="0" anchor="ctr"/>
          <a:lstStyle/>
          <a:p>
            <a:pPr indent="0" marL="0">
              <a:buNone/>
            </a:pPr>
            <a:r>
              <a:rPr lang="en-US" sz="1400" b="1" dirty="0">
                <a:solidFill>
                  <a:srgbClr val="FFF6E6"/>
                </a:solidFill>
                <a:latin typeface="Arial" pitchFamily="34" charset="0"/>
                <a:ea typeface="Arial" pitchFamily="34" charset="-122"/>
                <a:cs typeface="Arial" pitchFamily="34" charset="-120"/>
              </a:rPr>
              <a:t>The reviewer must differ from the builder.</a:t>
            </a:r>
            <a:pPr indent="0" marL="0">
              <a:buNone/>
            </a:pPr>
            <a:endParaRPr lang="en-US" sz="1400" dirty="0"/>
          </a:p>
          <a:p>
            <a:pPr indent="0" marL="0">
              <a:buNone/>
            </a:pPr>
            <a:r>
              <a:rPr lang="en-US" sz="1100" dirty="0">
                <a:solidFill>
                  <a:srgbClr val="FFD9D2"/>
                </a:solidFill>
                <a:latin typeface="Arial" pitchFamily="34" charset="0"/>
                <a:ea typeface="Arial" pitchFamily="34" charset="-122"/>
                <a:cs typeface="Arial" pitchFamily="34" charset="-120"/>
              </a:rPr>
              <a:t>What the API returned when Jordan tried to approve Jordan's own ticket. Refused once; reviewer changed; approved by a different person.</a:t>
            </a:r>
            <a:endParaRPr lang="en-US" sz="1400" dirty="0"/>
          </a:p>
        </p:txBody>
      </p:sp>
      <p:sp>
        <p:nvSpPr>
          <p:cNvPr id="25" name="Slide Number Placeholder 0"/>
          <p:cNvSpPr>
            <a:spLocks noGrp="1"/>
          </p:cNvSpPr>
          <p:nvPr>
            <p:ph type="sldNum" sz="quarter" idx="4294967295"/>
          </p:nvPr>
        </p:nvSpPr>
        <p:spPr>
          <a:xfrm>
            <a:off x="10408615" y="6355080"/>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7961"/>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85800" y="411480"/>
            <a:ext cx="10820095" cy="320040"/>
          </a:xfrm>
          <a:prstGeom prst="rect">
            <a:avLst/>
          </a:prstGeom>
          <a:noFill/>
          <a:ln/>
        </p:spPr>
        <p:txBody>
          <a:bodyPr wrap="square" lIns="0" tIns="0" rIns="0" bIns="0" rtlCol="0" anchor="ctr"/>
          <a:lstStyle/>
          <a:p>
            <a:pPr indent="0" marL="0">
              <a:buNone/>
            </a:pPr>
            <a:r>
              <a:rPr lang="en-US" sz="1100" spc="600" kern="0" dirty="0">
                <a:solidFill>
                  <a:srgbClr val="E8C290"/>
                </a:solidFill>
                <a:latin typeface="Arial" pitchFamily="34" charset="0"/>
                <a:ea typeface="Arial" pitchFamily="34" charset="-122"/>
                <a:cs typeface="Arial" pitchFamily="34" charset="-120"/>
              </a:rPr>
              <a:t>LOCAL-FIRST BY CONSTRUCTION</a:t>
            </a:r>
            <a:endParaRPr lang="en-US" sz="1100" dirty="0"/>
          </a:p>
        </p:txBody>
      </p:sp>
      <p:sp>
        <p:nvSpPr>
          <p:cNvPr id="3" name="Text 1"/>
          <p:cNvSpPr txBox="1"/>
          <p:nvPr/>
        </p:nvSpPr>
        <p:spPr>
          <a:xfrm>
            <a:off x="685800" y="731520"/>
            <a:ext cx="10820095" cy="731520"/>
          </a:xfrm>
          <a:prstGeom prst="rect">
            <a:avLst/>
          </a:prstGeom>
          <a:noFill/>
          <a:ln/>
        </p:spPr>
        <p:txBody>
          <a:bodyPr wrap="square" lIns="0" tIns="0" rIns="0" bIns="0" rtlCol="0" anchor="t"/>
          <a:lstStyle/>
          <a:p>
            <a:pPr indent="0" marL="0">
              <a:lnSpc>
                <a:spcPct val="105000"/>
              </a:lnSpc>
              <a:buNone/>
            </a:pPr>
            <a:r>
              <a:rPr lang="en-US" sz="3400" dirty="0">
                <a:solidFill>
                  <a:srgbClr val="FFF6E6"/>
                </a:solidFill>
                <a:latin typeface="Arial" pitchFamily="34" charset="0"/>
                <a:ea typeface="Arial" pitchFamily="34" charset="-122"/>
                <a:cs typeface="Arial" pitchFamily="34" charset="-120"/>
              </a:rPr>
              <a:t>Nothing leaves the box. </a:t>
            </a:r>
            <a:pPr indent="0" marL="0">
              <a:lnSpc>
                <a:spcPct val="105000"/>
              </a:lnSpc>
              <a:buNone/>
            </a:pPr>
            <a:r>
              <a:rPr lang="en-US" sz="3400" dirty="0">
                <a:solidFill>
                  <a:srgbClr val="F3D9A4"/>
                </a:solidFill>
                <a:latin typeface="Arial" pitchFamily="34" charset="0"/>
                <a:ea typeface="Arial" pitchFamily="34" charset="-122"/>
                <a:cs typeface="Arial" pitchFamily="34" charset="-120"/>
              </a:rPr>
              <a:t>By code, not by promise.</a:t>
            </a:r>
            <a:endParaRPr lang="en-US" sz="3400" dirty="0"/>
          </a:p>
        </p:txBody>
      </p:sp>
      <p:sp>
        <p:nvSpPr>
          <p:cNvPr id="4" name="Shape 2"/>
          <p:cNvSpPr/>
          <p:nvPr/>
        </p:nvSpPr>
        <p:spPr>
          <a:xfrm>
            <a:off x="685800" y="1802194"/>
            <a:ext cx="201168" cy="27432"/>
          </a:xfrm>
          <a:prstGeom prst="rect">
            <a:avLst/>
          </a:prstGeom>
          <a:solidFill>
            <a:srgbClr val="C9955A"/>
          </a:solidFill>
          <a:ln w="12700">
            <a:solidFill>
              <a:srgbClr val="C9955A"/>
            </a:solidFill>
            <a:prstDash val="solid"/>
          </a:ln>
        </p:spPr>
      </p:sp>
      <p:sp>
        <p:nvSpPr>
          <p:cNvPr id="5" name="Text 3"/>
          <p:cNvSpPr txBox="1"/>
          <p:nvPr/>
        </p:nvSpPr>
        <p:spPr>
          <a:xfrm>
            <a:off x="1069848" y="1691640"/>
            <a:ext cx="5376672" cy="551942"/>
          </a:xfrm>
          <a:prstGeom prst="rect">
            <a:avLst/>
          </a:prstGeom>
          <a:noFill/>
          <a:ln/>
        </p:spPr>
        <p:txBody>
          <a:bodyPr wrap="square" lIns="0" tIns="0" rIns="0" bIns="0" rtlCol="0" anchor="t"/>
          <a:lstStyle/>
          <a:p>
            <a:pPr indent="0" marL="0">
              <a:buNone/>
            </a:pPr>
            <a:r>
              <a:rPr lang="en-US" sz="1450" b="1" dirty="0">
                <a:solidFill>
                  <a:srgbClr val="FFF6E6"/>
                </a:solidFill>
                <a:latin typeface="Arial" pitchFamily="34" charset="0"/>
                <a:ea typeface="Arial" pitchFamily="34" charset="-122"/>
                <a:cs typeface="Arial" pitchFamily="34" charset="-120"/>
              </a:rPr>
              <a:t>Refuses to start</a:t>
            </a:r>
            <a:pPr indent="0" marL="0">
              <a:buNone/>
            </a:pPr>
            <a:r>
              <a:rPr lang="en-US" sz="1450" dirty="0">
                <a:solidFill>
                  <a:srgbClr val="E4D8C6"/>
                </a:solidFill>
                <a:latin typeface="Arial" pitchFamily="34" charset="0"/>
                <a:ea typeface="Arial" pitchFamily="34" charset="-122"/>
                <a:cs typeface="Arial" pitchFamily="34" charset="-120"/>
              </a:rPr>
              <a:t> if the model URL isn't loopback: a LocalOnlyError, not a comment in .env.</a:t>
            </a:r>
            <a:endParaRPr lang="en-US" sz="1450" dirty="0"/>
          </a:p>
        </p:txBody>
      </p:sp>
      <p:sp>
        <p:nvSpPr>
          <p:cNvPr id="6" name="Shape 4"/>
          <p:cNvSpPr/>
          <p:nvPr/>
        </p:nvSpPr>
        <p:spPr>
          <a:xfrm>
            <a:off x="685800" y="2500440"/>
            <a:ext cx="201168" cy="27432"/>
          </a:xfrm>
          <a:prstGeom prst="rect">
            <a:avLst/>
          </a:prstGeom>
          <a:solidFill>
            <a:srgbClr val="C9955A"/>
          </a:solidFill>
          <a:ln w="12700">
            <a:solidFill>
              <a:srgbClr val="C9955A"/>
            </a:solidFill>
            <a:prstDash val="solid"/>
          </a:ln>
        </p:spPr>
      </p:sp>
      <p:sp>
        <p:nvSpPr>
          <p:cNvPr id="7" name="Text 5"/>
          <p:cNvSpPr txBox="1"/>
          <p:nvPr/>
        </p:nvSpPr>
        <p:spPr>
          <a:xfrm>
            <a:off x="1069848" y="2389886"/>
            <a:ext cx="5376672" cy="791337"/>
          </a:xfrm>
          <a:prstGeom prst="rect">
            <a:avLst/>
          </a:prstGeom>
          <a:noFill/>
          <a:ln/>
        </p:spPr>
        <p:txBody>
          <a:bodyPr wrap="square" lIns="0" tIns="0" rIns="0" bIns="0" rtlCol="0" anchor="t"/>
          <a:lstStyle/>
          <a:p>
            <a:pPr indent="0" marL="0">
              <a:buNone/>
            </a:pPr>
            <a:r>
              <a:rPr lang="en-US" sz="1450" b="1" dirty="0">
                <a:solidFill>
                  <a:srgbClr val="FFF6E6"/>
                </a:solidFill>
                <a:latin typeface="Arial" pitchFamily="34" charset="0"/>
                <a:ea typeface="Arial" pitchFamily="34" charset="-122"/>
                <a:cs typeface="Arial" pitchFamily="34" charset="-120"/>
              </a:rPr>
              <a:t>CSP default-src 'none':</a:t>
            </a:r>
            <a:pPr indent="0" marL="0">
              <a:buNone/>
            </a:pPr>
            <a:r>
              <a:rPr lang="en-US" sz="1450" dirty="0">
                <a:solidFill>
                  <a:srgbClr val="E4D8C6"/>
                </a:solidFill>
                <a:latin typeface="Arial" pitchFamily="34" charset="0"/>
                <a:ea typeface="Arial" pitchFamily="34" charset="-122"/>
                <a:cs typeface="Arial" pitchFamily="34" charset="-120"/>
              </a:rPr>
              <a:t> no fonts, no CDN, no telemetry. The console, and this deck, load nothing from the network.</a:t>
            </a:r>
            <a:endParaRPr lang="en-US" sz="1450" dirty="0"/>
          </a:p>
        </p:txBody>
      </p:sp>
      <p:sp>
        <p:nvSpPr>
          <p:cNvPr id="8" name="Shape 6"/>
          <p:cNvSpPr/>
          <p:nvPr/>
        </p:nvSpPr>
        <p:spPr>
          <a:xfrm>
            <a:off x="685800" y="3438081"/>
            <a:ext cx="201168" cy="27432"/>
          </a:xfrm>
          <a:prstGeom prst="rect">
            <a:avLst/>
          </a:prstGeom>
          <a:solidFill>
            <a:srgbClr val="C9955A"/>
          </a:solidFill>
          <a:ln w="12700">
            <a:solidFill>
              <a:srgbClr val="C9955A"/>
            </a:solidFill>
            <a:prstDash val="solid"/>
          </a:ln>
        </p:spPr>
      </p:sp>
      <p:sp>
        <p:nvSpPr>
          <p:cNvPr id="9" name="Text 7"/>
          <p:cNvSpPr txBox="1"/>
          <p:nvPr/>
        </p:nvSpPr>
        <p:spPr>
          <a:xfrm>
            <a:off x="1069848" y="3327527"/>
            <a:ext cx="5376672" cy="791337"/>
          </a:xfrm>
          <a:prstGeom prst="rect">
            <a:avLst/>
          </a:prstGeom>
          <a:noFill/>
          <a:ln/>
        </p:spPr>
        <p:txBody>
          <a:bodyPr wrap="square" lIns="0" tIns="0" rIns="0" bIns="0" rtlCol="0" anchor="t"/>
          <a:lstStyle/>
          <a:p>
            <a:pPr indent="0" marL="0">
              <a:buNone/>
            </a:pPr>
            <a:r>
              <a:rPr lang="en-US" sz="1450" b="1" dirty="0">
                <a:solidFill>
                  <a:srgbClr val="FFF6E6"/>
                </a:solidFill>
                <a:latin typeface="Arial" pitchFamily="34" charset="0"/>
                <a:ea typeface="Arial" pitchFamily="34" charset="-122"/>
                <a:cs typeface="Arial" pitchFamily="34" charset="-120"/>
              </a:rPr>
              <a:t>Rules first:</a:t>
            </a:r>
            <a:pPr indent="0" marL="0">
              <a:buNone/>
            </a:pPr>
            <a:r>
              <a:rPr lang="en-US" sz="1450" dirty="0">
                <a:solidFill>
                  <a:srgbClr val="E4D8C6"/>
                </a:solidFill>
                <a:latin typeface="Arial" pitchFamily="34" charset="0"/>
                <a:ea typeface="Arial" pitchFamily="34" charset="-122"/>
                <a:cs typeface="Arial" pitchFamily="34" charset="-120"/>
              </a:rPr>
              <a:t> the pipeline runs with the model down. The local model adds polish; provenance is recorded on every artifact.</a:t>
            </a:r>
            <a:endParaRPr lang="en-US" sz="1450" dirty="0"/>
          </a:p>
        </p:txBody>
      </p:sp>
      <p:sp>
        <p:nvSpPr>
          <p:cNvPr id="10" name="Shape 8"/>
          <p:cNvSpPr/>
          <p:nvPr/>
        </p:nvSpPr>
        <p:spPr>
          <a:xfrm>
            <a:off x="685800" y="4375722"/>
            <a:ext cx="201168" cy="27432"/>
          </a:xfrm>
          <a:prstGeom prst="rect">
            <a:avLst/>
          </a:prstGeom>
          <a:solidFill>
            <a:srgbClr val="C9955A"/>
          </a:solidFill>
          <a:ln w="12700">
            <a:solidFill>
              <a:srgbClr val="C9955A"/>
            </a:solidFill>
            <a:prstDash val="solid"/>
          </a:ln>
        </p:spPr>
      </p:sp>
      <p:sp>
        <p:nvSpPr>
          <p:cNvPr id="11" name="Text 9"/>
          <p:cNvSpPr txBox="1"/>
          <p:nvPr/>
        </p:nvSpPr>
        <p:spPr>
          <a:xfrm>
            <a:off x="1069848" y="4265168"/>
            <a:ext cx="5376672" cy="551942"/>
          </a:xfrm>
          <a:prstGeom prst="rect">
            <a:avLst/>
          </a:prstGeom>
          <a:noFill/>
          <a:ln/>
        </p:spPr>
        <p:txBody>
          <a:bodyPr wrap="square" lIns="0" tIns="0" rIns="0" bIns="0" rtlCol="0" anchor="t"/>
          <a:lstStyle/>
          <a:p>
            <a:pPr indent="0" marL="0">
              <a:buNone/>
            </a:pPr>
            <a:r>
              <a:rPr lang="en-US" sz="1450" b="1" dirty="0">
                <a:solidFill>
                  <a:srgbClr val="FFF6E6"/>
                </a:solidFill>
                <a:latin typeface="Arial" pitchFamily="34" charset="0"/>
                <a:ea typeface="Arial" pitchFamily="34" charset="-122"/>
                <a:cs typeface="Arial" pitchFamily="34" charset="-120"/>
              </a:rPr>
              <a:t>On stage:</a:t>
            </a:r>
            <a:pPr indent="0" marL="0">
              <a:buNone/>
            </a:pPr>
            <a:r>
              <a:rPr lang="en-US" sz="1450" dirty="0">
                <a:solidFill>
                  <a:srgbClr val="E4D8C6"/>
                </a:solidFill>
                <a:latin typeface="Arial" pitchFamily="34" charset="0"/>
                <a:ea typeface="Arial" pitchFamily="34" charset="-122"/>
                <a:cs typeface="Arial" pitchFamily="34" charset="-120"/>
              </a:rPr>
              <a:t> nvidia-smi busy, a blocked curl from the OpenShell sandbox, a cloud model URL rejected at startup.</a:t>
            </a:r>
            <a:endParaRPr lang="en-US" sz="1450" dirty="0"/>
          </a:p>
        </p:txBody>
      </p:sp>
      <p:sp>
        <p:nvSpPr>
          <p:cNvPr id="12" name="Shape 10"/>
          <p:cNvSpPr/>
          <p:nvPr/>
        </p:nvSpPr>
        <p:spPr>
          <a:xfrm>
            <a:off x="6995160" y="1691640"/>
            <a:ext cx="4510735" cy="3931920"/>
          </a:xfrm>
          <a:prstGeom prst="roundRect">
            <a:avLst>
              <a:gd name="adj" fmla="val 2791"/>
            </a:avLst>
          </a:prstGeom>
          <a:solidFill>
            <a:srgbClr val="19110C"/>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13" name="Text 11"/>
          <p:cNvSpPr txBox="1"/>
          <p:nvPr/>
        </p:nvSpPr>
        <p:spPr>
          <a:xfrm>
            <a:off x="7223760" y="1874520"/>
            <a:ext cx="3047695" cy="228600"/>
          </a:xfrm>
          <a:prstGeom prst="rect">
            <a:avLst/>
          </a:prstGeom>
          <a:noFill/>
          <a:ln/>
        </p:spPr>
        <p:txBody>
          <a:bodyPr wrap="square" lIns="0" tIns="0" rIns="0" bIns="0" rtlCol="0" anchor="t"/>
          <a:lstStyle/>
          <a:p>
            <a:pPr indent="0" marL="0">
              <a:buNone/>
            </a:pPr>
            <a:r>
              <a:rPr lang="en-US" sz="800" b="1" spc="200" kern="0" dirty="0">
                <a:solidFill>
                  <a:srgbClr val="E8C290"/>
                </a:solidFill>
                <a:latin typeface="Arial" pitchFamily="34" charset="0"/>
                <a:ea typeface="Arial" pitchFamily="34" charset="-122"/>
                <a:cs typeface="Arial" pitchFamily="34" charset="-120"/>
              </a:rPr>
              <a:t>DELL PRO MAX GB10 · OPENSHELL SANDBOX</a:t>
            </a:r>
            <a:endParaRPr lang="en-US" sz="800" dirty="0"/>
          </a:p>
        </p:txBody>
      </p:sp>
      <p:sp>
        <p:nvSpPr>
          <p:cNvPr id="14" name="Text 12"/>
          <p:cNvSpPr txBox="1"/>
          <p:nvPr/>
        </p:nvSpPr>
        <p:spPr>
          <a:xfrm>
            <a:off x="10225735" y="1874520"/>
            <a:ext cx="1051560" cy="228600"/>
          </a:xfrm>
          <a:prstGeom prst="rect">
            <a:avLst/>
          </a:prstGeom>
          <a:noFill/>
          <a:ln/>
        </p:spPr>
        <p:txBody>
          <a:bodyPr wrap="square" lIns="0" tIns="0" rIns="0" bIns="0" rtlCol="0" anchor="t"/>
          <a:lstStyle/>
          <a:p>
            <a:pPr algn="r" indent="0" marL="0">
              <a:buNone/>
            </a:pPr>
            <a:r>
              <a:rPr lang="en-US" sz="900" dirty="0">
                <a:solidFill>
                  <a:srgbClr val="B5A186"/>
                </a:solidFill>
                <a:latin typeface="Courier New" pitchFamily="34" charset="0"/>
                <a:ea typeface="Courier New" pitchFamily="34" charset="-122"/>
                <a:cs typeface="Courier New" pitchFamily="34" charset="-120"/>
              </a:rPr>
              <a:t>127.0.0.1</a:t>
            </a:r>
            <a:endParaRPr lang="en-US" sz="900" dirty="0"/>
          </a:p>
        </p:txBody>
      </p:sp>
      <p:sp>
        <p:nvSpPr>
          <p:cNvPr id="15" name="Shape 13"/>
          <p:cNvSpPr/>
          <p:nvPr/>
        </p:nvSpPr>
        <p:spPr>
          <a:xfrm>
            <a:off x="7223760" y="2240280"/>
            <a:ext cx="1958188" cy="420624"/>
          </a:xfrm>
          <a:prstGeom prst="roundRect">
            <a:avLst>
              <a:gd name="adj" fmla="val 17391"/>
            </a:avLst>
          </a:prstGeom>
          <a:solidFill>
            <a:srgbClr val="1F1610"/>
          </a:solidFill>
          <a:ln w="9525">
            <a:solidFill>
              <a:srgbClr val="332A1F"/>
            </a:solidFill>
            <a:prstDash val="solid"/>
          </a:ln>
        </p:spPr>
      </p:sp>
      <p:sp>
        <p:nvSpPr>
          <p:cNvPr id="16" name="Text 14"/>
          <p:cNvSpPr txBox="1"/>
          <p:nvPr/>
        </p:nvSpPr>
        <p:spPr>
          <a:xfrm>
            <a:off x="7360920" y="2240280"/>
            <a:ext cx="1683868" cy="420624"/>
          </a:xfrm>
          <a:prstGeom prst="rect">
            <a:avLst/>
          </a:prstGeom>
          <a:noFill/>
          <a:ln/>
        </p:spPr>
        <p:txBody>
          <a:bodyPr wrap="square" lIns="0" tIns="0" rIns="0" bIns="0" rtlCol="0" anchor="ctr"/>
          <a:lstStyle/>
          <a:p>
            <a:pPr indent="0" marL="0">
              <a:buNone/>
            </a:pPr>
            <a:r>
              <a:rPr lang="en-US" sz="1200" dirty="0">
                <a:solidFill>
                  <a:srgbClr val="F6EFE4"/>
                </a:solidFill>
                <a:latin typeface="Arial" pitchFamily="34" charset="0"/>
                <a:ea typeface="Arial" pitchFamily="34" charset="-122"/>
                <a:cs typeface="Arial" pitchFamily="34" charset="-120"/>
              </a:rPr>
              <a:t>Intake MCP</a:t>
            </a:r>
            <a:endParaRPr lang="en-US" sz="1200" dirty="0"/>
          </a:p>
        </p:txBody>
      </p:sp>
      <p:sp>
        <p:nvSpPr>
          <p:cNvPr id="17" name="Text 15"/>
          <p:cNvSpPr txBox="1"/>
          <p:nvPr/>
        </p:nvSpPr>
        <p:spPr>
          <a:xfrm>
            <a:off x="7360920" y="2240280"/>
            <a:ext cx="1683868" cy="420624"/>
          </a:xfrm>
          <a:prstGeom prst="rect">
            <a:avLst/>
          </a:prstGeom>
          <a:noFill/>
          <a:ln/>
        </p:spPr>
        <p:txBody>
          <a:bodyPr wrap="square" lIns="0" tIns="0" rIns="0" bIns="0" rtlCol="0" anchor="ctr"/>
          <a:lstStyle/>
          <a:p>
            <a:pPr algn="r" indent="0" marL="0">
              <a:buNone/>
            </a:pPr>
            <a:r>
              <a:rPr lang="en-US" sz="950" dirty="0">
                <a:solidFill>
                  <a:srgbClr val="B5A186"/>
                </a:solidFill>
                <a:latin typeface="Courier New" pitchFamily="34" charset="0"/>
                <a:ea typeface="Courier New" pitchFamily="34" charset="-122"/>
                <a:cs typeface="Courier New" pitchFamily="34" charset="-120"/>
              </a:rPr>
              <a:t>:8787/mcp</a:t>
            </a:r>
            <a:endParaRPr lang="en-US" sz="950" dirty="0"/>
          </a:p>
        </p:txBody>
      </p:sp>
      <p:sp>
        <p:nvSpPr>
          <p:cNvPr id="18" name="Shape 16"/>
          <p:cNvSpPr/>
          <p:nvPr/>
        </p:nvSpPr>
        <p:spPr>
          <a:xfrm>
            <a:off x="9319108" y="2240280"/>
            <a:ext cx="1958188" cy="420624"/>
          </a:xfrm>
          <a:prstGeom prst="roundRect">
            <a:avLst>
              <a:gd name="adj" fmla="val 17391"/>
            </a:avLst>
          </a:prstGeom>
          <a:solidFill>
            <a:srgbClr val="1F1610"/>
          </a:solidFill>
          <a:ln w="9525">
            <a:solidFill>
              <a:srgbClr val="332A1F"/>
            </a:solidFill>
            <a:prstDash val="solid"/>
          </a:ln>
        </p:spPr>
      </p:sp>
      <p:sp>
        <p:nvSpPr>
          <p:cNvPr id="19" name="Text 17"/>
          <p:cNvSpPr txBox="1"/>
          <p:nvPr/>
        </p:nvSpPr>
        <p:spPr>
          <a:xfrm>
            <a:off x="9456268" y="2240280"/>
            <a:ext cx="1683868" cy="420624"/>
          </a:xfrm>
          <a:prstGeom prst="rect">
            <a:avLst/>
          </a:prstGeom>
          <a:noFill/>
          <a:ln/>
        </p:spPr>
        <p:txBody>
          <a:bodyPr wrap="square" lIns="0" tIns="0" rIns="0" bIns="0" rtlCol="0" anchor="ctr"/>
          <a:lstStyle/>
          <a:p>
            <a:pPr indent="0" marL="0">
              <a:buNone/>
            </a:pPr>
            <a:r>
              <a:rPr lang="en-US" sz="1200" dirty="0">
                <a:solidFill>
                  <a:srgbClr val="F6EFE4"/>
                </a:solidFill>
                <a:latin typeface="Arial" pitchFamily="34" charset="0"/>
                <a:ea typeface="Arial" pitchFamily="34" charset="-122"/>
                <a:cs typeface="Arial" pitchFamily="34" charset="-120"/>
              </a:rPr>
              <a:t>Intake admin</a:t>
            </a:r>
            <a:endParaRPr lang="en-US" sz="1200" dirty="0"/>
          </a:p>
        </p:txBody>
      </p:sp>
      <p:sp>
        <p:nvSpPr>
          <p:cNvPr id="20" name="Text 18"/>
          <p:cNvSpPr txBox="1"/>
          <p:nvPr/>
        </p:nvSpPr>
        <p:spPr>
          <a:xfrm>
            <a:off x="9456268" y="2240280"/>
            <a:ext cx="1683868" cy="420624"/>
          </a:xfrm>
          <a:prstGeom prst="rect">
            <a:avLst/>
          </a:prstGeom>
          <a:noFill/>
          <a:ln/>
        </p:spPr>
        <p:txBody>
          <a:bodyPr wrap="square" lIns="0" tIns="0" rIns="0" bIns="0" rtlCol="0" anchor="ctr"/>
          <a:lstStyle/>
          <a:p>
            <a:pPr algn="r" indent="0" marL="0">
              <a:buNone/>
            </a:pPr>
            <a:r>
              <a:rPr lang="en-US" sz="950" dirty="0">
                <a:solidFill>
                  <a:srgbClr val="B5A186"/>
                </a:solidFill>
                <a:latin typeface="Courier New" pitchFamily="34" charset="0"/>
                <a:ea typeface="Courier New" pitchFamily="34" charset="-122"/>
                <a:cs typeface="Courier New" pitchFamily="34" charset="-120"/>
              </a:rPr>
              <a:t>:8788</a:t>
            </a:r>
            <a:endParaRPr lang="en-US" sz="950" dirty="0"/>
          </a:p>
        </p:txBody>
      </p:sp>
      <p:sp>
        <p:nvSpPr>
          <p:cNvPr id="21" name="Shape 19"/>
          <p:cNvSpPr/>
          <p:nvPr/>
        </p:nvSpPr>
        <p:spPr>
          <a:xfrm>
            <a:off x="7223760" y="2770632"/>
            <a:ext cx="1958188" cy="420624"/>
          </a:xfrm>
          <a:prstGeom prst="roundRect">
            <a:avLst>
              <a:gd name="adj" fmla="val 17391"/>
            </a:avLst>
          </a:prstGeom>
          <a:solidFill>
            <a:srgbClr val="1F1610"/>
          </a:solidFill>
          <a:ln w="9525">
            <a:solidFill>
              <a:srgbClr val="332A1F"/>
            </a:solidFill>
            <a:prstDash val="solid"/>
          </a:ln>
        </p:spPr>
      </p:sp>
      <p:sp>
        <p:nvSpPr>
          <p:cNvPr id="22" name="Text 20"/>
          <p:cNvSpPr txBox="1"/>
          <p:nvPr/>
        </p:nvSpPr>
        <p:spPr>
          <a:xfrm>
            <a:off x="7360920" y="2770632"/>
            <a:ext cx="1683868" cy="420624"/>
          </a:xfrm>
          <a:prstGeom prst="rect">
            <a:avLst/>
          </a:prstGeom>
          <a:noFill/>
          <a:ln/>
        </p:spPr>
        <p:txBody>
          <a:bodyPr wrap="square" lIns="0" tIns="0" rIns="0" bIns="0" rtlCol="0" anchor="ctr"/>
          <a:lstStyle/>
          <a:p>
            <a:pPr indent="0" marL="0">
              <a:buNone/>
            </a:pPr>
            <a:r>
              <a:rPr lang="en-US" sz="1200" dirty="0">
                <a:solidFill>
                  <a:srgbClr val="F6EFE4"/>
                </a:solidFill>
                <a:latin typeface="Arial" pitchFamily="34" charset="0"/>
                <a:ea typeface="Arial" pitchFamily="34" charset="-122"/>
                <a:cs typeface="Arial" pitchFamily="34" charset="-120"/>
              </a:rPr>
              <a:t>Board · My plate</a:t>
            </a:r>
            <a:endParaRPr lang="en-US" sz="1200" dirty="0"/>
          </a:p>
        </p:txBody>
      </p:sp>
      <p:sp>
        <p:nvSpPr>
          <p:cNvPr id="23" name="Text 21"/>
          <p:cNvSpPr txBox="1"/>
          <p:nvPr/>
        </p:nvSpPr>
        <p:spPr>
          <a:xfrm>
            <a:off x="7360920" y="2770632"/>
            <a:ext cx="1683868" cy="420624"/>
          </a:xfrm>
          <a:prstGeom prst="rect">
            <a:avLst/>
          </a:prstGeom>
          <a:noFill/>
          <a:ln/>
        </p:spPr>
        <p:txBody>
          <a:bodyPr wrap="square" lIns="0" tIns="0" rIns="0" bIns="0" rtlCol="0" anchor="ctr"/>
          <a:lstStyle/>
          <a:p>
            <a:pPr algn="r" indent="0" marL="0">
              <a:buNone/>
            </a:pPr>
            <a:r>
              <a:rPr lang="en-US" sz="950" dirty="0">
                <a:solidFill>
                  <a:srgbClr val="B5A186"/>
                </a:solidFill>
                <a:latin typeface="Courier New" pitchFamily="34" charset="0"/>
                <a:ea typeface="Courier New" pitchFamily="34" charset="-122"/>
                <a:cs typeface="Courier New" pitchFamily="34" charset="-120"/>
              </a:rPr>
              <a:t>:8790</a:t>
            </a:r>
            <a:endParaRPr lang="en-US" sz="950" dirty="0"/>
          </a:p>
        </p:txBody>
      </p:sp>
      <p:sp>
        <p:nvSpPr>
          <p:cNvPr id="24" name="Shape 22"/>
          <p:cNvSpPr/>
          <p:nvPr/>
        </p:nvSpPr>
        <p:spPr>
          <a:xfrm>
            <a:off x="9319108" y="2770632"/>
            <a:ext cx="1958188" cy="420624"/>
          </a:xfrm>
          <a:prstGeom prst="roundRect">
            <a:avLst>
              <a:gd name="adj" fmla="val 17391"/>
            </a:avLst>
          </a:prstGeom>
          <a:solidFill>
            <a:srgbClr val="1F1610"/>
          </a:solidFill>
          <a:ln w="9525">
            <a:solidFill>
              <a:srgbClr val="332A1F"/>
            </a:solidFill>
            <a:prstDash val="solid"/>
          </a:ln>
        </p:spPr>
      </p:sp>
      <p:sp>
        <p:nvSpPr>
          <p:cNvPr id="25" name="Text 23"/>
          <p:cNvSpPr txBox="1"/>
          <p:nvPr/>
        </p:nvSpPr>
        <p:spPr>
          <a:xfrm>
            <a:off x="9456268" y="2770632"/>
            <a:ext cx="1683868" cy="420624"/>
          </a:xfrm>
          <a:prstGeom prst="rect">
            <a:avLst/>
          </a:prstGeom>
          <a:noFill/>
          <a:ln/>
        </p:spPr>
        <p:txBody>
          <a:bodyPr wrap="square" lIns="0" tIns="0" rIns="0" bIns="0" rtlCol="0" anchor="ctr"/>
          <a:lstStyle/>
          <a:p>
            <a:pPr indent="0" marL="0">
              <a:buNone/>
            </a:pPr>
            <a:r>
              <a:rPr lang="en-US" sz="1200" dirty="0">
                <a:solidFill>
                  <a:srgbClr val="F6EFE4"/>
                </a:solidFill>
                <a:latin typeface="Arial" pitchFamily="34" charset="0"/>
                <a:ea typeface="Arial" pitchFamily="34" charset="-122"/>
                <a:cs typeface="Arial" pitchFamily="34" charset="-120"/>
              </a:rPr>
              <a:t>SDLC console</a:t>
            </a:r>
            <a:endParaRPr lang="en-US" sz="1200" dirty="0"/>
          </a:p>
        </p:txBody>
      </p:sp>
      <p:sp>
        <p:nvSpPr>
          <p:cNvPr id="26" name="Text 24"/>
          <p:cNvSpPr txBox="1"/>
          <p:nvPr/>
        </p:nvSpPr>
        <p:spPr>
          <a:xfrm>
            <a:off x="9456268" y="2770632"/>
            <a:ext cx="1683868" cy="420624"/>
          </a:xfrm>
          <a:prstGeom prst="rect">
            <a:avLst/>
          </a:prstGeom>
          <a:noFill/>
          <a:ln/>
        </p:spPr>
        <p:txBody>
          <a:bodyPr wrap="square" lIns="0" tIns="0" rIns="0" bIns="0" rtlCol="0" anchor="ctr"/>
          <a:lstStyle/>
          <a:p>
            <a:pPr algn="r" indent="0" marL="0">
              <a:buNone/>
            </a:pPr>
            <a:r>
              <a:rPr lang="en-US" sz="950" dirty="0">
                <a:solidFill>
                  <a:srgbClr val="B5A186"/>
                </a:solidFill>
                <a:latin typeface="Courier New" pitchFamily="34" charset="0"/>
                <a:ea typeface="Courier New" pitchFamily="34" charset="-122"/>
                <a:cs typeface="Courier New" pitchFamily="34" charset="-120"/>
              </a:rPr>
              <a:t>:8792</a:t>
            </a:r>
            <a:endParaRPr lang="en-US" sz="950" dirty="0"/>
          </a:p>
        </p:txBody>
      </p:sp>
      <p:sp>
        <p:nvSpPr>
          <p:cNvPr id="27" name="Shape 25"/>
          <p:cNvSpPr/>
          <p:nvPr/>
        </p:nvSpPr>
        <p:spPr>
          <a:xfrm>
            <a:off x="7223760" y="3300984"/>
            <a:ext cx="1958188" cy="420624"/>
          </a:xfrm>
          <a:prstGeom prst="roundRect">
            <a:avLst>
              <a:gd name="adj" fmla="val 17391"/>
            </a:avLst>
          </a:prstGeom>
          <a:solidFill>
            <a:srgbClr val="1F1610"/>
          </a:solidFill>
          <a:ln w="9525">
            <a:solidFill>
              <a:srgbClr val="332A1F"/>
            </a:solidFill>
            <a:prstDash val="solid"/>
          </a:ln>
        </p:spPr>
      </p:sp>
      <p:sp>
        <p:nvSpPr>
          <p:cNvPr id="28" name="Text 26"/>
          <p:cNvSpPr txBox="1"/>
          <p:nvPr/>
        </p:nvSpPr>
        <p:spPr>
          <a:xfrm>
            <a:off x="7360920" y="3300984"/>
            <a:ext cx="1683868" cy="420624"/>
          </a:xfrm>
          <a:prstGeom prst="rect">
            <a:avLst/>
          </a:prstGeom>
          <a:noFill/>
          <a:ln/>
        </p:spPr>
        <p:txBody>
          <a:bodyPr wrap="square" lIns="0" tIns="0" rIns="0" bIns="0" rtlCol="0" anchor="ctr"/>
          <a:lstStyle/>
          <a:p>
            <a:pPr indent="0" marL="0">
              <a:buNone/>
            </a:pPr>
            <a:r>
              <a:rPr lang="en-US" sz="1200" dirty="0">
                <a:solidFill>
                  <a:srgbClr val="F6EFE4"/>
                </a:solidFill>
                <a:latin typeface="Arial" pitchFamily="34" charset="0"/>
                <a:ea typeface="Arial" pitchFamily="34" charset="-122"/>
                <a:cs typeface="Arial" pitchFamily="34" charset="-120"/>
              </a:rPr>
              <a:t>Agent MCP</a:t>
            </a:r>
            <a:endParaRPr lang="en-US" sz="1200" dirty="0"/>
          </a:p>
        </p:txBody>
      </p:sp>
      <p:sp>
        <p:nvSpPr>
          <p:cNvPr id="29" name="Text 27"/>
          <p:cNvSpPr txBox="1"/>
          <p:nvPr/>
        </p:nvSpPr>
        <p:spPr>
          <a:xfrm>
            <a:off x="7360920" y="3300984"/>
            <a:ext cx="1683868" cy="420624"/>
          </a:xfrm>
          <a:prstGeom prst="rect">
            <a:avLst/>
          </a:prstGeom>
          <a:noFill/>
          <a:ln/>
        </p:spPr>
        <p:txBody>
          <a:bodyPr wrap="square" lIns="0" tIns="0" rIns="0" bIns="0" rtlCol="0" anchor="ctr"/>
          <a:lstStyle/>
          <a:p>
            <a:pPr algn="r" indent="0" marL="0">
              <a:buNone/>
            </a:pPr>
            <a:r>
              <a:rPr lang="en-US" sz="950" dirty="0">
                <a:solidFill>
                  <a:srgbClr val="B5A186"/>
                </a:solidFill>
                <a:latin typeface="Courier New" pitchFamily="34" charset="0"/>
                <a:ea typeface="Courier New" pitchFamily="34" charset="-122"/>
                <a:cs typeface="Courier New" pitchFamily="34" charset="-120"/>
              </a:rPr>
              <a:t>:8791/mcp</a:t>
            </a:r>
            <a:endParaRPr lang="en-US" sz="950" dirty="0"/>
          </a:p>
        </p:txBody>
      </p:sp>
      <p:sp>
        <p:nvSpPr>
          <p:cNvPr id="30" name="Shape 28"/>
          <p:cNvSpPr/>
          <p:nvPr/>
        </p:nvSpPr>
        <p:spPr>
          <a:xfrm>
            <a:off x="9319108" y="3300984"/>
            <a:ext cx="1958188" cy="420624"/>
          </a:xfrm>
          <a:prstGeom prst="roundRect">
            <a:avLst>
              <a:gd name="adj" fmla="val 17391"/>
            </a:avLst>
          </a:prstGeom>
          <a:solidFill>
            <a:srgbClr val="1F1610"/>
          </a:solidFill>
          <a:ln w="9525">
            <a:solidFill>
              <a:srgbClr val="332A1F"/>
            </a:solidFill>
            <a:prstDash val="solid"/>
          </a:ln>
        </p:spPr>
      </p:sp>
      <p:sp>
        <p:nvSpPr>
          <p:cNvPr id="31" name="Text 29"/>
          <p:cNvSpPr txBox="1"/>
          <p:nvPr/>
        </p:nvSpPr>
        <p:spPr>
          <a:xfrm>
            <a:off x="9456268" y="3300984"/>
            <a:ext cx="1683868" cy="420624"/>
          </a:xfrm>
          <a:prstGeom prst="rect">
            <a:avLst/>
          </a:prstGeom>
          <a:noFill/>
          <a:ln/>
        </p:spPr>
        <p:txBody>
          <a:bodyPr wrap="square" lIns="0" tIns="0" rIns="0" bIns="0" rtlCol="0" anchor="ctr"/>
          <a:lstStyle/>
          <a:p>
            <a:pPr indent="0" marL="0">
              <a:buNone/>
            </a:pPr>
            <a:r>
              <a:rPr lang="en-US" sz="1200" dirty="0">
                <a:solidFill>
                  <a:srgbClr val="F6EFE4"/>
                </a:solidFill>
                <a:latin typeface="Arial" pitchFamily="34" charset="0"/>
                <a:ea typeface="Arial" pitchFamily="34" charset="-122"/>
                <a:cs typeface="Arial" pitchFamily="34" charset="-120"/>
              </a:rPr>
              <a:t>SDLC loop</a:t>
            </a:r>
            <a:endParaRPr lang="en-US" sz="1200" dirty="0"/>
          </a:p>
        </p:txBody>
      </p:sp>
      <p:sp>
        <p:nvSpPr>
          <p:cNvPr id="32" name="Text 30"/>
          <p:cNvSpPr txBox="1"/>
          <p:nvPr/>
        </p:nvSpPr>
        <p:spPr>
          <a:xfrm>
            <a:off x="9456268" y="3300984"/>
            <a:ext cx="1683868" cy="420624"/>
          </a:xfrm>
          <a:prstGeom prst="rect">
            <a:avLst/>
          </a:prstGeom>
          <a:noFill/>
          <a:ln/>
        </p:spPr>
        <p:txBody>
          <a:bodyPr wrap="square" lIns="0" tIns="0" rIns="0" bIns="0" rtlCol="0" anchor="ctr"/>
          <a:lstStyle/>
          <a:p>
            <a:pPr algn="r" indent="0" marL="0">
              <a:buNone/>
            </a:pPr>
            <a:r>
              <a:rPr lang="en-US" sz="950" dirty="0">
                <a:solidFill>
                  <a:srgbClr val="B5A186"/>
                </a:solidFill>
                <a:latin typeface="Courier New" pitchFamily="34" charset="0"/>
                <a:ea typeface="Courier New" pitchFamily="34" charset="-122"/>
                <a:cs typeface="Courier New" pitchFamily="34" charset="-120"/>
              </a:rPr>
              <a:t>every 5 s</a:t>
            </a:r>
            <a:endParaRPr lang="en-US" sz="950" dirty="0"/>
          </a:p>
        </p:txBody>
      </p:sp>
      <p:sp>
        <p:nvSpPr>
          <p:cNvPr id="33" name="Shape 31"/>
          <p:cNvSpPr/>
          <p:nvPr/>
        </p:nvSpPr>
        <p:spPr>
          <a:xfrm>
            <a:off x="7223760" y="3831336"/>
            <a:ext cx="4053535" cy="676656"/>
          </a:xfrm>
          <a:prstGeom prst="roundRect">
            <a:avLst>
              <a:gd name="adj" fmla="val 10811"/>
            </a:avLst>
          </a:prstGeom>
          <a:solidFill>
            <a:srgbClr val="3A2416"/>
          </a:solidFill>
          <a:ln w="9525">
            <a:solidFill>
              <a:srgbClr val="C9955A"/>
            </a:solidFill>
            <a:prstDash val="solid"/>
          </a:ln>
        </p:spPr>
      </p:sp>
      <p:sp>
        <p:nvSpPr>
          <p:cNvPr id="34" name="Shape 32"/>
          <p:cNvSpPr/>
          <p:nvPr/>
        </p:nvSpPr>
        <p:spPr>
          <a:xfrm>
            <a:off x="7379208" y="3986784"/>
            <a:ext cx="128016" cy="128016"/>
          </a:xfrm>
          <a:prstGeom prst="ellipse">
            <a:avLst/>
          </a:prstGeom>
          <a:solidFill>
            <a:srgbClr val="7FDC9F"/>
          </a:solidFill>
          <a:ln w="12700">
            <a:solidFill>
              <a:srgbClr val="7FDC9F"/>
            </a:solidFill>
            <a:prstDash val="solid"/>
          </a:ln>
        </p:spPr>
      </p:sp>
      <p:sp>
        <p:nvSpPr>
          <p:cNvPr id="35" name="Text 33"/>
          <p:cNvSpPr txBox="1"/>
          <p:nvPr/>
        </p:nvSpPr>
        <p:spPr>
          <a:xfrm>
            <a:off x="7589520" y="3904488"/>
            <a:ext cx="3596335" cy="292608"/>
          </a:xfrm>
          <a:prstGeom prst="rect">
            <a:avLst/>
          </a:prstGeom>
          <a:noFill/>
          <a:ln/>
        </p:spPr>
        <p:txBody>
          <a:bodyPr wrap="square" lIns="0" tIns="0" rIns="0" bIns="0" rtlCol="0" anchor="ctr"/>
          <a:lstStyle/>
          <a:p>
            <a:pPr indent="0" marL="0">
              <a:buNone/>
            </a:pPr>
            <a:r>
              <a:rPr lang="en-US" sz="1200" dirty="0">
                <a:solidFill>
                  <a:srgbClr val="F6EFE4"/>
                </a:solidFill>
                <a:latin typeface="Arial" pitchFamily="34" charset="0"/>
                <a:ea typeface="Arial" pitchFamily="34" charset="-122"/>
                <a:cs typeface="Arial" pitchFamily="34" charset="-120"/>
              </a:rPr>
              <a:t>Local model · OpenAI-compatible endpoint</a:t>
            </a:r>
            <a:endParaRPr lang="en-US" sz="1200" dirty="0"/>
          </a:p>
        </p:txBody>
      </p:sp>
      <p:sp>
        <p:nvSpPr>
          <p:cNvPr id="36" name="Text 34"/>
          <p:cNvSpPr txBox="1"/>
          <p:nvPr/>
        </p:nvSpPr>
        <p:spPr>
          <a:xfrm>
            <a:off x="7589520" y="4197096"/>
            <a:ext cx="3596335" cy="256032"/>
          </a:xfrm>
          <a:prstGeom prst="rect">
            <a:avLst/>
          </a:prstGeom>
          <a:noFill/>
          <a:ln/>
        </p:spPr>
        <p:txBody>
          <a:bodyPr wrap="square" lIns="0" tIns="0" rIns="0" bIns="0" rtlCol="0" anchor="ctr"/>
          <a:lstStyle/>
          <a:p>
            <a:pPr indent="0" marL="0">
              <a:buNone/>
            </a:pPr>
            <a:r>
              <a:rPr lang="en-US" sz="850" dirty="0">
                <a:solidFill>
                  <a:srgbClr val="B5A186"/>
                </a:solidFill>
                <a:latin typeface="Courier New" pitchFamily="34" charset="0"/>
                <a:ea typeface="Courier New" pitchFamily="34" charset="-122"/>
                <a:cs typeface="Courier New" pitchFamily="34" charset="-120"/>
              </a:rPr>
              <a:t>loopback only · 20 s timeout · rules fallback</a:t>
            </a:r>
            <a:endParaRPr lang="en-US" sz="850" dirty="0"/>
          </a:p>
        </p:txBody>
      </p:sp>
      <p:sp>
        <p:nvSpPr>
          <p:cNvPr id="37" name="Text 35"/>
          <p:cNvSpPr txBox="1"/>
          <p:nvPr/>
        </p:nvSpPr>
        <p:spPr>
          <a:xfrm>
            <a:off x="7223760" y="4727448"/>
            <a:ext cx="640080" cy="365760"/>
          </a:xfrm>
          <a:prstGeom prst="rect">
            <a:avLst/>
          </a:prstGeom>
          <a:noFill/>
          <a:ln/>
        </p:spPr>
        <p:txBody>
          <a:bodyPr wrap="square" lIns="0" tIns="0" rIns="0" bIns="0" rtlCol="0" anchor="ctr"/>
          <a:lstStyle/>
          <a:p>
            <a:pPr indent="0" marL="0">
              <a:buNone/>
            </a:pPr>
            <a:r>
              <a:rPr lang="en-US" sz="1100" dirty="0">
                <a:solidFill>
                  <a:srgbClr val="B5A186"/>
                </a:solidFill>
                <a:latin typeface="Arial" pitchFamily="34" charset="0"/>
                <a:ea typeface="Arial" pitchFamily="34" charset="-122"/>
                <a:cs typeface="Arial" pitchFamily="34" charset="-120"/>
              </a:rPr>
              <a:t>egress</a:t>
            </a:r>
            <a:endParaRPr lang="en-US" sz="1100" dirty="0"/>
          </a:p>
        </p:txBody>
      </p:sp>
      <p:sp>
        <p:nvSpPr>
          <p:cNvPr id="38" name="Shape 36"/>
          <p:cNvSpPr/>
          <p:nvPr/>
        </p:nvSpPr>
        <p:spPr>
          <a:xfrm>
            <a:off x="7909560" y="4910328"/>
            <a:ext cx="761695" cy="0"/>
          </a:xfrm>
          <a:prstGeom prst="line">
            <a:avLst/>
          </a:prstGeom>
          <a:noFill/>
          <a:ln w="12700">
            <a:solidFill>
              <a:srgbClr val="F0A497"/>
            </a:solidFill>
            <a:prstDash val="dash"/>
            <a:tailEnd type="triangle"/>
          </a:ln>
        </p:spPr>
      </p:sp>
      <p:sp>
        <p:nvSpPr>
          <p:cNvPr id="39" name="Shape 37"/>
          <p:cNvSpPr/>
          <p:nvPr/>
        </p:nvSpPr>
        <p:spPr>
          <a:xfrm>
            <a:off x="8762695" y="4700016"/>
            <a:ext cx="420624" cy="420624"/>
          </a:xfrm>
          <a:prstGeom prst="ellipse">
            <a:avLst/>
          </a:prstGeom>
          <a:solidFill>
            <a:srgbClr val="3A1A14"/>
          </a:solidFill>
          <a:ln w="25400">
            <a:solidFill>
              <a:srgbClr val="E05A48"/>
            </a:solidFill>
            <a:prstDash val="solid"/>
          </a:ln>
        </p:spPr>
      </p:sp>
      <p:sp>
        <p:nvSpPr>
          <p:cNvPr id="40" name="Shape 38"/>
          <p:cNvSpPr/>
          <p:nvPr/>
        </p:nvSpPr>
        <p:spPr>
          <a:xfrm>
            <a:off x="8854135" y="5029200"/>
            <a:ext cx="237744" cy="-237744"/>
          </a:xfrm>
          <a:prstGeom prst="line">
            <a:avLst/>
          </a:prstGeom>
          <a:noFill/>
          <a:ln w="25400">
            <a:solidFill>
              <a:srgbClr val="E05A48"/>
            </a:solidFill>
            <a:prstDash val="solid"/>
          </a:ln>
        </p:spPr>
      </p:sp>
      <p:sp>
        <p:nvSpPr>
          <p:cNvPr id="41" name="Shape 39"/>
          <p:cNvSpPr/>
          <p:nvPr/>
        </p:nvSpPr>
        <p:spPr>
          <a:xfrm>
            <a:off x="9357055" y="4727448"/>
            <a:ext cx="1920240" cy="365760"/>
          </a:xfrm>
          <a:prstGeom prst="roundRect">
            <a:avLst>
              <a:gd name="adj" fmla="val 50000"/>
            </a:avLst>
          </a:prstGeom>
          <a:solidFill>
            <a:srgbClr val="19110C"/>
          </a:solidFill>
          <a:ln w="9525">
            <a:solidFill>
              <a:srgbClr val="4A3D2C"/>
            </a:solidFill>
            <a:prstDash val="dash"/>
          </a:ln>
        </p:spPr>
      </p:sp>
      <p:sp>
        <p:nvSpPr>
          <p:cNvPr id="42" name="Text 40"/>
          <p:cNvSpPr txBox="1"/>
          <p:nvPr/>
        </p:nvSpPr>
        <p:spPr>
          <a:xfrm>
            <a:off x="9357055" y="4727448"/>
            <a:ext cx="1920240" cy="365760"/>
          </a:xfrm>
          <a:prstGeom prst="rect">
            <a:avLst/>
          </a:prstGeom>
          <a:noFill/>
          <a:ln/>
        </p:spPr>
        <p:txBody>
          <a:bodyPr wrap="square" lIns="0" tIns="0" rIns="0" bIns="0" rtlCol="0" anchor="ctr"/>
          <a:lstStyle/>
          <a:p>
            <a:pPr algn="ctr" indent="0" marL="0">
              <a:buNone/>
            </a:pPr>
            <a:r>
              <a:rPr lang="en-US" sz="1050" dirty="0">
                <a:solidFill>
                  <a:srgbClr val="8C7961"/>
                </a:solidFill>
                <a:latin typeface="Arial" pitchFamily="34" charset="0"/>
                <a:ea typeface="Arial" pitchFamily="34" charset="-122"/>
                <a:cs typeface="Arial" pitchFamily="34" charset="-120"/>
              </a:rPr>
              <a:t>cloud · APIs · CDNs</a:t>
            </a:r>
            <a:endParaRPr lang="en-US" sz="1050" dirty="0"/>
          </a:p>
        </p:txBody>
      </p:sp>
      <p:sp>
        <p:nvSpPr>
          <p:cNvPr id="25" name="Slide Number Placeholder 0"/>
          <p:cNvSpPr>
            <a:spLocks noGrp="1"/>
          </p:cNvSpPr>
          <p:nvPr>
            <p:ph type="sldNum" sz="quarter" idx="4294967295"/>
          </p:nvPr>
        </p:nvSpPr>
        <p:spPr>
          <a:xfrm>
            <a:off x="10408615" y="6355080"/>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7961"/>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85800" y="411480"/>
            <a:ext cx="10820095" cy="320040"/>
          </a:xfrm>
          <a:prstGeom prst="rect">
            <a:avLst/>
          </a:prstGeom>
          <a:noFill/>
          <a:ln/>
        </p:spPr>
        <p:txBody>
          <a:bodyPr wrap="square" lIns="0" tIns="0" rIns="0" bIns="0" rtlCol="0" anchor="ctr"/>
          <a:lstStyle/>
          <a:p>
            <a:pPr indent="0" marL="0">
              <a:buNone/>
            </a:pPr>
            <a:r>
              <a:rPr lang="en-US" sz="1100" spc="600" kern="0" dirty="0">
                <a:solidFill>
                  <a:srgbClr val="E8C290"/>
                </a:solidFill>
                <a:latin typeface="Arial" pitchFamily="34" charset="0"/>
                <a:ea typeface="Arial" pitchFamily="34" charset="-122"/>
                <a:cs typeface="Arial" pitchFamily="34" charset="-120"/>
              </a:rPr>
              <a:t>LIVE DEMO · 60 SECONDS · CONSOLE AT 127.0.0.1:8792</a:t>
            </a:r>
            <a:endParaRPr lang="en-US" sz="1100" dirty="0"/>
          </a:p>
        </p:txBody>
      </p:sp>
      <p:sp>
        <p:nvSpPr>
          <p:cNvPr id="3" name="Text 1"/>
          <p:cNvSpPr txBox="1"/>
          <p:nvPr/>
        </p:nvSpPr>
        <p:spPr>
          <a:xfrm>
            <a:off x="685800" y="731520"/>
            <a:ext cx="10820095" cy="731520"/>
          </a:xfrm>
          <a:prstGeom prst="rect">
            <a:avLst/>
          </a:prstGeom>
          <a:noFill/>
          <a:ln/>
        </p:spPr>
        <p:txBody>
          <a:bodyPr wrap="square" lIns="0" tIns="0" rIns="0" bIns="0" rtlCol="0" anchor="t"/>
          <a:lstStyle/>
          <a:p>
            <a:pPr indent="0" marL="0">
              <a:lnSpc>
                <a:spcPct val="105000"/>
              </a:lnSpc>
              <a:buNone/>
            </a:pPr>
            <a:r>
              <a:rPr lang="en-US" sz="3400" dirty="0">
                <a:solidFill>
                  <a:srgbClr val="FFF6E6"/>
                </a:solidFill>
                <a:latin typeface="Arial" pitchFamily="34" charset="0"/>
                <a:ea typeface="Arial" pitchFamily="34" charset="-122"/>
                <a:cs typeface="Arial" pitchFamily="34" charset="-120"/>
              </a:rPr>
              <a:t>Approve one spec. Watch it become </a:t>
            </a:r>
            <a:pPr indent="0" marL="0">
              <a:lnSpc>
                <a:spcPct val="105000"/>
              </a:lnSpc>
              <a:buNone/>
            </a:pPr>
            <a:r>
              <a:rPr lang="en-US" sz="3400" dirty="0">
                <a:solidFill>
                  <a:srgbClr val="F3D9A4"/>
                </a:solidFill>
                <a:latin typeface="Arial" pitchFamily="34" charset="0"/>
                <a:ea typeface="Arial" pitchFamily="34" charset="-122"/>
                <a:cs typeface="Arial" pitchFamily="34" charset="-120"/>
              </a:rPr>
              <a:t>released, reviewed work</a:t>
            </a:r>
            <a:pPr indent="0" marL="0">
              <a:lnSpc>
                <a:spcPct val="105000"/>
              </a:lnSpc>
              <a:buNone/>
            </a:pPr>
            <a:r>
              <a:rPr lang="en-US" sz="3400" dirty="0">
                <a:solidFill>
                  <a:srgbClr val="FFF6E6"/>
                </a:solidFill>
                <a:latin typeface="Arial" pitchFamily="34" charset="0"/>
                <a:ea typeface="Arial" pitchFamily="34" charset="-122"/>
                <a:cs typeface="Arial" pitchFamily="34" charset="-120"/>
              </a:rPr>
              <a:t> and a client update.</a:t>
            </a:r>
            <a:endParaRPr lang="en-US" sz="3400" dirty="0"/>
          </a:p>
        </p:txBody>
      </p:sp>
      <p:sp>
        <p:nvSpPr>
          <p:cNvPr id="4" name="Text 2"/>
          <p:cNvSpPr txBox="1"/>
          <p:nvPr/>
        </p:nvSpPr>
        <p:spPr>
          <a:xfrm>
            <a:off x="685800" y="2011680"/>
            <a:ext cx="640080" cy="457200"/>
          </a:xfrm>
          <a:prstGeom prst="rect">
            <a:avLst/>
          </a:prstGeom>
          <a:noFill/>
          <a:ln/>
        </p:spPr>
        <p:txBody>
          <a:bodyPr wrap="square" lIns="0" tIns="0" rIns="0" bIns="0" rtlCol="0" anchor="ctr"/>
          <a:lstStyle/>
          <a:p>
            <a:pPr indent="0" marL="0">
              <a:buNone/>
            </a:pPr>
            <a:r>
              <a:rPr lang="en-US" sz="1200" dirty="0">
                <a:solidFill>
                  <a:srgbClr val="B5A186"/>
                </a:solidFill>
                <a:latin typeface="Courier New" pitchFamily="34" charset="0"/>
                <a:ea typeface="Courier New" pitchFamily="34" charset="-122"/>
                <a:cs typeface="Courier New" pitchFamily="34" charset="-120"/>
              </a:rPr>
              <a:t>0:00</a:t>
            </a:r>
            <a:endParaRPr lang="en-US" sz="1200" dirty="0"/>
          </a:p>
        </p:txBody>
      </p:sp>
      <p:sp>
        <p:nvSpPr>
          <p:cNvPr id="5" name="Text 3"/>
          <p:cNvSpPr txBox="1"/>
          <p:nvPr/>
        </p:nvSpPr>
        <p:spPr>
          <a:xfrm>
            <a:off x="1371600" y="2011680"/>
            <a:ext cx="1463040" cy="457200"/>
          </a:xfrm>
          <a:prstGeom prst="rect">
            <a:avLst/>
          </a:prstGeom>
          <a:noFill/>
          <a:ln/>
        </p:spPr>
        <p:txBody>
          <a:bodyPr wrap="square" lIns="0" tIns="0" rIns="0" bIns="0" rtlCol="0" anchor="ctr"/>
          <a:lstStyle/>
          <a:p>
            <a:pPr indent="0" marL="0">
              <a:buNone/>
            </a:pPr>
            <a:r>
              <a:rPr lang="en-US" sz="750" spc="200" kern="0" dirty="0">
                <a:solidFill>
                  <a:srgbClr val="8C7961"/>
                </a:solidFill>
                <a:latin typeface="Arial" pitchFamily="34" charset="0"/>
                <a:ea typeface="Arial" pitchFamily="34" charset="-122"/>
                <a:cs typeface="Arial" pitchFamily="34" charset="-120"/>
              </a:rPr>
              <a:t>AVERY PARK · OWNER</a:t>
            </a:r>
            <a:endParaRPr lang="en-US" sz="750" dirty="0"/>
          </a:p>
        </p:txBody>
      </p:sp>
      <p:sp>
        <p:nvSpPr>
          <p:cNvPr id="6" name="Shape 4"/>
          <p:cNvSpPr/>
          <p:nvPr/>
        </p:nvSpPr>
        <p:spPr>
          <a:xfrm>
            <a:off x="2880360" y="2084832"/>
            <a:ext cx="2103120" cy="310896"/>
          </a:xfrm>
          <a:prstGeom prst="roundRect">
            <a:avLst>
              <a:gd name="adj" fmla="val 50000"/>
            </a:avLst>
          </a:prstGeom>
          <a:solidFill>
            <a:srgbClr val="F3D9A4"/>
          </a:solidFill>
          <a:ln w="9525">
            <a:solidFill>
              <a:srgbClr val="F3D9A4"/>
            </a:solidFill>
            <a:prstDash val="solid"/>
          </a:ln>
        </p:spPr>
      </p:sp>
      <p:sp>
        <p:nvSpPr>
          <p:cNvPr id="7" name="Text 5"/>
          <p:cNvSpPr txBox="1"/>
          <p:nvPr/>
        </p:nvSpPr>
        <p:spPr>
          <a:xfrm>
            <a:off x="2880360" y="2084832"/>
            <a:ext cx="2103120" cy="310896"/>
          </a:xfrm>
          <a:prstGeom prst="rect">
            <a:avLst/>
          </a:prstGeom>
          <a:noFill/>
          <a:ln/>
        </p:spPr>
        <p:txBody>
          <a:bodyPr wrap="square" lIns="0" tIns="0" rIns="0" bIns="0" rtlCol="0" anchor="ctr"/>
          <a:lstStyle/>
          <a:p>
            <a:pPr algn="ctr" indent="0" marL="0">
              <a:buNone/>
            </a:pPr>
            <a:r>
              <a:rPr lang="en-US" sz="1100" b="1" dirty="0">
                <a:solidFill>
                  <a:srgbClr val="2A1B0C"/>
                </a:solidFill>
                <a:latin typeface="Arial" pitchFamily="34" charset="0"/>
                <a:ea typeface="Arial" pitchFamily="34" charset="-122"/>
                <a:cs typeface="Arial" pitchFamily="34" charset="-120"/>
              </a:rPr>
              <a:t>Approve  G1</a:t>
            </a:r>
            <a:endParaRPr lang="en-US" sz="1100" dirty="0"/>
          </a:p>
        </p:txBody>
      </p:sp>
      <p:sp>
        <p:nvSpPr>
          <p:cNvPr id="8" name="Text 6"/>
          <p:cNvSpPr txBox="1"/>
          <p:nvPr/>
        </p:nvSpPr>
        <p:spPr>
          <a:xfrm>
            <a:off x="5212080" y="2011680"/>
            <a:ext cx="6293815" cy="457200"/>
          </a:xfrm>
          <a:prstGeom prst="rect">
            <a:avLst/>
          </a:prstGeom>
          <a:noFill/>
          <a:ln/>
        </p:spPr>
        <p:txBody>
          <a:bodyPr wrap="square" lIns="0" tIns="0" rIns="0" bIns="0" rtlCol="0" anchor="ctr"/>
          <a:lstStyle/>
          <a:p>
            <a:pPr indent="0" marL="0">
              <a:buNone/>
            </a:pPr>
            <a:r>
              <a:rPr lang="en-US" sz="1300" b="1" dirty="0">
                <a:solidFill>
                  <a:srgbClr val="FFF6E6"/>
                </a:solidFill>
                <a:latin typeface="Arial" pitchFamily="34" charset="0"/>
                <a:ea typeface="Arial" pitchFamily="34" charset="-122"/>
                <a:cs typeface="Arial" pitchFamily="34" charset="-120"/>
              </a:rPr>
              <a:t>SPEC-003</a:t>
            </a:r>
            <a:pPr indent="0" marL="0">
              <a:buNone/>
            </a:pPr>
            <a:r>
              <a:rPr lang="en-US" sz="1300" dirty="0">
                <a:solidFill>
                  <a:srgbClr val="E4D8C6"/>
                </a:solidFill>
                <a:latin typeface="Arial" pitchFamily="34" charset="0"/>
                <a:ea typeface="Arial" pitchFamily="34" charset="-122"/>
                <a:cs typeface="Arial" pitchFamily="34" charset="-120"/>
              </a:rPr>
              <a:t> Profit model → agent splits it into </a:t>
            </a:r>
            <a:pPr indent="0" marL="0">
              <a:buNone/>
            </a:pPr>
            <a:r>
              <a:rPr lang="en-US" sz="1300" b="1" dirty="0">
                <a:solidFill>
                  <a:srgbClr val="FFF6E6"/>
                </a:solidFill>
                <a:latin typeface="Arial" pitchFamily="34" charset="0"/>
                <a:ea typeface="Arial" pitchFamily="34" charset="-122"/>
                <a:cs typeface="Arial" pitchFamily="34" charset="-120"/>
              </a:rPr>
              <a:t>5 tickets</a:t>
            </a:r>
            <a:pPr indent="0" marL="0">
              <a:buNone/>
            </a:pPr>
            <a:r>
              <a:rPr lang="en-US" sz="1300" dirty="0">
                <a:solidFill>
                  <a:srgbClr val="E4D8C6"/>
                </a:solidFill>
                <a:latin typeface="Arial" pitchFamily="34" charset="0"/>
                <a:ea typeface="Arial" pitchFamily="34" charset="-122"/>
                <a:cs typeface="Arial" pitchFamily="34" charset="-120"/>
              </a:rPr>
              <a:t> in dependency order</a:t>
            </a:r>
            <a:endParaRPr lang="en-US" sz="1300" dirty="0"/>
          </a:p>
        </p:txBody>
      </p:sp>
      <p:sp>
        <p:nvSpPr>
          <p:cNvPr id="9" name="Shape 7"/>
          <p:cNvSpPr/>
          <p:nvPr/>
        </p:nvSpPr>
        <p:spPr>
          <a:xfrm>
            <a:off x="685800" y="2542032"/>
            <a:ext cx="10820095" cy="0"/>
          </a:xfrm>
          <a:prstGeom prst="line">
            <a:avLst/>
          </a:prstGeom>
          <a:noFill/>
          <a:ln w="9525">
            <a:solidFill>
              <a:srgbClr val="332A1F"/>
            </a:solidFill>
            <a:prstDash val="solid"/>
          </a:ln>
        </p:spPr>
      </p:sp>
      <p:sp>
        <p:nvSpPr>
          <p:cNvPr id="10" name="Text 8"/>
          <p:cNvSpPr txBox="1"/>
          <p:nvPr/>
        </p:nvSpPr>
        <p:spPr>
          <a:xfrm>
            <a:off x="685800" y="2587752"/>
            <a:ext cx="640080" cy="457200"/>
          </a:xfrm>
          <a:prstGeom prst="rect">
            <a:avLst/>
          </a:prstGeom>
          <a:noFill/>
          <a:ln/>
        </p:spPr>
        <p:txBody>
          <a:bodyPr wrap="square" lIns="0" tIns="0" rIns="0" bIns="0" rtlCol="0" anchor="ctr"/>
          <a:lstStyle/>
          <a:p>
            <a:pPr indent="0" marL="0">
              <a:buNone/>
            </a:pPr>
            <a:r>
              <a:rPr lang="en-US" sz="1200" dirty="0">
                <a:solidFill>
                  <a:srgbClr val="B5A186"/>
                </a:solidFill>
                <a:latin typeface="Courier New" pitchFamily="34" charset="0"/>
                <a:ea typeface="Courier New" pitchFamily="34" charset="-122"/>
                <a:cs typeface="Courier New" pitchFamily="34" charset="-120"/>
              </a:rPr>
              <a:t>0:10</a:t>
            </a:r>
            <a:endParaRPr lang="en-US" sz="1200" dirty="0"/>
          </a:p>
        </p:txBody>
      </p:sp>
      <p:sp>
        <p:nvSpPr>
          <p:cNvPr id="11" name="Text 9"/>
          <p:cNvSpPr txBox="1"/>
          <p:nvPr/>
        </p:nvSpPr>
        <p:spPr>
          <a:xfrm>
            <a:off x="1371600" y="2587752"/>
            <a:ext cx="1463040" cy="457200"/>
          </a:xfrm>
          <a:prstGeom prst="rect">
            <a:avLst/>
          </a:prstGeom>
          <a:noFill/>
          <a:ln/>
        </p:spPr>
        <p:txBody>
          <a:bodyPr wrap="square" lIns="0" tIns="0" rIns="0" bIns="0" rtlCol="0" anchor="ctr"/>
          <a:lstStyle/>
          <a:p>
            <a:pPr indent="0" marL="0">
              <a:buNone/>
            </a:pPr>
            <a:r>
              <a:rPr lang="en-US" sz="750" spc="200" kern="0" dirty="0">
                <a:solidFill>
                  <a:srgbClr val="8C7961"/>
                </a:solidFill>
                <a:latin typeface="Arial" pitchFamily="34" charset="0"/>
                <a:ea typeface="Arial" pitchFamily="34" charset="-122"/>
                <a:cs typeface="Arial" pitchFamily="34" charset="-120"/>
              </a:rPr>
              <a:t>JORDAN LEE · DA</a:t>
            </a:r>
            <a:endParaRPr lang="en-US" sz="750" dirty="0"/>
          </a:p>
        </p:txBody>
      </p:sp>
      <p:sp>
        <p:nvSpPr>
          <p:cNvPr id="12" name="Shape 10"/>
          <p:cNvSpPr/>
          <p:nvPr/>
        </p:nvSpPr>
        <p:spPr>
          <a:xfrm>
            <a:off x="2880360" y="2660904"/>
            <a:ext cx="2103120" cy="310896"/>
          </a:xfrm>
          <a:prstGeom prst="roundRect">
            <a:avLst>
              <a:gd name="adj" fmla="val 50000"/>
            </a:avLst>
          </a:prstGeom>
          <a:solidFill>
            <a:srgbClr val="281D15"/>
          </a:solidFill>
          <a:ln w="9525">
            <a:solidFill>
              <a:srgbClr val="4A3D2C"/>
            </a:solidFill>
            <a:prstDash val="solid"/>
          </a:ln>
        </p:spPr>
      </p:sp>
      <p:sp>
        <p:nvSpPr>
          <p:cNvPr id="13" name="Text 11"/>
          <p:cNvSpPr txBox="1"/>
          <p:nvPr/>
        </p:nvSpPr>
        <p:spPr>
          <a:xfrm>
            <a:off x="2880360" y="2660904"/>
            <a:ext cx="2103120" cy="310896"/>
          </a:xfrm>
          <a:prstGeom prst="rect">
            <a:avLst/>
          </a:prstGeom>
          <a:noFill/>
          <a:ln/>
        </p:spPr>
        <p:txBody>
          <a:bodyPr wrap="square" lIns="0" tIns="0" rIns="0" bIns="0" rtlCol="0" anchor="ctr"/>
          <a:lstStyle/>
          <a:p>
            <a:pPr algn="ctr" indent="0" marL="0">
              <a:buNone/>
            </a:pPr>
            <a:r>
              <a:rPr lang="en-US" sz="1100" dirty="0">
                <a:solidFill>
                  <a:srgbClr val="F6EFE4"/>
                </a:solidFill>
                <a:latin typeface="Arial" pitchFamily="34" charset="0"/>
                <a:ea typeface="Arial" pitchFamily="34" charset="-122"/>
                <a:cs typeface="Arial" pitchFamily="34" charset="-120"/>
              </a:rPr>
              <a:t>Accept as Jordan Lee  G2</a:t>
            </a:r>
            <a:endParaRPr lang="en-US" sz="1100" dirty="0"/>
          </a:p>
        </p:txBody>
      </p:sp>
      <p:sp>
        <p:nvSpPr>
          <p:cNvPr id="14" name="Text 12"/>
          <p:cNvSpPr txBox="1"/>
          <p:nvPr/>
        </p:nvSpPr>
        <p:spPr>
          <a:xfrm>
            <a:off x="5212080" y="2587752"/>
            <a:ext cx="6293815" cy="457200"/>
          </a:xfrm>
          <a:prstGeom prst="rect">
            <a:avLst/>
          </a:prstGeom>
          <a:noFill/>
          <a:ln/>
        </p:spPr>
        <p:txBody>
          <a:bodyPr wrap="square" lIns="0" tIns="0" rIns="0" bIns="0" rtlCol="0" anchor="ctr"/>
          <a:lstStyle/>
          <a:p>
            <a:pPr indent="0" marL="0">
              <a:buNone/>
            </a:pPr>
            <a:r>
              <a:rPr lang="en-US" sz="1300" dirty="0">
                <a:solidFill>
                  <a:srgbClr val="E4D8C6"/>
                </a:solidFill>
                <a:latin typeface="Arial" pitchFamily="34" charset="0"/>
                <a:ea typeface="Arial" pitchFamily="34" charset="-122"/>
                <a:cs typeface="Arial" pitchFamily="34" charset="-120"/>
              </a:rPr>
              <a:t>Ticket moves to build → agent writes the </a:t>
            </a:r>
            <a:pPr indent="0" marL="0">
              <a:buNone/>
            </a:pPr>
            <a:r>
              <a:rPr lang="en-US" sz="1300" b="1" dirty="0">
                <a:solidFill>
                  <a:srgbClr val="FFF6E6"/>
                </a:solidFill>
                <a:latin typeface="Arial" pitchFamily="34" charset="0"/>
                <a:ea typeface="Arial" pitchFamily="34" charset="-122"/>
                <a:cs typeface="Arial" pitchFamily="34" charset="-120"/>
              </a:rPr>
              <a:t>break-even draft</a:t>
            </a:r>
            <a:pPr indent="0" marL="0">
              <a:buNone/>
            </a:pPr>
            <a:r>
              <a:rPr lang="en-US" sz="1300" dirty="0">
                <a:solidFill>
                  <a:srgbClr val="E4D8C6"/>
                </a:solidFill>
                <a:latin typeface="Arial" pitchFamily="34" charset="0"/>
                <a:ea typeface="Arial" pitchFamily="34" charset="-122"/>
                <a:cs typeface="Arial" pitchFamily="34" charset="-120"/>
              </a:rPr>
              <a:t> from the client's figures</a:t>
            </a:r>
            <a:endParaRPr lang="en-US" sz="1300" dirty="0"/>
          </a:p>
        </p:txBody>
      </p:sp>
      <p:sp>
        <p:nvSpPr>
          <p:cNvPr id="15" name="Shape 13"/>
          <p:cNvSpPr/>
          <p:nvPr/>
        </p:nvSpPr>
        <p:spPr>
          <a:xfrm>
            <a:off x="685800" y="3118104"/>
            <a:ext cx="10820095" cy="0"/>
          </a:xfrm>
          <a:prstGeom prst="line">
            <a:avLst/>
          </a:prstGeom>
          <a:noFill/>
          <a:ln w="9525">
            <a:solidFill>
              <a:srgbClr val="332A1F"/>
            </a:solidFill>
            <a:prstDash val="solid"/>
          </a:ln>
        </p:spPr>
      </p:sp>
      <p:sp>
        <p:nvSpPr>
          <p:cNvPr id="16" name="Text 14"/>
          <p:cNvSpPr txBox="1"/>
          <p:nvPr/>
        </p:nvSpPr>
        <p:spPr>
          <a:xfrm>
            <a:off x="685800" y="3163824"/>
            <a:ext cx="640080" cy="457200"/>
          </a:xfrm>
          <a:prstGeom prst="rect">
            <a:avLst/>
          </a:prstGeom>
          <a:noFill/>
          <a:ln/>
        </p:spPr>
        <p:txBody>
          <a:bodyPr wrap="square" lIns="0" tIns="0" rIns="0" bIns="0" rtlCol="0" anchor="ctr"/>
          <a:lstStyle/>
          <a:p>
            <a:pPr indent="0" marL="0">
              <a:buNone/>
            </a:pPr>
            <a:r>
              <a:rPr lang="en-US" sz="1200" dirty="0">
                <a:solidFill>
                  <a:srgbClr val="B5A186"/>
                </a:solidFill>
                <a:latin typeface="Courier New" pitchFamily="34" charset="0"/>
                <a:ea typeface="Courier New" pitchFamily="34" charset="-122"/>
                <a:cs typeface="Courier New" pitchFamily="34" charset="-120"/>
              </a:rPr>
              <a:t>0:25</a:t>
            </a:r>
            <a:endParaRPr lang="en-US" sz="1200" dirty="0"/>
          </a:p>
        </p:txBody>
      </p:sp>
      <p:sp>
        <p:nvSpPr>
          <p:cNvPr id="17" name="Text 15"/>
          <p:cNvSpPr txBox="1"/>
          <p:nvPr/>
        </p:nvSpPr>
        <p:spPr>
          <a:xfrm>
            <a:off x="1371600" y="3163824"/>
            <a:ext cx="1463040" cy="457200"/>
          </a:xfrm>
          <a:prstGeom prst="rect">
            <a:avLst/>
          </a:prstGeom>
          <a:noFill/>
          <a:ln/>
        </p:spPr>
        <p:txBody>
          <a:bodyPr wrap="square" lIns="0" tIns="0" rIns="0" bIns="0" rtlCol="0" anchor="ctr"/>
          <a:lstStyle/>
          <a:p>
            <a:pPr indent="0" marL="0">
              <a:buNone/>
            </a:pPr>
            <a:r>
              <a:rPr lang="en-US" sz="750" spc="200" kern="0" dirty="0">
                <a:solidFill>
                  <a:srgbClr val="8C7961"/>
                </a:solidFill>
                <a:latin typeface="Arial" pitchFamily="34" charset="0"/>
                <a:ea typeface="Arial" pitchFamily="34" charset="-122"/>
                <a:cs typeface="Arial" pitchFamily="34" charset="-120"/>
              </a:rPr>
              <a:t>JORDAN LEE · DA</a:t>
            </a:r>
            <a:endParaRPr lang="en-US" sz="750" dirty="0"/>
          </a:p>
        </p:txBody>
      </p:sp>
      <p:sp>
        <p:nvSpPr>
          <p:cNvPr id="18" name="Shape 16"/>
          <p:cNvSpPr/>
          <p:nvPr/>
        </p:nvSpPr>
        <p:spPr>
          <a:xfrm>
            <a:off x="2880360" y="3236976"/>
            <a:ext cx="2103120" cy="310896"/>
          </a:xfrm>
          <a:prstGeom prst="roundRect">
            <a:avLst>
              <a:gd name="adj" fmla="val 50000"/>
            </a:avLst>
          </a:prstGeom>
          <a:solidFill>
            <a:srgbClr val="281D15"/>
          </a:solidFill>
          <a:ln w="9525">
            <a:solidFill>
              <a:srgbClr val="4A3D2C"/>
            </a:solidFill>
            <a:prstDash val="solid"/>
          </a:ln>
        </p:spPr>
      </p:sp>
      <p:sp>
        <p:nvSpPr>
          <p:cNvPr id="19" name="Text 17"/>
          <p:cNvSpPr txBox="1"/>
          <p:nvPr/>
        </p:nvSpPr>
        <p:spPr>
          <a:xfrm>
            <a:off x="2880360" y="3236976"/>
            <a:ext cx="2103120" cy="310896"/>
          </a:xfrm>
          <a:prstGeom prst="rect">
            <a:avLst/>
          </a:prstGeom>
          <a:noFill/>
          <a:ln/>
        </p:spPr>
        <p:txBody>
          <a:bodyPr wrap="square" lIns="0" tIns="0" rIns="0" bIns="0" rtlCol="0" anchor="ctr"/>
          <a:lstStyle/>
          <a:p>
            <a:pPr algn="ctr" indent="0" marL="0">
              <a:buNone/>
            </a:pPr>
            <a:r>
              <a:rPr lang="en-US" sz="1100" dirty="0">
                <a:solidFill>
                  <a:srgbClr val="F6EFE4"/>
                </a:solidFill>
                <a:latin typeface="Arial" pitchFamily="34" charset="0"/>
                <a:ea typeface="Arial" pitchFamily="34" charset="-122"/>
                <a:cs typeface="Arial" pitchFamily="34" charset="-120"/>
              </a:rPr>
              <a:t>Submit for review</a:t>
            </a:r>
            <a:endParaRPr lang="en-US" sz="1100" dirty="0"/>
          </a:p>
        </p:txBody>
      </p:sp>
      <p:sp>
        <p:nvSpPr>
          <p:cNvPr id="20" name="Text 18"/>
          <p:cNvSpPr txBox="1"/>
          <p:nvPr/>
        </p:nvSpPr>
        <p:spPr>
          <a:xfrm>
            <a:off x="5212080" y="3163824"/>
            <a:ext cx="6293815" cy="457200"/>
          </a:xfrm>
          <a:prstGeom prst="rect">
            <a:avLst/>
          </a:prstGeom>
          <a:noFill/>
          <a:ln/>
        </p:spPr>
        <p:txBody>
          <a:bodyPr wrap="square" lIns="0" tIns="0" rIns="0" bIns="0" rtlCol="0" anchor="ctr"/>
          <a:lstStyle/>
          <a:p>
            <a:pPr indent="0" marL="0">
              <a:buNone/>
            </a:pPr>
            <a:r>
              <a:rPr lang="en-US" sz="1300" dirty="0">
                <a:solidFill>
                  <a:srgbClr val="E4D8C6"/>
                </a:solidFill>
                <a:latin typeface="Arial" pitchFamily="34" charset="0"/>
                <a:ea typeface="Arial" pitchFamily="34" charset="-122"/>
                <a:cs typeface="Arial" pitchFamily="34" charset="-120"/>
              </a:rPr>
              <a:t>Agent pre-checks every criterion → </a:t>
            </a:r>
            <a:pPr indent="0" marL="0">
              <a:buNone/>
            </a:pPr>
            <a:r>
              <a:rPr lang="en-US" sz="1300" dirty="0">
                <a:solidFill>
                  <a:srgbClr val="8FD6A8"/>
                </a:solidFill>
                <a:latin typeface="Arial" pitchFamily="34" charset="0"/>
                <a:ea typeface="Arial" pitchFamily="34" charset="-122"/>
                <a:cs typeface="Arial" pitchFamily="34" charset="-120"/>
              </a:rPr>
              <a:t>traceability: every number traces or is ≈</a:t>
            </a:r>
            <a:endParaRPr lang="en-US" sz="1300" dirty="0"/>
          </a:p>
        </p:txBody>
      </p:sp>
      <p:sp>
        <p:nvSpPr>
          <p:cNvPr id="21" name="Shape 19"/>
          <p:cNvSpPr/>
          <p:nvPr/>
        </p:nvSpPr>
        <p:spPr>
          <a:xfrm>
            <a:off x="685800" y="3694176"/>
            <a:ext cx="10820095" cy="0"/>
          </a:xfrm>
          <a:prstGeom prst="line">
            <a:avLst/>
          </a:prstGeom>
          <a:noFill/>
          <a:ln w="9525">
            <a:solidFill>
              <a:srgbClr val="332A1F"/>
            </a:solidFill>
            <a:prstDash val="solid"/>
          </a:ln>
        </p:spPr>
      </p:sp>
      <p:sp>
        <p:nvSpPr>
          <p:cNvPr id="22" name="Text 20"/>
          <p:cNvSpPr txBox="1"/>
          <p:nvPr/>
        </p:nvSpPr>
        <p:spPr>
          <a:xfrm>
            <a:off x="685800" y="3739896"/>
            <a:ext cx="640080" cy="457200"/>
          </a:xfrm>
          <a:prstGeom prst="rect">
            <a:avLst/>
          </a:prstGeom>
          <a:noFill/>
          <a:ln/>
        </p:spPr>
        <p:txBody>
          <a:bodyPr wrap="square" lIns="0" tIns="0" rIns="0" bIns="0" rtlCol="0" anchor="ctr"/>
          <a:lstStyle/>
          <a:p>
            <a:pPr indent="0" marL="0">
              <a:buNone/>
            </a:pPr>
            <a:r>
              <a:rPr lang="en-US" sz="1200" dirty="0">
                <a:solidFill>
                  <a:srgbClr val="B5A186"/>
                </a:solidFill>
                <a:latin typeface="Courier New" pitchFamily="34" charset="0"/>
                <a:ea typeface="Courier New" pitchFamily="34" charset="-122"/>
                <a:cs typeface="Courier New" pitchFamily="34" charset="-120"/>
              </a:rPr>
              <a:t>0:35</a:t>
            </a:r>
            <a:endParaRPr lang="en-US" sz="1200" dirty="0"/>
          </a:p>
        </p:txBody>
      </p:sp>
      <p:sp>
        <p:nvSpPr>
          <p:cNvPr id="23" name="Text 21"/>
          <p:cNvSpPr txBox="1"/>
          <p:nvPr/>
        </p:nvSpPr>
        <p:spPr>
          <a:xfrm>
            <a:off x="1371600" y="3739896"/>
            <a:ext cx="1463040" cy="457200"/>
          </a:xfrm>
          <a:prstGeom prst="rect">
            <a:avLst/>
          </a:prstGeom>
          <a:noFill/>
          <a:ln/>
        </p:spPr>
        <p:txBody>
          <a:bodyPr wrap="square" lIns="0" tIns="0" rIns="0" bIns="0" rtlCol="0" anchor="ctr"/>
          <a:lstStyle/>
          <a:p>
            <a:pPr indent="0" marL="0">
              <a:buNone/>
            </a:pPr>
            <a:r>
              <a:rPr lang="en-US" sz="750" spc="200" kern="0" dirty="0">
                <a:solidFill>
                  <a:srgbClr val="8C7961"/>
                </a:solidFill>
                <a:latin typeface="Arial" pitchFamily="34" charset="0"/>
                <a:ea typeface="Arial" pitchFamily="34" charset="-122"/>
                <a:cs typeface="Arial" pitchFamily="34" charset="-120"/>
              </a:rPr>
              <a:t>JORDAN LEE · DA</a:t>
            </a:r>
            <a:endParaRPr lang="en-US" sz="750" dirty="0"/>
          </a:p>
        </p:txBody>
      </p:sp>
      <p:sp>
        <p:nvSpPr>
          <p:cNvPr id="24" name="Shape 22"/>
          <p:cNvSpPr/>
          <p:nvPr/>
        </p:nvSpPr>
        <p:spPr>
          <a:xfrm>
            <a:off x="2880360" y="3813048"/>
            <a:ext cx="2103120" cy="310896"/>
          </a:xfrm>
          <a:prstGeom prst="roundRect">
            <a:avLst>
              <a:gd name="adj" fmla="val 50000"/>
            </a:avLst>
          </a:prstGeom>
          <a:solidFill>
            <a:srgbClr val="3A1A14"/>
          </a:solidFill>
          <a:ln w="9525">
            <a:solidFill>
              <a:srgbClr val="F0A497"/>
            </a:solidFill>
            <a:prstDash val="solid"/>
          </a:ln>
        </p:spPr>
      </p:sp>
      <p:sp>
        <p:nvSpPr>
          <p:cNvPr id="25" name="Text 23"/>
          <p:cNvSpPr txBox="1"/>
          <p:nvPr/>
        </p:nvSpPr>
        <p:spPr>
          <a:xfrm>
            <a:off x="2880360" y="3813048"/>
            <a:ext cx="2103120" cy="310896"/>
          </a:xfrm>
          <a:prstGeom prst="rect">
            <a:avLst/>
          </a:prstGeom>
          <a:noFill/>
          <a:ln/>
        </p:spPr>
        <p:txBody>
          <a:bodyPr wrap="square" lIns="0" tIns="0" rIns="0" bIns="0" rtlCol="0" anchor="ctr"/>
          <a:lstStyle/>
          <a:p>
            <a:pPr algn="ctr" indent="0" marL="0">
              <a:buNone/>
            </a:pPr>
            <a:r>
              <a:rPr lang="en-US" sz="1100" dirty="0">
                <a:solidFill>
                  <a:srgbClr val="F0A497"/>
                </a:solidFill>
                <a:latin typeface="Arial" pitchFamily="34" charset="0"/>
                <a:ea typeface="Arial" pitchFamily="34" charset="-122"/>
                <a:cs typeface="Arial" pitchFamily="34" charset="-120"/>
              </a:rPr>
              <a:t>Approve  G3</a:t>
            </a:r>
            <a:endParaRPr lang="en-US" sz="1100" dirty="0"/>
          </a:p>
        </p:txBody>
      </p:sp>
      <p:sp>
        <p:nvSpPr>
          <p:cNvPr id="26" name="Text 24"/>
          <p:cNvSpPr txBox="1"/>
          <p:nvPr/>
        </p:nvSpPr>
        <p:spPr>
          <a:xfrm>
            <a:off x="5212080" y="3739896"/>
            <a:ext cx="6293815" cy="457200"/>
          </a:xfrm>
          <a:prstGeom prst="rect">
            <a:avLst/>
          </a:prstGeom>
          <a:noFill/>
          <a:ln/>
        </p:spPr>
        <p:txBody>
          <a:bodyPr wrap="square" lIns="0" tIns="0" rIns="0" bIns="0" rtlCol="0" anchor="ctr"/>
          <a:lstStyle/>
          <a:p>
            <a:pPr indent="0" marL="0">
              <a:buNone/>
            </a:pPr>
            <a:r>
              <a:rPr lang="en-US" sz="1300" b="1" dirty="0">
                <a:solidFill>
                  <a:srgbClr val="F0A497"/>
                </a:solidFill>
                <a:latin typeface="Arial" pitchFamily="34" charset="0"/>
                <a:ea typeface="Arial" pitchFamily="34" charset="-122"/>
                <a:cs typeface="Arial" pitchFamily="34" charset="-120"/>
              </a:rPr>
              <a:t>409</a:t>
            </a:r>
            <a:pPr indent="0" marL="0">
              <a:buNone/>
            </a:pPr>
            <a:r>
              <a:rPr lang="en-US" sz="1300" dirty="0">
                <a:solidFill>
                  <a:srgbClr val="E4D8C6"/>
                </a:solidFill>
                <a:latin typeface="Arial" pitchFamily="34" charset="0"/>
                <a:ea typeface="Arial" pitchFamily="34" charset="-122"/>
                <a:cs typeface="Arial" pitchFamily="34" charset="-120"/>
              </a:rPr>
              <a:t> — The reviewer must differ from the builder.</a:t>
            </a:r>
            <a:endParaRPr lang="en-US" sz="1300" dirty="0"/>
          </a:p>
        </p:txBody>
      </p:sp>
      <p:sp>
        <p:nvSpPr>
          <p:cNvPr id="27" name="Shape 25"/>
          <p:cNvSpPr/>
          <p:nvPr/>
        </p:nvSpPr>
        <p:spPr>
          <a:xfrm>
            <a:off x="685800" y="4270248"/>
            <a:ext cx="10820095" cy="0"/>
          </a:xfrm>
          <a:prstGeom prst="line">
            <a:avLst/>
          </a:prstGeom>
          <a:noFill/>
          <a:ln w="9525">
            <a:solidFill>
              <a:srgbClr val="332A1F"/>
            </a:solidFill>
            <a:prstDash val="solid"/>
          </a:ln>
        </p:spPr>
      </p:sp>
      <p:sp>
        <p:nvSpPr>
          <p:cNvPr id="28" name="Text 26"/>
          <p:cNvSpPr txBox="1"/>
          <p:nvPr/>
        </p:nvSpPr>
        <p:spPr>
          <a:xfrm>
            <a:off x="685800" y="4315968"/>
            <a:ext cx="640080" cy="457200"/>
          </a:xfrm>
          <a:prstGeom prst="rect">
            <a:avLst/>
          </a:prstGeom>
          <a:noFill/>
          <a:ln/>
        </p:spPr>
        <p:txBody>
          <a:bodyPr wrap="square" lIns="0" tIns="0" rIns="0" bIns="0" rtlCol="0" anchor="ctr"/>
          <a:lstStyle/>
          <a:p>
            <a:pPr indent="0" marL="0">
              <a:buNone/>
            </a:pPr>
            <a:r>
              <a:rPr lang="en-US" sz="1200" dirty="0">
                <a:solidFill>
                  <a:srgbClr val="B5A186"/>
                </a:solidFill>
                <a:latin typeface="Courier New" pitchFamily="34" charset="0"/>
                <a:ea typeface="Courier New" pitchFamily="34" charset="-122"/>
                <a:cs typeface="Courier New" pitchFamily="34" charset="-120"/>
              </a:rPr>
              <a:t>0:42</a:t>
            </a:r>
            <a:endParaRPr lang="en-US" sz="1200" dirty="0"/>
          </a:p>
        </p:txBody>
      </p:sp>
      <p:sp>
        <p:nvSpPr>
          <p:cNvPr id="29" name="Text 27"/>
          <p:cNvSpPr txBox="1"/>
          <p:nvPr/>
        </p:nvSpPr>
        <p:spPr>
          <a:xfrm>
            <a:off x="1371600" y="4315968"/>
            <a:ext cx="1463040" cy="457200"/>
          </a:xfrm>
          <a:prstGeom prst="rect">
            <a:avLst/>
          </a:prstGeom>
          <a:noFill/>
          <a:ln/>
        </p:spPr>
        <p:txBody>
          <a:bodyPr wrap="square" lIns="0" tIns="0" rIns="0" bIns="0" rtlCol="0" anchor="ctr"/>
          <a:lstStyle/>
          <a:p>
            <a:pPr indent="0" marL="0">
              <a:buNone/>
            </a:pPr>
            <a:r>
              <a:rPr lang="en-US" sz="750" spc="200" kern="0" dirty="0">
                <a:solidFill>
                  <a:srgbClr val="8C7961"/>
                </a:solidFill>
                <a:latin typeface="Arial" pitchFamily="34" charset="0"/>
                <a:ea typeface="Arial" pitchFamily="34" charset="-122"/>
                <a:cs typeface="Arial" pitchFamily="34" charset="-120"/>
              </a:rPr>
              <a:t>MORGAN DIAZ · DA</a:t>
            </a:r>
            <a:endParaRPr lang="en-US" sz="750" dirty="0"/>
          </a:p>
        </p:txBody>
      </p:sp>
      <p:sp>
        <p:nvSpPr>
          <p:cNvPr id="30" name="Shape 28"/>
          <p:cNvSpPr/>
          <p:nvPr/>
        </p:nvSpPr>
        <p:spPr>
          <a:xfrm>
            <a:off x="2880360" y="4389120"/>
            <a:ext cx="2103120" cy="310896"/>
          </a:xfrm>
          <a:prstGeom prst="roundRect">
            <a:avLst>
              <a:gd name="adj" fmla="val 50000"/>
            </a:avLst>
          </a:prstGeom>
          <a:solidFill>
            <a:srgbClr val="F3D9A4"/>
          </a:solidFill>
          <a:ln w="9525">
            <a:solidFill>
              <a:srgbClr val="F3D9A4"/>
            </a:solidFill>
            <a:prstDash val="solid"/>
          </a:ln>
        </p:spPr>
      </p:sp>
      <p:sp>
        <p:nvSpPr>
          <p:cNvPr id="31" name="Text 29"/>
          <p:cNvSpPr txBox="1"/>
          <p:nvPr/>
        </p:nvSpPr>
        <p:spPr>
          <a:xfrm>
            <a:off x="2880360" y="4389120"/>
            <a:ext cx="2103120" cy="310896"/>
          </a:xfrm>
          <a:prstGeom prst="rect">
            <a:avLst/>
          </a:prstGeom>
          <a:noFill/>
          <a:ln/>
        </p:spPr>
        <p:txBody>
          <a:bodyPr wrap="square" lIns="0" tIns="0" rIns="0" bIns="0" rtlCol="0" anchor="ctr"/>
          <a:lstStyle/>
          <a:p>
            <a:pPr algn="ctr" indent="0" marL="0">
              <a:buNone/>
            </a:pPr>
            <a:r>
              <a:rPr lang="en-US" sz="1100" b="1" dirty="0">
                <a:solidFill>
                  <a:srgbClr val="2A1B0C"/>
                </a:solidFill>
                <a:latin typeface="Arial" pitchFamily="34" charset="0"/>
                <a:ea typeface="Arial" pitchFamily="34" charset="-122"/>
                <a:cs typeface="Arial" pitchFamily="34" charset="-120"/>
              </a:rPr>
              <a:t>Approve  G3</a:t>
            </a:r>
            <a:endParaRPr lang="en-US" sz="1100" dirty="0"/>
          </a:p>
        </p:txBody>
      </p:sp>
      <p:sp>
        <p:nvSpPr>
          <p:cNvPr id="32" name="Text 30"/>
          <p:cNvSpPr txBox="1"/>
          <p:nvPr/>
        </p:nvSpPr>
        <p:spPr>
          <a:xfrm>
            <a:off x="5212080" y="4315968"/>
            <a:ext cx="6293815" cy="457200"/>
          </a:xfrm>
          <a:prstGeom prst="rect">
            <a:avLst/>
          </a:prstGeom>
          <a:noFill/>
          <a:ln/>
        </p:spPr>
        <p:txBody>
          <a:bodyPr wrap="square" lIns="0" tIns="0" rIns="0" bIns="0" rtlCol="0" anchor="ctr"/>
          <a:lstStyle/>
          <a:p>
            <a:pPr indent="0" marL="0">
              <a:buNone/>
            </a:pPr>
            <a:r>
              <a:rPr lang="en-US" sz="1300" dirty="0">
                <a:solidFill>
                  <a:srgbClr val="E4D8C6"/>
                </a:solidFill>
                <a:latin typeface="Arial" pitchFamily="34" charset="0"/>
                <a:ea typeface="Arial" pitchFamily="34" charset="-122"/>
                <a:cs typeface="Arial" pitchFamily="34" charset="-120"/>
              </a:rPr>
              <a:t>Approved by a </a:t>
            </a:r>
            <a:pPr indent="0" marL="0">
              <a:buNone/>
            </a:pPr>
            <a:r>
              <a:rPr lang="en-US" sz="1300" b="1" dirty="0">
                <a:solidFill>
                  <a:srgbClr val="FFF6E6"/>
                </a:solidFill>
                <a:latin typeface="Arial" pitchFamily="34" charset="0"/>
                <a:ea typeface="Arial" pitchFamily="34" charset="-122"/>
                <a:cs typeface="Arial" pitchFamily="34" charset="-120"/>
              </a:rPr>
              <a:t>different person</a:t>
            </a:r>
            <a:pPr indent="0" marL="0">
              <a:buNone/>
            </a:pPr>
            <a:r>
              <a:rPr lang="en-US" sz="1300" dirty="0">
                <a:solidFill>
                  <a:srgbClr val="E4D8C6"/>
                </a:solidFill>
                <a:latin typeface="Arial" pitchFamily="34" charset="0"/>
                <a:ea typeface="Arial" pitchFamily="34" charset="-122"/>
                <a:cs typeface="Arial" pitchFamily="34" charset="-120"/>
              </a:rPr>
              <a:t> in the role</a:t>
            </a:r>
            <a:endParaRPr lang="en-US" sz="1300" dirty="0"/>
          </a:p>
        </p:txBody>
      </p:sp>
      <p:sp>
        <p:nvSpPr>
          <p:cNvPr id="33" name="Shape 31"/>
          <p:cNvSpPr/>
          <p:nvPr/>
        </p:nvSpPr>
        <p:spPr>
          <a:xfrm>
            <a:off x="685800" y="4846320"/>
            <a:ext cx="10820095" cy="0"/>
          </a:xfrm>
          <a:prstGeom prst="line">
            <a:avLst/>
          </a:prstGeom>
          <a:noFill/>
          <a:ln w="9525">
            <a:solidFill>
              <a:srgbClr val="332A1F"/>
            </a:solidFill>
            <a:prstDash val="solid"/>
          </a:ln>
        </p:spPr>
      </p:sp>
      <p:sp>
        <p:nvSpPr>
          <p:cNvPr id="34" name="Text 32"/>
          <p:cNvSpPr txBox="1"/>
          <p:nvPr/>
        </p:nvSpPr>
        <p:spPr>
          <a:xfrm>
            <a:off x="685800" y="4892040"/>
            <a:ext cx="640080" cy="457200"/>
          </a:xfrm>
          <a:prstGeom prst="rect">
            <a:avLst/>
          </a:prstGeom>
          <a:noFill/>
          <a:ln/>
        </p:spPr>
        <p:txBody>
          <a:bodyPr wrap="square" lIns="0" tIns="0" rIns="0" bIns="0" rtlCol="0" anchor="ctr"/>
          <a:lstStyle/>
          <a:p>
            <a:pPr indent="0" marL="0">
              <a:buNone/>
            </a:pPr>
            <a:r>
              <a:rPr lang="en-US" sz="1200" dirty="0">
                <a:solidFill>
                  <a:srgbClr val="B5A186"/>
                </a:solidFill>
                <a:latin typeface="Courier New" pitchFamily="34" charset="0"/>
                <a:ea typeface="Courier New" pitchFamily="34" charset="-122"/>
                <a:cs typeface="Courier New" pitchFamily="34" charset="-120"/>
              </a:rPr>
              <a:t>0:50</a:t>
            </a:r>
            <a:endParaRPr lang="en-US" sz="1200" dirty="0"/>
          </a:p>
        </p:txBody>
      </p:sp>
      <p:sp>
        <p:nvSpPr>
          <p:cNvPr id="35" name="Text 33"/>
          <p:cNvSpPr txBox="1"/>
          <p:nvPr/>
        </p:nvSpPr>
        <p:spPr>
          <a:xfrm>
            <a:off x="1371600" y="4892040"/>
            <a:ext cx="1463040" cy="457200"/>
          </a:xfrm>
          <a:prstGeom prst="rect">
            <a:avLst/>
          </a:prstGeom>
          <a:noFill/>
          <a:ln/>
        </p:spPr>
        <p:txBody>
          <a:bodyPr wrap="square" lIns="0" tIns="0" rIns="0" bIns="0" rtlCol="0" anchor="ctr"/>
          <a:lstStyle/>
          <a:p>
            <a:pPr indent="0" marL="0">
              <a:buNone/>
            </a:pPr>
            <a:r>
              <a:rPr lang="en-US" sz="750" spc="200" kern="0" dirty="0">
                <a:solidFill>
                  <a:srgbClr val="8C7961"/>
                </a:solidFill>
                <a:latin typeface="Arial" pitchFamily="34" charset="0"/>
                <a:ea typeface="Arial" pitchFamily="34" charset="-122"/>
                <a:cs typeface="Arial" pitchFamily="34" charset="-120"/>
              </a:rPr>
              <a:t>AVERY PARK · OWNER</a:t>
            </a:r>
            <a:endParaRPr lang="en-US" sz="750" dirty="0"/>
          </a:p>
        </p:txBody>
      </p:sp>
      <p:sp>
        <p:nvSpPr>
          <p:cNvPr id="36" name="Shape 34"/>
          <p:cNvSpPr/>
          <p:nvPr/>
        </p:nvSpPr>
        <p:spPr>
          <a:xfrm>
            <a:off x="2880360" y="4965192"/>
            <a:ext cx="2103120" cy="310896"/>
          </a:xfrm>
          <a:prstGeom prst="roundRect">
            <a:avLst>
              <a:gd name="adj" fmla="val 50000"/>
            </a:avLst>
          </a:prstGeom>
          <a:solidFill>
            <a:srgbClr val="F3D9A4"/>
          </a:solidFill>
          <a:ln w="9525">
            <a:solidFill>
              <a:srgbClr val="F3D9A4"/>
            </a:solidFill>
            <a:prstDash val="solid"/>
          </a:ln>
        </p:spPr>
      </p:sp>
      <p:sp>
        <p:nvSpPr>
          <p:cNvPr id="37" name="Text 35"/>
          <p:cNvSpPr txBox="1"/>
          <p:nvPr/>
        </p:nvSpPr>
        <p:spPr>
          <a:xfrm>
            <a:off x="2880360" y="4965192"/>
            <a:ext cx="2103120" cy="310896"/>
          </a:xfrm>
          <a:prstGeom prst="rect">
            <a:avLst/>
          </a:prstGeom>
          <a:noFill/>
          <a:ln/>
        </p:spPr>
        <p:txBody>
          <a:bodyPr wrap="square" lIns="0" tIns="0" rIns="0" bIns="0" rtlCol="0" anchor="ctr"/>
          <a:lstStyle/>
          <a:p>
            <a:pPr algn="ctr" indent="0" marL="0">
              <a:buNone/>
            </a:pPr>
            <a:r>
              <a:rPr lang="en-US" sz="1100" b="1" dirty="0">
                <a:solidFill>
                  <a:srgbClr val="2A1B0C"/>
                </a:solidFill>
                <a:latin typeface="Arial" pitchFamily="34" charset="0"/>
                <a:ea typeface="Arial" pitchFamily="34" charset="-122"/>
                <a:cs typeface="Arial" pitchFamily="34" charset="-120"/>
              </a:rPr>
              <a:t>Release SPEC-003…  G4</a:t>
            </a:r>
            <a:endParaRPr lang="en-US" sz="1100" dirty="0"/>
          </a:p>
        </p:txBody>
      </p:sp>
      <p:sp>
        <p:nvSpPr>
          <p:cNvPr id="38" name="Text 36"/>
          <p:cNvSpPr txBox="1"/>
          <p:nvPr/>
        </p:nvSpPr>
        <p:spPr>
          <a:xfrm>
            <a:off x="5212080" y="4892040"/>
            <a:ext cx="6293815" cy="457200"/>
          </a:xfrm>
          <a:prstGeom prst="rect">
            <a:avLst/>
          </a:prstGeom>
          <a:noFill/>
          <a:ln/>
        </p:spPr>
        <p:txBody>
          <a:bodyPr wrap="square" lIns="0" tIns="0" rIns="0" bIns="0" rtlCol="0" anchor="ctr"/>
          <a:lstStyle/>
          <a:p>
            <a:pPr indent="0" marL="0">
              <a:buNone/>
            </a:pPr>
            <a:r>
              <a:rPr lang="en-US" sz="1300" dirty="0">
                <a:solidFill>
                  <a:srgbClr val="E4D8C6"/>
                </a:solidFill>
                <a:latin typeface="Arial" pitchFamily="34" charset="0"/>
                <a:ea typeface="Arial" pitchFamily="34" charset="-122"/>
                <a:cs typeface="Arial" pitchFamily="34" charset="-120"/>
              </a:rPr>
              <a:t>Release notes + client summary; </a:t>
            </a:r>
            <a:pPr indent="0" marL="0">
              <a:buNone/>
            </a:pPr>
            <a:r>
              <a:rPr lang="en-US" sz="1300" b="1" dirty="0">
                <a:solidFill>
                  <a:srgbClr val="FFF6E6"/>
                </a:solidFill>
                <a:latin typeface="Arial" pitchFamily="34" charset="0"/>
                <a:ea typeface="Arial" pitchFamily="34" charset="-122"/>
                <a:cs typeface="Arial" pitchFamily="34" charset="-120"/>
              </a:rPr>
              <a:t>client sign-off</a:t>
            </a:r>
            <a:pPr indent="0" marL="0">
              <a:buNone/>
            </a:pPr>
            <a:r>
              <a:rPr lang="en-US" sz="1300" dirty="0">
                <a:solidFill>
                  <a:srgbClr val="E4D8C6"/>
                </a:solidFill>
                <a:latin typeface="Arial" pitchFamily="34" charset="0"/>
                <a:ea typeface="Arial" pitchFamily="34" charset="-122"/>
                <a:cs typeface="Arial" pitchFamily="34" charset="-120"/>
              </a:rPr>
              <a:t> recorded because it touches their ad account</a:t>
            </a:r>
            <a:endParaRPr lang="en-US" sz="1300" dirty="0"/>
          </a:p>
        </p:txBody>
      </p:sp>
      <p:sp>
        <p:nvSpPr>
          <p:cNvPr id="39" name="Shape 37"/>
          <p:cNvSpPr/>
          <p:nvPr/>
        </p:nvSpPr>
        <p:spPr>
          <a:xfrm>
            <a:off x="685800" y="5422392"/>
            <a:ext cx="10820095" cy="0"/>
          </a:xfrm>
          <a:prstGeom prst="line">
            <a:avLst/>
          </a:prstGeom>
          <a:noFill/>
          <a:ln w="9525">
            <a:solidFill>
              <a:srgbClr val="332A1F"/>
            </a:solidFill>
            <a:prstDash val="solid"/>
          </a:ln>
        </p:spPr>
      </p:sp>
      <p:sp>
        <p:nvSpPr>
          <p:cNvPr id="40" name="Text 38"/>
          <p:cNvSpPr txBox="1"/>
          <p:nvPr/>
        </p:nvSpPr>
        <p:spPr>
          <a:xfrm>
            <a:off x="685800" y="5468112"/>
            <a:ext cx="640080" cy="457200"/>
          </a:xfrm>
          <a:prstGeom prst="rect">
            <a:avLst/>
          </a:prstGeom>
          <a:noFill/>
          <a:ln/>
        </p:spPr>
        <p:txBody>
          <a:bodyPr wrap="square" lIns="0" tIns="0" rIns="0" bIns="0" rtlCol="0" anchor="ctr"/>
          <a:lstStyle/>
          <a:p>
            <a:pPr indent="0" marL="0">
              <a:buNone/>
            </a:pPr>
            <a:r>
              <a:rPr lang="en-US" sz="1200" dirty="0">
                <a:solidFill>
                  <a:srgbClr val="B5A186"/>
                </a:solidFill>
                <a:latin typeface="Courier New" pitchFamily="34" charset="0"/>
                <a:ea typeface="Courier New" pitchFamily="34" charset="-122"/>
                <a:cs typeface="Courier New" pitchFamily="34" charset="-120"/>
              </a:rPr>
              <a:t>0:58</a:t>
            </a:r>
            <a:endParaRPr lang="en-US" sz="1200" dirty="0"/>
          </a:p>
        </p:txBody>
      </p:sp>
      <p:sp>
        <p:nvSpPr>
          <p:cNvPr id="41" name="Text 39"/>
          <p:cNvSpPr txBox="1"/>
          <p:nvPr/>
        </p:nvSpPr>
        <p:spPr>
          <a:xfrm>
            <a:off x="1371600" y="5468112"/>
            <a:ext cx="1463040" cy="457200"/>
          </a:xfrm>
          <a:prstGeom prst="rect">
            <a:avLst/>
          </a:prstGeom>
          <a:noFill/>
          <a:ln/>
        </p:spPr>
        <p:txBody>
          <a:bodyPr wrap="square" lIns="0" tIns="0" rIns="0" bIns="0" rtlCol="0" anchor="ctr"/>
          <a:lstStyle/>
          <a:p>
            <a:pPr indent="0" marL="0">
              <a:buNone/>
            </a:pPr>
            <a:r>
              <a:rPr lang="en-US" sz="750" spc="200" kern="0" dirty="0">
                <a:solidFill>
                  <a:srgbClr val="8C7961"/>
                </a:solidFill>
                <a:latin typeface="Arial" pitchFamily="34" charset="0"/>
                <a:ea typeface="Arial" pitchFamily="34" charset="-122"/>
                <a:cs typeface="Arial" pitchFamily="34" charset="-120"/>
              </a:rPr>
              <a:t>AVERY PARK · OWNER</a:t>
            </a:r>
            <a:endParaRPr lang="en-US" sz="750" dirty="0"/>
          </a:p>
        </p:txBody>
      </p:sp>
      <p:sp>
        <p:nvSpPr>
          <p:cNvPr id="42" name="Shape 40"/>
          <p:cNvSpPr/>
          <p:nvPr/>
        </p:nvSpPr>
        <p:spPr>
          <a:xfrm>
            <a:off x="2880360" y="5541264"/>
            <a:ext cx="2103120" cy="310896"/>
          </a:xfrm>
          <a:prstGeom prst="roundRect">
            <a:avLst>
              <a:gd name="adj" fmla="val 50000"/>
            </a:avLst>
          </a:prstGeom>
          <a:solidFill>
            <a:srgbClr val="F3D9A4"/>
          </a:solidFill>
          <a:ln w="9525">
            <a:solidFill>
              <a:srgbClr val="F3D9A4"/>
            </a:solidFill>
            <a:prstDash val="solid"/>
          </a:ln>
        </p:spPr>
      </p:sp>
      <p:sp>
        <p:nvSpPr>
          <p:cNvPr id="43" name="Text 41"/>
          <p:cNvSpPr txBox="1"/>
          <p:nvPr/>
        </p:nvSpPr>
        <p:spPr>
          <a:xfrm>
            <a:off x="2880360" y="5541264"/>
            <a:ext cx="2103120" cy="310896"/>
          </a:xfrm>
          <a:prstGeom prst="rect">
            <a:avLst/>
          </a:prstGeom>
          <a:noFill/>
          <a:ln/>
        </p:spPr>
        <p:txBody>
          <a:bodyPr wrap="square" lIns="0" tIns="0" rIns="0" bIns="0" rtlCol="0" anchor="ctr"/>
          <a:lstStyle/>
          <a:p>
            <a:pPr algn="ctr" indent="0" marL="0">
              <a:buNone/>
            </a:pPr>
            <a:r>
              <a:rPr lang="en-US" sz="1100" b="1" dirty="0">
                <a:solidFill>
                  <a:srgbClr val="2A1B0C"/>
                </a:solidFill>
                <a:latin typeface="Arial" pitchFamily="34" charset="0"/>
                <a:ea typeface="Arial" pitchFamily="34" charset="-122"/>
                <a:cs typeface="Arial" pitchFamily="34" charset="-120"/>
              </a:rPr>
              <a:t>Approve &amp; send  G5</a:t>
            </a:r>
            <a:endParaRPr lang="en-US" sz="1100" dirty="0"/>
          </a:p>
        </p:txBody>
      </p:sp>
      <p:sp>
        <p:nvSpPr>
          <p:cNvPr id="44" name="Text 42"/>
          <p:cNvSpPr txBox="1"/>
          <p:nvPr/>
        </p:nvSpPr>
        <p:spPr>
          <a:xfrm>
            <a:off x="5212080" y="5468112"/>
            <a:ext cx="6293815" cy="457200"/>
          </a:xfrm>
          <a:prstGeom prst="rect">
            <a:avLst/>
          </a:prstGeom>
          <a:noFill/>
          <a:ln/>
        </p:spPr>
        <p:txBody>
          <a:bodyPr wrap="square" lIns="0" tIns="0" rIns="0" bIns="0" rtlCol="0" anchor="ctr"/>
          <a:lstStyle/>
          <a:p>
            <a:pPr indent="0" marL="0">
              <a:buNone/>
            </a:pPr>
            <a:r>
              <a:rPr lang="en-US" sz="1300" dirty="0">
                <a:solidFill>
                  <a:srgbClr val="E4D8C6"/>
                </a:solidFill>
                <a:latin typeface="Arial" pitchFamily="34" charset="0"/>
                <a:ea typeface="Arial" pitchFamily="34" charset="-122"/>
                <a:cs typeface="Arial" pitchFamily="34" charset="-120"/>
              </a:rPr>
              <a:t>Plain-language </a:t>
            </a:r>
            <a:pPr indent="0" marL="0">
              <a:buNone/>
            </a:pPr>
            <a:r>
              <a:rPr lang="en-US" sz="1300" b="1" dirty="0">
                <a:solidFill>
                  <a:srgbClr val="FFF6E6"/>
                </a:solidFill>
                <a:latin typeface="Arial" pitchFamily="34" charset="0"/>
                <a:ea typeface="Arial" pitchFamily="34" charset="-122"/>
                <a:cs typeface="Arial" pitchFamily="34" charset="-120"/>
              </a:rPr>
              <a:t>client update</a:t>
            </a:r>
            <a:pPr indent="0" marL="0">
              <a:buNone/>
            </a:pPr>
            <a:r>
              <a:rPr lang="en-US" sz="1300" dirty="0">
                <a:solidFill>
                  <a:srgbClr val="E4D8C6"/>
                </a:solidFill>
                <a:latin typeface="Arial" pitchFamily="34" charset="0"/>
                <a:ea typeface="Arial" pitchFamily="34" charset="-122"/>
                <a:cs typeface="Arial" pitchFamily="34" charset="-120"/>
              </a:rPr>
              <a:t> with a follow-up question per open gap → back to the client's AI</a:t>
            </a:r>
            <a:endParaRPr lang="en-US" sz="1300" dirty="0"/>
          </a:p>
        </p:txBody>
      </p:sp>
      <p:sp>
        <p:nvSpPr>
          <p:cNvPr id="25" name="Slide Number Placeholder 0"/>
          <p:cNvSpPr>
            <a:spLocks noGrp="1"/>
          </p:cNvSpPr>
          <p:nvPr>
            <p:ph type="sldNum" sz="quarter" idx="4294967295"/>
          </p:nvPr>
        </p:nvSpPr>
        <p:spPr>
          <a:xfrm>
            <a:off x="10408615" y="6355080"/>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7961"/>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85800" y="411480"/>
            <a:ext cx="10820095" cy="320040"/>
          </a:xfrm>
          <a:prstGeom prst="rect">
            <a:avLst/>
          </a:prstGeom>
          <a:noFill/>
          <a:ln/>
        </p:spPr>
        <p:txBody>
          <a:bodyPr wrap="square" lIns="0" tIns="0" rIns="0" bIns="0" rtlCol="0" anchor="ctr"/>
          <a:lstStyle/>
          <a:p>
            <a:pPr indent="0" marL="0">
              <a:buNone/>
            </a:pPr>
            <a:r>
              <a:rPr lang="en-US" sz="1100" spc="600" kern="0" dirty="0">
                <a:solidFill>
                  <a:srgbClr val="E8C290"/>
                </a:solidFill>
                <a:latin typeface="Arial" pitchFamily="34" charset="0"/>
                <a:ea typeface="Arial" pitchFamily="34" charset="-122"/>
                <a:cs typeface="Arial" pitchFamily="34" charset="-120"/>
              </a:rPr>
              <a:t>WHY IT'S A BUSINESS</a:t>
            </a:r>
            <a:endParaRPr lang="en-US" sz="1100" dirty="0"/>
          </a:p>
        </p:txBody>
      </p:sp>
      <p:sp>
        <p:nvSpPr>
          <p:cNvPr id="3" name="Text 1"/>
          <p:cNvSpPr txBox="1"/>
          <p:nvPr/>
        </p:nvSpPr>
        <p:spPr>
          <a:xfrm>
            <a:off x="685800" y="731520"/>
            <a:ext cx="10820095" cy="731520"/>
          </a:xfrm>
          <a:prstGeom prst="rect">
            <a:avLst/>
          </a:prstGeom>
          <a:noFill/>
          <a:ln/>
        </p:spPr>
        <p:txBody>
          <a:bodyPr wrap="square" lIns="0" tIns="0" rIns="0" bIns="0" rtlCol="0" anchor="t"/>
          <a:lstStyle/>
          <a:p>
            <a:pPr indent="0" marL="0">
              <a:lnSpc>
                <a:spcPct val="105000"/>
              </a:lnSpc>
              <a:buNone/>
            </a:pPr>
            <a:r>
              <a:rPr lang="en-US" sz="3400" dirty="0">
                <a:solidFill>
                  <a:srgbClr val="FFF6E6"/>
                </a:solidFill>
                <a:latin typeface="Arial" pitchFamily="34" charset="0"/>
                <a:ea typeface="Arial" pitchFamily="34" charset="-122"/>
                <a:cs typeface="Arial" pitchFamily="34" charset="-120"/>
              </a:rPr>
              <a:t>The agency owner pays. </a:t>
            </a:r>
            <a:pPr indent="0" marL="0">
              <a:lnSpc>
                <a:spcPct val="105000"/>
              </a:lnSpc>
              <a:buNone/>
            </a:pPr>
            <a:r>
              <a:rPr lang="en-US" sz="3400" dirty="0">
                <a:solidFill>
                  <a:srgbClr val="F3D9A4"/>
                </a:solidFill>
                <a:latin typeface="Arial" pitchFamily="34" charset="0"/>
                <a:ea typeface="Arial" pitchFamily="34" charset="-122"/>
                <a:cs typeface="Arial" pitchFamily="34" charset="-120"/>
              </a:rPr>
              <a:t>The client's AI is the channel.</a:t>
            </a:r>
            <a:endParaRPr lang="en-US" sz="3400" dirty="0"/>
          </a:p>
        </p:txBody>
      </p:sp>
      <p:sp>
        <p:nvSpPr>
          <p:cNvPr id="4" name="Shape 2"/>
          <p:cNvSpPr/>
          <p:nvPr/>
        </p:nvSpPr>
        <p:spPr>
          <a:xfrm>
            <a:off x="685800" y="1691640"/>
            <a:ext cx="3454298" cy="3108960"/>
          </a:xfrm>
          <a:prstGeom prst="roundRect">
            <a:avLst>
              <a:gd name="adj" fmla="val 3529"/>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5" name="Text 3"/>
          <p:cNvSpPr txBox="1"/>
          <p:nvPr/>
        </p:nvSpPr>
        <p:spPr>
          <a:xfrm>
            <a:off x="914400" y="1874520"/>
            <a:ext cx="1828800" cy="228600"/>
          </a:xfrm>
          <a:prstGeom prst="rect">
            <a:avLst/>
          </a:prstGeom>
          <a:noFill/>
          <a:ln/>
        </p:spPr>
        <p:txBody>
          <a:bodyPr wrap="square" lIns="0" tIns="0" rIns="0" bIns="0" rtlCol="0" anchor="t"/>
          <a:lstStyle/>
          <a:p>
            <a:pPr indent="0" marL="0">
              <a:buNone/>
            </a:pPr>
            <a:r>
              <a:rPr lang="en-US" sz="850" b="1" spc="400" kern="0" dirty="0">
                <a:solidFill>
                  <a:srgbClr val="E8C290"/>
                </a:solidFill>
                <a:latin typeface="Arial" pitchFamily="34" charset="0"/>
                <a:ea typeface="Arial" pitchFamily="34" charset="-122"/>
                <a:cs typeface="Arial" pitchFamily="34" charset="-120"/>
              </a:rPr>
              <a:t>WHO PAYS</a:t>
            </a:r>
            <a:endParaRPr lang="en-US" sz="850" dirty="0"/>
          </a:p>
        </p:txBody>
      </p:sp>
      <p:sp>
        <p:nvSpPr>
          <p:cNvPr id="6" name="Shape 4"/>
          <p:cNvSpPr/>
          <p:nvPr/>
        </p:nvSpPr>
        <p:spPr>
          <a:xfrm>
            <a:off x="2768498" y="1874520"/>
            <a:ext cx="1143000" cy="219456"/>
          </a:xfrm>
          <a:prstGeom prst="roundRect">
            <a:avLst>
              <a:gd name="adj" fmla="val 50000"/>
            </a:avLst>
          </a:prstGeom>
          <a:solidFill>
            <a:srgbClr val="E8C290">
              <a:alpha val="12000"/>
            </a:srgbClr>
          </a:solidFill>
          <a:ln w="9525">
            <a:solidFill>
              <a:srgbClr val="E8C290">
                <a:alpha val="50000"/>
              </a:srgbClr>
            </a:solidFill>
            <a:prstDash val="solid"/>
          </a:ln>
        </p:spPr>
      </p:sp>
      <p:sp>
        <p:nvSpPr>
          <p:cNvPr id="7" name="Text 5"/>
          <p:cNvSpPr txBox="1"/>
          <p:nvPr/>
        </p:nvSpPr>
        <p:spPr>
          <a:xfrm>
            <a:off x="2768498" y="1874520"/>
            <a:ext cx="1143000" cy="219456"/>
          </a:xfrm>
          <a:prstGeom prst="rect">
            <a:avLst/>
          </a:prstGeom>
          <a:noFill/>
          <a:ln/>
        </p:spPr>
        <p:txBody>
          <a:bodyPr wrap="square" lIns="0" tIns="0" rIns="0" bIns="0" rtlCol="0" anchor="ctr"/>
          <a:lstStyle/>
          <a:p>
            <a:pPr algn="ctr" indent="0" marL="0">
              <a:buNone/>
            </a:pPr>
            <a:r>
              <a:rPr lang="en-US" sz="750" b="1" spc="200" kern="0" dirty="0">
                <a:solidFill>
                  <a:srgbClr val="E8C290"/>
                </a:solidFill>
                <a:latin typeface="Arial" pitchFamily="34" charset="0"/>
                <a:ea typeface="Arial" pitchFamily="34" charset="-122"/>
                <a:cs typeface="Arial" pitchFamily="34" charset="-120"/>
              </a:rPr>
              <a:t>HYPOTHESES</a:t>
            </a:r>
            <a:endParaRPr lang="en-US" sz="750" dirty="0"/>
          </a:p>
        </p:txBody>
      </p:sp>
      <p:sp>
        <p:nvSpPr>
          <p:cNvPr id="8" name="Text 6"/>
          <p:cNvSpPr txBox="1"/>
          <p:nvPr/>
        </p:nvSpPr>
        <p:spPr>
          <a:xfrm>
            <a:off x="914400" y="2240280"/>
            <a:ext cx="2997098" cy="2377440"/>
          </a:xfrm>
          <a:prstGeom prst="rect">
            <a:avLst/>
          </a:prstGeom>
          <a:noFill/>
          <a:ln/>
        </p:spPr>
        <p:txBody>
          <a:bodyPr wrap="square" lIns="0" tIns="0" rIns="0" bIns="0" rtlCol="0" anchor="t"/>
          <a:lstStyle/>
          <a:p>
            <a:pPr indent="0" marL="0">
              <a:buNone/>
            </a:pPr>
            <a:r>
              <a:rPr lang="en-US" sz="1200" b="1" dirty="0">
                <a:solidFill>
                  <a:srgbClr val="FFF6E6"/>
                </a:solidFill>
                <a:latin typeface="Arial" pitchFamily="34" charset="0"/>
                <a:ea typeface="Arial" pitchFamily="34" charset="-122"/>
                <a:cs typeface="Arial" pitchFamily="34" charset="-120"/>
              </a:rPr>
              <a:t>ACE, customer zero.</a:t>
            </a:r>
            <a:pPr indent="0" marL="0">
              <a:buNone/>
            </a:pPr>
            <a:r>
              <a:rPr lang="en-US" sz="1200" dirty="0">
                <a:solidFill>
                  <a:srgbClr val="E4D8C6"/>
                </a:solidFill>
                <a:latin typeface="Arial" pitchFamily="34" charset="0"/>
                <a:ea typeface="Arial" pitchFamily="34" charset="-122"/>
                <a:cs typeface="Arial" pitchFamily="34" charset="-120"/>
              </a:rPr>
              <a:t> Buyer and user; our next real client runs through it Monday.
</a:t>
            </a:r>
            <a:pPr indent="0" marL="0">
              <a:buNone/>
            </a:pPr>
            <a:r>
              <a:rPr lang="en-US" sz="1200" b="1" dirty="0">
                <a:solidFill>
                  <a:srgbClr val="FFF6E6"/>
                </a:solidFill>
                <a:latin typeface="Arial" pitchFamily="34" charset="0"/>
                <a:ea typeface="Arial" pitchFamily="34" charset="-122"/>
                <a:cs typeface="Arial" pitchFamily="34" charset="-120"/>
              </a:rPr>
              <a:t>Google Ads agencies serving e-commerce.</a:t>
            </a:r>
            <a:pPr indent="0" marL="0">
              <a:buNone/>
            </a:pPr>
            <a:r>
              <a:rPr lang="en-US" sz="1200" dirty="0">
                <a:solidFill>
                  <a:srgbClr val="E4D8C6"/>
                </a:solidFill>
                <a:latin typeface="Arial" pitchFamily="34" charset="0"/>
                <a:ea typeface="Arial" pitchFamily="34" charset="-122"/>
                <a:cs typeface="Arial" pitchFamily="34" charset="-120"/>
              </a:rPr>
              <a:t> Onboarding hours are unbilled; launch speed keeps clients.
</a:t>
            </a:r>
            <a:pPr indent="0" marL="0">
              <a:buNone/>
            </a:pPr>
            <a:r>
              <a:rPr lang="en-US" sz="1200" b="1" dirty="0">
                <a:solidFill>
                  <a:srgbClr val="FFF6E6"/>
                </a:solidFill>
                <a:latin typeface="Arial" pitchFamily="34" charset="0"/>
                <a:ea typeface="Arial" pitchFamily="34" charset="-122"/>
                <a:cs typeface="Arial" pitchFamily="34" charset="-120"/>
              </a:rPr>
              <a:t>In-house growth teams</a:t>
            </a:r>
            <a:pPr indent="0" marL="0">
              <a:buNone/>
            </a:pPr>
            <a:r>
              <a:rPr lang="en-US" sz="1200" dirty="0">
                <a:solidFill>
                  <a:srgbClr val="E4D8C6"/>
                </a:solidFill>
                <a:latin typeface="Arial" pitchFamily="34" charset="0"/>
                <a:ea typeface="Arial" pitchFamily="34" charset="-122"/>
                <a:cs typeface="Arial" pitchFamily="34" charset="-120"/>
              </a:rPr>
              <a:t> onboarding agencies and freelancers: same checklist, reversed.</a:t>
            </a:r>
            <a:endParaRPr lang="en-US" sz="1200" dirty="0"/>
          </a:p>
        </p:txBody>
      </p:sp>
      <p:sp>
        <p:nvSpPr>
          <p:cNvPr id="9" name="Shape 7"/>
          <p:cNvSpPr/>
          <p:nvPr/>
        </p:nvSpPr>
        <p:spPr>
          <a:xfrm>
            <a:off x="4368698" y="1691640"/>
            <a:ext cx="3454298" cy="3108960"/>
          </a:xfrm>
          <a:prstGeom prst="roundRect">
            <a:avLst>
              <a:gd name="adj" fmla="val 3529"/>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10" name="Text 8"/>
          <p:cNvSpPr txBox="1"/>
          <p:nvPr/>
        </p:nvSpPr>
        <p:spPr>
          <a:xfrm>
            <a:off x="4597298" y="1874520"/>
            <a:ext cx="1828800" cy="228600"/>
          </a:xfrm>
          <a:prstGeom prst="rect">
            <a:avLst/>
          </a:prstGeom>
          <a:noFill/>
          <a:ln/>
        </p:spPr>
        <p:txBody>
          <a:bodyPr wrap="square" lIns="0" tIns="0" rIns="0" bIns="0" rtlCol="0" anchor="t"/>
          <a:lstStyle/>
          <a:p>
            <a:pPr indent="0" marL="0">
              <a:buNone/>
            </a:pPr>
            <a:r>
              <a:rPr lang="en-US" sz="850" b="1" spc="400" kern="0" dirty="0">
                <a:solidFill>
                  <a:srgbClr val="E8C290"/>
                </a:solidFill>
                <a:latin typeface="Arial" pitchFamily="34" charset="0"/>
                <a:ea typeface="Arial" pitchFamily="34" charset="-122"/>
                <a:cs typeface="Arial" pitchFamily="34" charset="-120"/>
              </a:rPr>
              <a:t>PRICING</a:t>
            </a:r>
            <a:endParaRPr lang="en-US" sz="850" dirty="0"/>
          </a:p>
        </p:txBody>
      </p:sp>
      <p:sp>
        <p:nvSpPr>
          <p:cNvPr id="11" name="Shape 9"/>
          <p:cNvSpPr/>
          <p:nvPr/>
        </p:nvSpPr>
        <p:spPr>
          <a:xfrm>
            <a:off x="6451397" y="1874520"/>
            <a:ext cx="1143000" cy="219456"/>
          </a:xfrm>
          <a:prstGeom prst="roundRect">
            <a:avLst>
              <a:gd name="adj" fmla="val 50000"/>
            </a:avLst>
          </a:prstGeom>
          <a:solidFill>
            <a:srgbClr val="E8C290">
              <a:alpha val="12000"/>
            </a:srgbClr>
          </a:solidFill>
          <a:ln w="9525">
            <a:solidFill>
              <a:srgbClr val="E8C290">
                <a:alpha val="50000"/>
              </a:srgbClr>
            </a:solidFill>
            <a:prstDash val="solid"/>
          </a:ln>
        </p:spPr>
      </p:sp>
      <p:sp>
        <p:nvSpPr>
          <p:cNvPr id="12" name="Text 10"/>
          <p:cNvSpPr txBox="1"/>
          <p:nvPr/>
        </p:nvSpPr>
        <p:spPr>
          <a:xfrm>
            <a:off x="6451397" y="1874520"/>
            <a:ext cx="1143000" cy="219456"/>
          </a:xfrm>
          <a:prstGeom prst="rect">
            <a:avLst/>
          </a:prstGeom>
          <a:noFill/>
          <a:ln/>
        </p:spPr>
        <p:txBody>
          <a:bodyPr wrap="square" lIns="0" tIns="0" rIns="0" bIns="0" rtlCol="0" anchor="ctr"/>
          <a:lstStyle/>
          <a:p>
            <a:pPr algn="ctr" indent="0" marL="0">
              <a:buNone/>
            </a:pPr>
            <a:r>
              <a:rPr lang="en-US" sz="750" b="1" spc="200" kern="0" dirty="0">
                <a:solidFill>
                  <a:srgbClr val="E8C290"/>
                </a:solidFill>
                <a:latin typeface="Arial" pitchFamily="34" charset="0"/>
                <a:ea typeface="Arial" pitchFamily="34" charset="-122"/>
                <a:cs typeface="Arial" pitchFamily="34" charset="-120"/>
              </a:rPr>
              <a:t>HYPOTHESIS</a:t>
            </a:r>
            <a:endParaRPr lang="en-US" sz="750" dirty="0"/>
          </a:p>
        </p:txBody>
      </p:sp>
      <p:sp>
        <p:nvSpPr>
          <p:cNvPr id="13" name="Text 11"/>
          <p:cNvSpPr txBox="1"/>
          <p:nvPr/>
        </p:nvSpPr>
        <p:spPr>
          <a:xfrm>
            <a:off x="4597298" y="2194560"/>
            <a:ext cx="2997098" cy="822960"/>
          </a:xfrm>
          <a:prstGeom prst="rect">
            <a:avLst/>
          </a:prstGeom>
          <a:noFill/>
          <a:ln/>
        </p:spPr>
        <p:txBody>
          <a:bodyPr wrap="square" lIns="0" tIns="0" rIns="0" bIns="0" rtlCol="0" anchor="ctr"/>
          <a:lstStyle/>
          <a:p>
            <a:pPr indent="0" marL="0">
              <a:buNone/>
            </a:pPr>
            <a:r>
              <a:rPr lang="en-US" sz="4400" dirty="0">
                <a:solidFill>
                  <a:srgbClr val="FFF6E6"/>
                </a:solidFill>
                <a:latin typeface="Arial" pitchFamily="34" charset="0"/>
                <a:ea typeface="Arial" pitchFamily="34" charset="-122"/>
                <a:cs typeface="Arial" pitchFamily="34" charset="-120"/>
              </a:rPr>
              <a:t>$500</a:t>
            </a:r>
            <a:pPr indent="0" marL="0">
              <a:buNone/>
            </a:pPr>
            <a:r>
              <a:rPr lang="en-US" sz="1300" dirty="0">
                <a:solidFill>
                  <a:srgbClr val="B5A186"/>
                </a:solidFill>
                <a:latin typeface="Arial" pitchFamily="34" charset="0"/>
                <a:ea typeface="Arial" pitchFamily="34" charset="-122"/>
                <a:cs typeface="Arial" pitchFamily="34" charset="-120"/>
              </a:rPr>
              <a:t>  / month per agency</a:t>
            </a:r>
            <a:endParaRPr lang="en-US" sz="4400" dirty="0"/>
          </a:p>
        </p:txBody>
      </p:sp>
      <p:sp>
        <p:nvSpPr>
          <p:cNvPr id="14" name="Text 12"/>
          <p:cNvSpPr txBox="1"/>
          <p:nvPr/>
        </p:nvSpPr>
        <p:spPr>
          <a:xfrm>
            <a:off x="4597298" y="3063240"/>
            <a:ext cx="2997098" cy="1554480"/>
          </a:xfrm>
          <a:prstGeom prst="rect">
            <a:avLst/>
          </a:prstGeom>
          <a:noFill/>
          <a:ln/>
        </p:spPr>
        <p:txBody>
          <a:bodyPr wrap="square" lIns="0" tIns="0" rIns="0" bIns="0" rtlCol="0" anchor="t"/>
          <a:lstStyle/>
          <a:p>
            <a:pPr indent="0" marL="0">
              <a:buNone/>
            </a:pPr>
            <a:r>
              <a:rPr lang="en-US" sz="1200" dirty="0">
                <a:solidFill>
                  <a:srgbClr val="E4D8C6"/>
                </a:solidFill>
                <a:latin typeface="Arial" pitchFamily="34" charset="0"/>
                <a:ea typeface="Arial" pitchFamily="34" charset="-122"/>
                <a:cs typeface="Arial" pitchFamily="34" charset="-120"/>
              </a:rPr>
              <a:t>up to 20 active clients; the box bought or leased.
</a:t>
            </a:r>
            <a:pPr indent="0" marL="0">
              <a:buNone/>
            </a:pPr>
            <a:r>
              <a:rPr lang="en-US" sz="1200" b="1" dirty="0">
                <a:solidFill>
                  <a:srgbClr val="FFF6E6"/>
                </a:solidFill>
                <a:latin typeface="Arial" pitchFamily="34" charset="0"/>
                <a:ea typeface="Arial" pitchFamily="34" charset="-122"/>
                <a:cs typeface="Arial" pitchFamily="34" charset="-120"/>
              </a:rPr>
              <a:t>12 h × $100/h ≈ $1,200</a:t>
            </a:r>
            <a:pPr indent="0" marL="0">
              <a:buNone/>
            </a:pPr>
            <a:r>
              <a:rPr lang="en-US" sz="1200" dirty="0">
                <a:solidFill>
                  <a:srgbClr val="E4D8C6"/>
                </a:solidFill>
                <a:latin typeface="Arial" pitchFamily="34" charset="0"/>
                <a:ea typeface="Arial" pitchFamily="34" charset="-122"/>
                <a:cs typeface="Arial" pitchFamily="34" charset="-120"/>
              </a:rPr>
              <a:t> saved per onboarding. Two a year cover it. Fixed box, not a token bill.</a:t>
            </a:r>
            <a:endParaRPr lang="en-US" sz="1200" dirty="0"/>
          </a:p>
        </p:txBody>
      </p:sp>
      <p:sp>
        <p:nvSpPr>
          <p:cNvPr id="15" name="Shape 13"/>
          <p:cNvSpPr/>
          <p:nvPr/>
        </p:nvSpPr>
        <p:spPr>
          <a:xfrm>
            <a:off x="8051597" y="1691640"/>
            <a:ext cx="3454298" cy="3108960"/>
          </a:xfrm>
          <a:prstGeom prst="roundRect">
            <a:avLst>
              <a:gd name="adj" fmla="val 3529"/>
            </a:avLst>
          </a:prstGeom>
          <a:solidFill>
            <a:srgbClr val="1F1610"/>
          </a:solidFill>
          <a:ln w="9525">
            <a:solidFill>
              <a:srgbClr val="332A1F"/>
            </a:solidFill>
            <a:prstDash val="solid"/>
          </a:ln>
          <a:effectLst>
            <a:outerShdw sx="100000" sy="100000" kx="0" ky="0" algn="bl" rotWithShape="0" blurRad="152400" dist="50800" dir="5400000">
              <a:srgbClr val="000000">
                <a:alpha val="35000"/>
              </a:srgbClr>
            </a:outerShdw>
          </a:effectLst>
        </p:spPr>
      </p:sp>
      <p:sp>
        <p:nvSpPr>
          <p:cNvPr id="16" name="Text 14"/>
          <p:cNvSpPr txBox="1"/>
          <p:nvPr/>
        </p:nvSpPr>
        <p:spPr>
          <a:xfrm>
            <a:off x="8280197" y="1874520"/>
            <a:ext cx="2743200" cy="228600"/>
          </a:xfrm>
          <a:prstGeom prst="rect">
            <a:avLst/>
          </a:prstGeom>
          <a:noFill/>
          <a:ln/>
        </p:spPr>
        <p:txBody>
          <a:bodyPr wrap="square" lIns="0" tIns="0" rIns="0" bIns="0" rtlCol="0" anchor="t"/>
          <a:lstStyle/>
          <a:p>
            <a:pPr indent="0" marL="0">
              <a:buNone/>
            </a:pPr>
            <a:r>
              <a:rPr lang="en-US" sz="850" b="1" spc="400" kern="0" dirty="0">
                <a:solidFill>
                  <a:srgbClr val="E8C290"/>
                </a:solidFill>
                <a:latin typeface="Arial" pitchFamily="34" charset="0"/>
                <a:ea typeface="Arial" pitchFamily="34" charset="-122"/>
                <a:cs typeface="Arial" pitchFamily="34" charset="-120"/>
              </a:rPr>
              <a:t>WEDGE → EXPANSION</a:t>
            </a:r>
            <a:endParaRPr lang="en-US" sz="850" dirty="0"/>
          </a:p>
        </p:txBody>
      </p:sp>
      <p:sp>
        <p:nvSpPr>
          <p:cNvPr id="17" name="Shape 15"/>
          <p:cNvSpPr/>
          <p:nvPr/>
        </p:nvSpPr>
        <p:spPr>
          <a:xfrm>
            <a:off x="8280197" y="2240280"/>
            <a:ext cx="2997098" cy="713232"/>
          </a:xfrm>
          <a:prstGeom prst="roundRect">
            <a:avLst>
              <a:gd name="adj" fmla="val 10256"/>
            </a:avLst>
          </a:prstGeom>
          <a:solidFill>
            <a:srgbClr val="281D15"/>
          </a:solidFill>
          <a:ln w="9525">
            <a:solidFill>
              <a:srgbClr val="332A1F"/>
            </a:solidFill>
            <a:prstDash val="solid"/>
          </a:ln>
        </p:spPr>
      </p:sp>
      <p:sp>
        <p:nvSpPr>
          <p:cNvPr id="18" name="Text 16"/>
          <p:cNvSpPr txBox="1"/>
          <p:nvPr/>
        </p:nvSpPr>
        <p:spPr>
          <a:xfrm>
            <a:off x="8417357" y="2240280"/>
            <a:ext cx="2722778" cy="713232"/>
          </a:xfrm>
          <a:prstGeom prst="rect">
            <a:avLst/>
          </a:prstGeom>
          <a:noFill/>
          <a:ln/>
        </p:spPr>
        <p:txBody>
          <a:bodyPr wrap="square" lIns="0" tIns="0" rIns="0" bIns="0" rtlCol="0" anchor="ctr"/>
          <a:lstStyle/>
          <a:p>
            <a:pPr indent="0" marL="0">
              <a:buNone/>
            </a:pPr>
            <a:r>
              <a:rPr lang="en-US" sz="1200" b="1" dirty="0">
                <a:solidFill>
                  <a:srgbClr val="FFF6E6"/>
                </a:solidFill>
                <a:latin typeface="Arial" pitchFamily="34" charset="0"/>
                <a:ea typeface="Arial" pitchFamily="34" charset="-122"/>
                <a:cs typeface="Arial" pitchFamily="34" charset="-120"/>
              </a:rPr>
              <a:t>One link.</a:t>
            </a:r>
            <a:pPr indent="0" marL="0">
              <a:buNone/>
            </a:pPr>
            <a:endParaRPr lang="en-US" sz="1200" dirty="0"/>
          </a:p>
          <a:p>
            <a:pPr indent="0" marL="0">
              <a:buNone/>
            </a:pPr>
            <a:r>
              <a:rPr lang="en-US" sz="1050" dirty="0">
                <a:solidFill>
                  <a:srgbClr val="E4D8C6"/>
                </a:solidFill>
                <a:latin typeface="Arial" pitchFamily="34" charset="0"/>
                <a:ea typeface="Arial" pitchFamily="34" charset="-122"/>
                <a:cs typeface="Arial" pitchFamily="34" charset="-120"/>
              </a:rPr>
              <a:t>The client's AI answers; an hour later: BRD, gap list, break-even table. Sells on its own.</a:t>
            </a:r>
            <a:endParaRPr lang="en-US" sz="1200" dirty="0"/>
          </a:p>
        </p:txBody>
      </p:sp>
      <p:sp>
        <p:nvSpPr>
          <p:cNvPr id="19" name="Shape 17"/>
          <p:cNvSpPr/>
          <p:nvPr/>
        </p:nvSpPr>
        <p:spPr>
          <a:xfrm>
            <a:off x="8280197" y="3063240"/>
            <a:ext cx="2997098" cy="713232"/>
          </a:xfrm>
          <a:prstGeom prst="roundRect">
            <a:avLst>
              <a:gd name="adj" fmla="val 10256"/>
            </a:avLst>
          </a:prstGeom>
          <a:solidFill>
            <a:srgbClr val="281D15"/>
          </a:solidFill>
          <a:ln w="9525">
            <a:solidFill>
              <a:srgbClr val="332A1F"/>
            </a:solidFill>
            <a:prstDash val="solid"/>
          </a:ln>
        </p:spPr>
      </p:sp>
      <p:sp>
        <p:nvSpPr>
          <p:cNvPr id="20" name="Text 18"/>
          <p:cNvSpPr txBox="1"/>
          <p:nvPr/>
        </p:nvSpPr>
        <p:spPr>
          <a:xfrm>
            <a:off x="8417357" y="3063240"/>
            <a:ext cx="2722778" cy="713232"/>
          </a:xfrm>
          <a:prstGeom prst="rect">
            <a:avLst/>
          </a:prstGeom>
          <a:noFill/>
          <a:ln/>
        </p:spPr>
        <p:txBody>
          <a:bodyPr wrap="square" lIns="0" tIns="0" rIns="0" bIns="0" rtlCol="0" anchor="ctr"/>
          <a:lstStyle/>
          <a:p>
            <a:pPr indent="0" marL="0">
              <a:buNone/>
            </a:pPr>
            <a:r>
              <a:rPr lang="en-US" sz="1200" b="1" dirty="0">
                <a:solidFill>
                  <a:srgbClr val="FFF6E6"/>
                </a:solidFill>
                <a:latin typeface="Arial" pitchFamily="34" charset="0"/>
                <a:ea typeface="Arial" pitchFamily="34" charset="-122"/>
                <a:cs typeface="Arial" pitchFamily="34" charset="-120"/>
              </a:rPr>
              <a:t>SDLC makes it recurring.</a:t>
            </a:r>
            <a:pPr indent="0" marL="0">
              <a:buNone/>
            </a:pPr>
            <a:endParaRPr lang="en-US" sz="1200" dirty="0"/>
          </a:p>
          <a:p>
            <a:pPr indent="0" marL="0">
              <a:buNone/>
            </a:pPr>
            <a:r>
              <a:rPr lang="en-US" sz="1050" dirty="0">
                <a:solidFill>
                  <a:srgbClr val="E4D8C6"/>
                </a:solidFill>
                <a:latin typeface="Arial" pitchFamily="34" charset="0"/>
                <a:ea typeface="Arial" pitchFamily="34" charset="-122"/>
                <a:cs typeface="Arial" pitchFamily="34" charset="-120"/>
              </a:rPr>
              <a:t>Specs, tickets, gated delivery, client updates for the life of the account.</a:t>
            </a:r>
            <a:endParaRPr lang="en-US" sz="1200" dirty="0"/>
          </a:p>
        </p:txBody>
      </p:sp>
      <p:sp>
        <p:nvSpPr>
          <p:cNvPr id="21" name="Text 19"/>
          <p:cNvSpPr txBox="1"/>
          <p:nvPr/>
        </p:nvSpPr>
        <p:spPr>
          <a:xfrm>
            <a:off x="8325917" y="2880360"/>
            <a:ext cx="274320" cy="182880"/>
          </a:xfrm>
          <a:prstGeom prst="rect">
            <a:avLst/>
          </a:prstGeom>
          <a:noFill/>
          <a:ln/>
        </p:spPr>
        <p:txBody>
          <a:bodyPr wrap="square" lIns="0" tIns="0" rIns="0" bIns="0" rtlCol="0" anchor="ctr"/>
          <a:lstStyle/>
          <a:p>
            <a:pPr indent="0" marL="0">
              <a:buNone/>
            </a:pPr>
            <a:r>
              <a:rPr lang="en-US" sz="1000" dirty="0">
                <a:solidFill>
                  <a:srgbClr val="C9955A"/>
                </a:solidFill>
                <a:latin typeface="Arial" pitchFamily="34" charset="0"/>
                <a:ea typeface="Arial" pitchFamily="34" charset="-122"/>
                <a:cs typeface="Arial" pitchFamily="34" charset="-120"/>
              </a:rPr>
              <a:t>↓</a:t>
            </a:r>
            <a:endParaRPr lang="en-US" sz="1000" dirty="0"/>
          </a:p>
        </p:txBody>
      </p:sp>
      <p:sp>
        <p:nvSpPr>
          <p:cNvPr id="22" name="Shape 20"/>
          <p:cNvSpPr/>
          <p:nvPr/>
        </p:nvSpPr>
        <p:spPr>
          <a:xfrm>
            <a:off x="8280197" y="3886200"/>
            <a:ext cx="2997098" cy="713232"/>
          </a:xfrm>
          <a:prstGeom prst="roundRect">
            <a:avLst>
              <a:gd name="adj" fmla="val 10256"/>
            </a:avLst>
          </a:prstGeom>
          <a:solidFill>
            <a:srgbClr val="281D15"/>
          </a:solidFill>
          <a:ln w="9525">
            <a:solidFill>
              <a:srgbClr val="332A1F"/>
            </a:solidFill>
            <a:prstDash val="solid"/>
          </a:ln>
        </p:spPr>
      </p:sp>
      <p:sp>
        <p:nvSpPr>
          <p:cNvPr id="23" name="Text 21"/>
          <p:cNvSpPr txBox="1"/>
          <p:nvPr/>
        </p:nvSpPr>
        <p:spPr>
          <a:xfrm>
            <a:off x="8417357" y="3886200"/>
            <a:ext cx="2722778" cy="713232"/>
          </a:xfrm>
          <a:prstGeom prst="rect">
            <a:avLst/>
          </a:prstGeom>
          <a:noFill/>
          <a:ln/>
        </p:spPr>
        <p:txBody>
          <a:bodyPr wrap="square" lIns="0" tIns="0" rIns="0" bIns="0" rtlCol="0" anchor="ctr"/>
          <a:lstStyle/>
          <a:p>
            <a:pPr indent="0" marL="0">
              <a:buNone/>
            </a:pPr>
            <a:r>
              <a:rPr lang="en-US" sz="1200" b="1" dirty="0">
                <a:solidFill>
                  <a:srgbClr val="FFF6E6"/>
                </a:solidFill>
                <a:latin typeface="Arial" pitchFamily="34" charset="0"/>
                <a:ea typeface="Arial" pitchFamily="34" charset="-122"/>
                <a:cs typeface="Arial" pitchFamily="34" charset="-120"/>
              </a:rPr>
              <a:t>Every agency workflow.</a:t>
            </a:r>
            <a:pPr indent="0" marL="0">
              <a:buNone/>
            </a:pPr>
            <a:endParaRPr lang="en-US" sz="1200" dirty="0"/>
          </a:p>
          <a:p>
            <a:pPr indent="0" marL="0">
              <a:buNone/>
            </a:pPr>
            <a:r>
              <a:rPr lang="en-US" sz="1050" dirty="0">
                <a:solidFill>
                  <a:srgbClr val="E4D8C6"/>
                </a:solidFill>
                <a:latin typeface="Arial" pitchFamily="34" charset="0"/>
                <a:ea typeface="Arial" pitchFamily="34" charset="-122"/>
                <a:cs typeface="Arial" pitchFamily="34" charset="-120"/>
              </a:rPr>
              <a:t>The checklist is config; the gates are generic.</a:t>
            </a:r>
            <a:endParaRPr lang="en-US" sz="1200" dirty="0"/>
          </a:p>
        </p:txBody>
      </p:sp>
      <p:sp>
        <p:nvSpPr>
          <p:cNvPr id="24" name="Text 22"/>
          <p:cNvSpPr txBox="1"/>
          <p:nvPr/>
        </p:nvSpPr>
        <p:spPr>
          <a:xfrm>
            <a:off x="8325917" y="3703320"/>
            <a:ext cx="274320" cy="182880"/>
          </a:xfrm>
          <a:prstGeom prst="rect">
            <a:avLst/>
          </a:prstGeom>
          <a:noFill/>
          <a:ln/>
        </p:spPr>
        <p:txBody>
          <a:bodyPr wrap="square" lIns="0" tIns="0" rIns="0" bIns="0" rtlCol="0" anchor="ctr"/>
          <a:lstStyle/>
          <a:p>
            <a:pPr indent="0" marL="0">
              <a:buNone/>
            </a:pPr>
            <a:r>
              <a:rPr lang="en-US" sz="1000" dirty="0">
                <a:solidFill>
                  <a:srgbClr val="C9955A"/>
                </a:solidFill>
                <a:latin typeface="Arial" pitchFamily="34" charset="0"/>
                <a:ea typeface="Arial" pitchFamily="34" charset="-122"/>
                <a:cs typeface="Arial" pitchFamily="34" charset="-120"/>
              </a:rPr>
              <a:t>↓</a:t>
            </a:r>
            <a:endParaRPr lang="en-US" sz="1000" dirty="0"/>
          </a:p>
        </p:txBody>
      </p:sp>
      <p:sp>
        <p:nvSpPr>
          <p:cNvPr id="25" name="Text 23"/>
          <p:cNvSpPr txBox="1"/>
          <p:nvPr/>
        </p:nvSpPr>
        <p:spPr>
          <a:xfrm>
            <a:off x="685800" y="4983480"/>
            <a:ext cx="10820095" cy="822960"/>
          </a:xfrm>
          <a:prstGeom prst="rect">
            <a:avLst/>
          </a:prstGeom>
          <a:noFill/>
          <a:ln/>
        </p:spPr>
        <p:txBody>
          <a:bodyPr wrap="square" lIns="0" tIns="0" rIns="0" bIns="0" rtlCol="0" anchor="t"/>
          <a:lstStyle/>
          <a:p>
            <a:pPr indent="0" marL="0">
              <a:buNone/>
            </a:pPr>
            <a:r>
              <a:rPr lang="en-US" sz="1300" b="1" dirty="0">
                <a:solidFill>
                  <a:srgbClr val="F3D9A4"/>
                </a:solidFill>
                <a:latin typeface="Arial" pitchFamily="34" charset="0"/>
                <a:ea typeface="Arial" pitchFamily="34" charset="-122"/>
                <a:cs typeface="Arial" pitchFamily="34" charset="-120"/>
              </a:rPr>
              <a:t>Why now: </a:t>
            </a:r>
            <a:pPr indent="0" marL="0">
              <a:buNone/>
            </a:pPr>
            <a:r>
              <a:rPr lang="en-US" sz="1300" dirty="0">
                <a:solidFill>
                  <a:srgbClr val="E4D8C6"/>
                </a:solidFill>
                <a:latin typeface="Arial" pitchFamily="34" charset="0"/>
                <a:ea typeface="Arial" pitchFamily="34" charset="-122"/>
                <a:cs typeface="Arial" pitchFamily="34" charset="-120"/>
              </a:rPr>
              <a:t>owners already work inside AI assistants, and MCP lets them call another company's tools · a desk-side 128 GB box runs capable open models · NVIDIA's sandbox makes an unattended agent acceptable.</a:t>
            </a:r>
            <a:endParaRPr lang="en-US" sz="1300" dirty="0"/>
          </a:p>
        </p:txBody>
      </p:sp>
      <p:sp>
        <p:nvSpPr>
          <p:cNvPr id="25" name="Slide Number Placeholder 0"/>
          <p:cNvSpPr>
            <a:spLocks noGrp="1"/>
          </p:cNvSpPr>
          <p:nvPr>
            <p:ph type="sldNum" sz="quarter" idx="4294967295"/>
          </p:nvPr>
        </p:nvSpPr>
        <p:spPr>
          <a:xfrm>
            <a:off x="10408615" y="6355080"/>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7961"/>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0579"/>
          </a:xfrm>
          <a:prstGeom prst="rect">
            <a:avLst/>
          </a:prstGeom>
          <a:solidFill>
            <a:srgbClr val="F6E9D2"/>
          </a:solidFill>
          <a:ln w="12700">
            <a:solidFill>
              <a:srgbClr val="F6E9D2"/>
            </a:solidFill>
            <a:prstDash val="solid"/>
          </a:ln>
        </p:spPr>
      </p:sp>
      <p:sp>
        <p:nvSpPr>
          <p:cNvPr id="3" name="Shape 1"/>
          <p:cNvSpPr/>
          <p:nvPr/>
        </p:nvSpPr>
        <p:spPr>
          <a:xfrm>
            <a:off x="0" y="51435"/>
            <a:ext cx="12191695" cy="60579"/>
          </a:xfrm>
          <a:prstGeom prst="rect">
            <a:avLst/>
          </a:prstGeom>
          <a:solidFill>
            <a:srgbClr val="F3E3C8"/>
          </a:solidFill>
          <a:ln w="12700">
            <a:solidFill>
              <a:srgbClr val="F3E3C8"/>
            </a:solidFill>
            <a:prstDash val="solid"/>
          </a:ln>
        </p:spPr>
      </p:sp>
      <p:sp>
        <p:nvSpPr>
          <p:cNvPr id="4" name="Shape 2"/>
          <p:cNvSpPr/>
          <p:nvPr/>
        </p:nvSpPr>
        <p:spPr>
          <a:xfrm>
            <a:off x="0" y="102870"/>
            <a:ext cx="12191695" cy="60579"/>
          </a:xfrm>
          <a:prstGeom prst="rect">
            <a:avLst/>
          </a:prstGeom>
          <a:solidFill>
            <a:srgbClr val="F1DEBE"/>
          </a:solidFill>
          <a:ln w="12700">
            <a:solidFill>
              <a:srgbClr val="F1DEBE"/>
            </a:solidFill>
            <a:prstDash val="solid"/>
          </a:ln>
        </p:spPr>
      </p:sp>
      <p:sp>
        <p:nvSpPr>
          <p:cNvPr id="5" name="Shape 3"/>
          <p:cNvSpPr/>
          <p:nvPr/>
        </p:nvSpPr>
        <p:spPr>
          <a:xfrm>
            <a:off x="0" y="154305"/>
            <a:ext cx="12191695" cy="60579"/>
          </a:xfrm>
          <a:prstGeom prst="rect">
            <a:avLst/>
          </a:prstGeom>
          <a:solidFill>
            <a:srgbClr val="EED8B5"/>
          </a:solidFill>
          <a:ln w="12700">
            <a:solidFill>
              <a:srgbClr val="EED8B5"/>
            </a:solidFill>
            <a:prstDash val="solid"/>
          </a:ln>
        </p:spPr>
      </p:sp>
      <p:sp>
        <p:nvSpPr>
          <p:cNvPr id="6" name="Shape 4"/>
          <p:cNvSpPr/>
          <p:nvPr/>
        </p:nvSpPr>
        <p:spPr>
          <a:xfrm>
            <a:off x="0" y="205740"/>
            <a:ext cx="12191695" cy="60579"/>
          </a:xfrm>
          <a:prstGeom prst="rect">
            <a:avLst/>
          </a:prstGeom>
          <a:solidFill>
            <a:srgbClr val="EBD1AA"/>
          </a:solidFill>
          <a:ln w="12700">
            <a:solidFill>
              <a:srgbClr val="EBD1AA"/>
            </a:solidFill>
            <a:prstDash val="solid"/>
          </a:ln>
        </p:spPr>
      </p:sp>
      <p:sp>
        <p:nvSpPr>
          <p:cNvPr id="7" name="Shape 5"/>
          <p:cNvSpPr/>
          <p:nvPr/>
        </p:nvSpPr>
        <p:spPr>
          <a:xfrm>
            <a:off x="0" y="257175"/>
            <a:ext cx="12191695" cy="60579"/>
          </a:xfrm>
          <a:prstGeom prst="rect">
            <a:avLst/>
          </a:prstGeom>
          <a:solidFill>
            <a:srgbClr val="E6C89D"/>
          </a:solidFill>
          <a:ln w="12700">
            <a:solidFill>
              <a:srgbClr val="E6C89D"/>
            </a:solidFill>
            <a:prstDash val="solid"/>
          </a:ln>
        </p:spPr>
      </p:sp>
      <p:sp>
        <p:nvSpPr>
          <p:cNvPr id="8" name="Shape 6"/>
          <p:cNvSpPr/>
          <p:nvPr/>
        </p:nvSpPr>
        <p:spPr>
          <a:xfrm>
            <a:off x="0" y="308610"/>
            <a:ext cx="12191695" cy="60579"/>
          </a:xfrm>
          <a:prstGeom prst="rect">
            <a:avLst/>
          </a:prstGeom>
          <a:solidFill>
            <a:srgbClr val="E1BE90"/>
          </a:solidFill>
          <a:ln w="12700">
            <a:solidFill>
              <a:srgbClr val="E1BE90"/>
            </a:solidFill>
            <a:prstDash val="solid"/>
          </a:ln>
        </p:spPr>
      </p:sp>
      <p:sp>
        <p:nvSpPr>
          <p:cNvPr id="9" name="Shape 7"/>
          <p:cNvSpPr/>
          <p:nvPr/>
        </p:nvSpPr>
        <p:spPr>
          <a:xfrm>
            <a:off x="0" y="360045"/>
            <a:ext cx="12191695" cy="60579"/>
          </a:xfrm>
          <a:prstGeom prst="rect">
            <a:avLst/>
          </a:prstGeom>
          <a:solidFill>
            <a:srgbClr val="DDB583"/>
          </a:solidFill>
          <a:ln w="12700">
            <a:solidFill>
              <a:srgbClr val="DDB583"/>
            </a:solidFill>
            <a:prstDash val="solid"/>
          </a:ln>
        </p:spPr>
      </p:sp>
      <p:sp>
        <p:nvSpPr>
          <p:cNvPr id="10" name="Shape 8"/>
          <p:cNvSpPr/>
          <p:nvPr/>
        </p:nvSpPr>
        <p:spPr>
          <a:xfrm>
            <a:off x="0" y="411480"/>
            <a:ext cx="12191695" cy="60579"/>
          </a:xfrm>
          <a:prstGeom prst="rect">
            <a:avLst/>
          </a:prstGeom>
          <a:solidFill>
            <a:srgbClr val="D7AB76"/>
          </a:solidFill>
          <a:ln w="12700">
            <a:solidFill>
              <a:srgbClr val="D7AB76"/>
            </a:solidFill>
            <a:prstDash val="solid"/>
          </a:ln>
        </p:spPr>
      </p:sp>
      <p:sp>
        <p:nvSpPr>
          <p:cNvPr id="11" name="Shape 9"/>
          <p:cNvSpPr/>
          <p:nvPr/>
        </p:nvSpPr>
        <p:spPr>
          <a:xfrm>
            <a:off x="0" y="462915"/>
            <a:ext cx="12191695" cy="60579"/>
          </a:xfrm>
          <a:prstGeom prst="rect">
            <a:avLst/>
          </a:prstGeom>
          <a:solidFill>
            <a:srgbClr val="CD9D68"/>
          </a:solidFill>
          <a:ln w="12700">
            <a:solidFill>
              <a:srgbClr val="CD9D68"/>
            </a:solidFill>
            <a:prstDash val="solid"/>
          </a:ln>
        </p:spPr>
      </p:sp>
      <p:sp>
        <p:nvSpPr>
          <p:cNvPr id="12" name="Shape 10"/>
          <p:cNvSpPr/>
          <p:nvPr/>
        </p:nvSpPr>
        <p:spPr>
          <a:xfrm>
            <a:off x="0" y="514350"/>
            <a:ext cx="12191695" cy="60579"/>
          </a:xfrm>
          <a:prstGeom prst="rect">
            <a:avLst/>
          </a:prstGeom>
          <a:solidFill>
            <a:srgbClr val="C48F5A"/>
          </a:solidFill>
          <a:ln w="12700">
            <a:solidFill>
              <a:srgbClr val="C48F5A"/>
            </a:solidFill>
            <a:prstDash val="solid"/>
          </a:ln>
        </p:spPr>
      </p:sp>
      <p:sp>
        <p:nvSpPr>
          <p:cNvPr id="13" name="Shape 11"/>
          <p:cNvSpPr/>
          <p:nvPr/>
        </p:nvSpPr>
        <p:spPr>
          <a:xfrm>
            <a:off x="0" y="565785"/>
            <a:ext cx="12191695" cy="60579"/>
          </a:xfrm>
          <a:prstGeom prst="rect">
            <a:avLst/>
          </a:prstGeom>
          <a:solidFill>
            <a:srgbClr val="BA814C"/>
          </a:solidFill>
          <a:ln w="12700">
            <a:solidFill>
              <a:srgbClr val="BA814C"/>
            </a:solidFill>
            <a:prstDash val="solid"/>
          </a:ln>
        </p:spPr>
      </p:sp>
      <p:sp>
        <p:nvSpPr>
          <p:cNvPr id="14" name="Shape 12"/>
          <p:cNvSpPr/>
          <p:nvPr/>
        </p:nvSpPr>
        <p:spPr>
          <a:xfrm>
            <a:off x="0" y="617220"/>
            <a:ext cx="12191695" cy="60579"/>
          </a:xfrm>
          <a:prstGeom prst="rect">
            <a:avLst/>
          </a:prstGeom>
          <a:solidFill>
            <a:srgbClr val="A56D3D"/>
          </a:solidFill>
          <a:ln w="12700">
            <a:solidFill>
              <a:srgbClr val="A56D3D"/>
            </a:solidFill>
            <a:prstDash val="solid"/>
          </a:ln>
        </p:spPr>
      </p:sp>
      <p:sp>
        <p:nvSpPr>
          <p:cNvPr id="15" name="Shape 13"/>
          <p:cNvSpPr/>
          <p:nvPr/>
        </p:nvSpPr>
        <p:spPr>
          <a:xfrm>
            <a:off x="0" y="668655"/>
            <a:ext cx="12191695" cy="60579"/>
          </a:xfrm>
          <a:prstGeom prst="rect">
            <a:avLst/>
          </a:prstGeom>
          <a:solidFill>
            <a:srgbClr val="85542E"/>
          </a:solidFill>
          <a:ln w="12700">
            <a:solidFill>
              <a:srgbClr val="85542E"/>
            </a:solidFill>
            <a:prstDash val="solid"/>
          </a:ln>
        </p:spPr>
      </p:sp>
      <p:sp>
        <p:nvSpPr>
          <p:cNvPr id="16" name="Shape 14"/>
          <p:cNvSpPr/>
          <p:nvPr/>
        </p:nvSpPr>
        <p:spPr>
          <a:xfrm>
            <a:off x="0" y="720090"/>
            <a:ext cx="12191695" cy="60579"/>
          </a:xfrm>
          <a:prstGeom prst="rect">
            <a:avLst/>
          </a:prstGeom>
          <a:solidFill>
            <a:srgbClr val="683D21"/>
          </a:solidFill>
          <a:ln w="12700">
            <a:solidFill>
              <a:srgbClr val="683D21"/>
            </a:solidFill>
            <a:prstDash val="solid"/>
          </a:ln>
        </p:spPr>
      </p:sp>
      <p:sp>
        <p:nvSpPr>
          <p:cNvPr id="17" name="Shape 15"/>
          <p:cNvSpPr/>
          <p:nvPr/>
        </p:nvSpPr>
        <p:spPr>
          <a:xfrm>
            <a:off x="0" y="771525"/>
            <a:ext cx="12191695" cy="60579"/>
          </a:xfrm>
          <a:prstGeom prst="rect">
            <a:avLst/>
          </a:prstGeom>
          <a:solidFill>
            <a:srgbClr val="57331B"/>
          </a:solidFill>
          <a:ln w="12700">
            <a:solidFill>
              <a:srgbClr val="57331B"/>
            </a:solidFill>
            <a:prstDash val="solid"/>
          </a:ln>
        </p:spPr>
      </p:sp>
      <p:sp>
        <p:nvSpPr>
          <p:cNvPr id="18" name="Shape 16"/>
          <p:cNvSpPr/>
          <p:nvPr/>
        </p:nvSpPr>
        <p:spPr>
          <a:xfrm>
            <a:off x="0" y="822960"/>
            <a:ext cx="12191695" cy="60579"/>
          </a:xfrm>
          <a:prstGeom prst="rect">
            <a:avLst/>
          </a:prstGeom>
          <a:solidFill>
            <a:srgbClr val="472A15"/>
          </a:solidFill>
          <a:ln w="12700">
            <a:solidFill>
              <a:srgbClr val="472A15"/>
            </a:solidFill>
            <a:prstDash val="solid"/>
          </a:ln>
        </p:spPr>
      </p:sp>
      <p:sp>
        <p:nvSpPr>
          <p:cNvPr id="19" name="Shape 17"/>
          <p:cNvSpPr/>
          <p:nvPr/>
        </p:nvSpPr>
        <p:spPr>
          <a:xfrm>
            <a:off x="0" y="874395"/>
            <a:ext cx="12191695" cy="60579"/>
          </a:xfrm>
          <a:prstGeom prst="rect">
            <a:avLst/>
          </a:prstGeom>
          <a:solidFill>
            <a:srgbClr val="36200F"/>
          </a:solidFill>
          <a:ln w="12700">
            <a:solidFill>
              <a:srgbClr val="36200F"/>
            </a:solidFill>
            <a:prstDash val="solid"/>
          </a:ln>
        </p:spPr>
      </p:sp>
      <p:sp>
        <p:nvSpPr>
          <p:cNvPr id="20" name="Shape 18"/>
          <p:cNvSpPr/>
          <p:nvPr/>
        </p:nvSpPr>
        <p:spPr>
          <a:xfrm>
            <a:off x="0" y="925830"/>
            <a:ext cx="12191695" cy="60579"/>
          </a:xfrm>
          <a:prstGeom prst="rect">
            <a:avLst/>
          </a:prstGeom>
          <a:solidFill>
            <a:srgbClr val="301D0E"/>
          </a:solidFill>
          <a:ln w="12700">
            <a:solidFill>
              <a:srgbClr val="301D0E"/>
            </a:solidFill>
            <a:prstDash val="solid"/>
          </a:ln>
        </p:spPr>
      </p:sp>
      <p:sp>
        <p:nvSpPr>
          <p:cNvPr id="21" name="Shape 19"/>
          <p:cNvSpPr/>
          <p:nvPr/>
        </p:nvSpPr>
        <p:spPr>
          <a:xfrm>
            <a:off x="0" y="977265"/>
            <a:ext cx="12191695" cy="60579"/>
          </a:xfrm>
          <a:prstGeom prst="rect">
            <a:avLst/>
          </a:prstGeom>
          <a:solidFill>
            <a:srgbClr val="2A190D"/>
          </a:solidFill>
          <a:ln w="12700">
            <a:solidFill>
              <a:srgbClr val="2A190D"/>
            </a:solidFill>
            <a:prstDash val="solid"/>
          </a:ln>
        </p:spPr>
      </p:sp>
      <p:sp>
        <p:nvSpPr>
          <p:cNvPr id="22" name="Shape 20"/>
          <p:cNvSpPr/>
          <p:nvPr/>
        </p:nvSpPr>
        <p:spPr>
          <a:xfrm>
            <a:off x="0" y="1028700"/>
            <a:ext cx="12191695" cy="60579"/>
          </a:xfrm>
          <a:prstGeom prst="rect">
            <a:avLst/>
          </a:prstGeom>
          <a:solidFill>
            <a:srgbClr val="24160C"/>
          </a:solidFill>
          <a:ln w="12700">
            <a:solidFill>
              <a:srgbClr val="24160C"/>
            </a:solidFill>
            <a:prstDash val="solid"/>
          </a:ln>
        </p:spPr>
      </p:sp>
      <p:sp>
        <p:nvSpPr>
          <p:cNvPr id="23" name="Shape 21"/>
          <p:cNvSpPr/>
          <p:nvPr/>
        </p:nvSpPr>
        <p:spPr>
          <a:xfrm>
            <a:off x="0" y="1080135"/>
            <a:ext cx="12191695" cy="60579"/>
          </a:xfrm>
          <a:prstGeom prst="rect">
            <a:avLst/>
          </a:prstGeom>
          <a:solidFill>
            <a:srgbClr val="1E130A"/>
          </a:solidFill>
          <a:ln w="12700">
            <a:solidFill>
              <a:srgbClr val="1E130A"/>
            </a:solidFill>
            <a:prstDash val="solid"/>
          </a:ln>
        </p:spPr>
      </p:sp>
      <p:sp>
        <p:nvSpPr>
          <p:cNvPr id="24" name="Shape 22"/>
          <p:cNvSpPr/>
          <p:nvPr/>
        </p:nvSpPr>
        <p:spPr>
          <a:xfrm>
            <a:off x="0" y="1131570"/>
            <a:ext cx="12191695" cy="60579"/>
          </a:xfrm>
          <a:prstGeom prst="rect">
            <a:avLst/>
          </a:prstGeom>
          <a:solidFill>
            <a:srgbClr val="180F09"/>
          </a:solidFill>
          <a:ln w="12700">
            <a:solidFill>
              <a:srgbClr val="180F09"/>
            </a:solidFill>
            <a:prstDash val="solid"/>
          </a:ln>
        </p:spPr>
      </p:sp>
      <p:sp>
        <p:nvSpPr>
          <p:cNvPr id="25" name="Shape 23"/>
          <p:cNvSpPr/>
          <p:nvPr/>
        </p:nvSpPr>
        <p:spPr>
          <a:xfrm>
            <a:off x="0" y="1183005"/>
            <a:ext cx="12191695" cy="60579"/>
          </a:xfrm>
          <a:prstGeom prst="rect">
            <a:avLst/>
          </a:prstGeom>
          <a:solidFill>
            <a:srgbClr val="120C08"/>
          </a:solidFill>
          <a:ln w="12700">
            <a:solidFill>
              <a:srgbClr val="120C08"/>
            </a:solidFill>
            <a:prstDash val="solid"/>
          </a:ln>
        </p:spPr>
      </p:sp>
      <p:sp>
        <p:nvSpPr>
          <p:cNvPr id="26" name="Shape 24"/>
          <p:cNvSpPr/>
          <p:nvPr/>
        </p:nvSpPr>
        <p:spPr>
          <a:xfrm>
            <a:off x="548640" y="1207008"/>
            <a:ext cx="11094415" cy="27432"/>
          </a:xfrm>
          <a:prstGeom prst="rect">
            <a:avLst/>
          </a:prstGeom>
          <a:solidFill>
            <a:srgbClr val="FFF2DC">
              <a:alpha val="85000"/>
            </a:srgbClr>
          </a:solidFill>
          <a:ln w="12700">
            <a:solidFill>
              <a:srgbClr val="FFF2DC">
                <a:alpha val="0"/>
              </a:srgbClr>
            </a:solidFill>
            <a:prstDash val="solid"/>
          </a:ln>
        </p:spPr>
      </p:sp>
      <p:sp>
        <p:nvSpPr>
          <p:cNvPr id="27" name="Text 25"/>
          <p:cNvSpPr txBox="1"/>
          <p:nvPr/>
        </p:nvSpPr>
        <p:spPr>
          <a:xfrm>
            <a:off x="685800" y="1463040"/>
            <a:ext cx="10820095" cy="274320"/>
          </a:xfrm>
          <a:prstGeom prst="rect">
            <a:avLst/>
          </a:prstGeom>
          <a:noFill/>
          <a:ln/>
        </p:spPr>
        <p:txBody>
          <a:bodyPr wrap="square" lIns="0" tIns="0" rIns="0" bIns="0" rtlCol="0" anchor="ctr"/>
          <a:lstStyle/>
          <a:p>
            <a:pPr indent="0" marL="0">
              <a:buNone/>
            </a:pPr>
            <a:r>
              <a:rPr lang="en-US" sz="1100" spc="600" kern="0" dirty="0">
                <a:solidFill>
                  <a:srgbClr val="E8C290"/>
                </a:solidFill>
                <a:latin typeface="Arial" pitchFamily="34" charset="0"/>
                <a:ea typeface="Arial" pitchFamily="34" charset="-122"/>
                <a:cs typeface="Arial" pitchFamily="34" charset="-120"/>
              </a:rPr>
              <a:t>BUILT TODAY · WHAT'S NEXT · THE ASK</a:t>
            </a:r>
            <a:endParaRPr lang="en-US" sz="1100" dirty="0"/>
          </a:p>
        </p:txBody>
      </p:sp>
      <p:sp>
        <p:nvSpPr>
          <p:cNvPr id="28" name="Text 26"/>
          <p:cNvSpPr txBox="1"/>
          <p:nvPr/>
        </p:nvSpPr>
        <p:spPr>
          <a:xfrm>
            <a:off x="685800" y="1783080"/>
            <a:ext cx="10820095" cy="640080"/>
          </a:xfrm>
          <a:prstGeom prst="rect">
            <a:avLst/>
          </a:prstGeom>
          <a:noFill/>
          <a:ln/>
        </p:spPr>
        <p:txBody>
          <a:bodyPr wrap="square" lIns="0" tIns="0" rIns="0" bIns="0" rtlCol="0" anchor="t"/>
          <a:lstStyle/>
          <a:p>
            <a:pPr indent="0" marL="0">
              <a:buNone/>
            </a:pPr>
            <a:r>
              <a:rPr lang="en-US" sz="3400" dirty="0">
                <a:solidFill>
                  <a:srgbClr val="FFF6E6"/>
                </a:solidFill>
                <a:latin typeface="Arial" pitchFamily="34" charset="0"/>
                <a:ea typeface="Arial" pitchFamily="34" charset="-122"/>
                <a:cs typeface="Arial" pitchFamily="34" charset="-120"/>
              </a:rPr>
              <a:t>A delivery agent that </a:t>
            </a:r>
            <a:pPr indent="0" marL="0">
              <a:buNone/>
            </a:pPr>
            <a:r>
              <a:rPr lang="en-US" sz="3400" dirty="0">
                <a:solidFill>
                  <a:srgbClr val="F3D9A4"/>
                </a:solidFill>
                <a:latin typeface="Arial" pitchFamily="34" charset="0"/>
                <a:ea typeface="Arial" pitchFamily="34" charset="-122"/>
                <a:cs typeface="Arial" pitchFamily="34" charset="-120"/>
              </a:rPr>
              <a:t>cannot approve its own work.</a:t>
            </a:r>
            <a:endParaRPr lang="en-US" sz="3400" dirty="0"/>
          </a:p>
        </p:txBody>
      </p:sp>
      <p:sp>
        <p:nvSpPr>
          <p:cNvPr id="29" name="Shape 27"/>
          <p:cNvSpPr/>
          <p:nvPr/>
        </p:nvSpPr>
        <p:spPr>
          <a:xfrm>
            <a:off x="685800" y="2720721"/>
            <a:ext cx="201168" cy="27432"/>
          </a:xfrm>
          <a:prstGeom prst="rect">
            <a:avLst/>
          </a:prstGeom>
          <a:solidFill>
            <a:srgbClr val="C9955A"/>
          </a:solidFill>
          <a:ln w="12700">
            <a:solidFill>
              <a:srgbClr val="C9955A"/>
            </a:solidFill>
            <a:prstDash val="solid"/>
          </a:ln>
        </p:spPr>
      </p:sp>
      <p:sp>
        <p:nvSpPr>
          <p:cNvPr id="30" name="Text 28"/>
          <p:cNvSpPr txBox="1"/>
          <p:nvPr/>
        </p:nvSpPr>
        <p:spPr>
          <a:xfrm>
            <a:off x="1069848" y="2606040"/>
            <a:ext cx="7509967" cy="568452"/>
          </a:xfrm>
          <a:prstGeom prst="rect">
            <a:avLst/>
          </a:prstGeom>
          <a:noFill/>
          <a:ln/>
        </p:spPr>
        <p:txBody>
          <a:bodyPr wrap="square" lIns="0" tIns="0" rIns="0" bIns="0" rtlCol="0" anchor="t"/>
          <a:lstStyle/>
          <a:p>
            <a:pPr indent="0" marL="0">
              <a:buNone/>
            </a:pPr>
            <a:r>
              <a:rPr lang="en-US" sz="1500" b="1" dirty="0">
                <a:solidFill>
                  <a:srgbClr val="FFF6E6"/>
                </a:solidFill>
                <a:latin typeface="Arial" pitchFamily="34" charset="0"/>
                <a:ea typeface="Arial" pitchFamily="34" charset="-122"/>
                <a:cs typeface="Arial" pitchFamily="34" charset="-120"/>
              </a:rPr>
              <a:t>Built in one day:</a:t>
            </a:r>
            <a:pPr indent="0" marL="0">
              <a:buNone/>
            </a:pPr>
            <a:r>
              <a:rPr lang="en-US" sz="1500" dirty="0">
                <a:solidFill>
                  <a:srgbClr val="E4D8C6"/>
                </a:solidFill>
                <a:latin typeface="Arial" pitchFamily="34" charset="0"/>
                <a:ea typeface="Arial" pitchFamily="34" charset="-122"/>
                <a:cs typeface="Arial" pitchFamily="34" charset="-120"/>
              </a:rPr>
              <a:t> intake MCP, BRD, dispatch, board, SDLC agent with five gates, console, loopback guard. </a:t>
            </a:r>
            <a:pPr indent="0" marL="0">
              <a:buNone/>
            </a:pPr>
            <a:r>
              <a:rPr lang="en-US" sz="1500" b="1" dirty="0">
                <a:solidFill>
                  <a:srgbClr val="FFF6E6"/>
                </a:solidFill>
                <a:latin typeface="Arial" pitchFamily="34" charset="0"/>
                <a:ea typeface="Arial" pitchFamily="34" charset="-122"/>
                <a:cs typeface="Arial" pitchFamily="34" charset="-120"/>
              </a:rPr>
              <a:t>61 tests pass.</a:t>
            </a:r>
            <a:pPr indent="0" marL="0">
              <a:buNone/>
            </a:pPr>
            <a:r>
              <a:rPr lang="en-US" sz="1500" dirty="0">
                <a:solidFill>
                  <a:srgbClr val="E4D8C6"/>
                </a:solidFill>
                <a:latin typeface="Arial" pitchFamily="34" charset="0"/>
                <a:ea typeface="Arial" pitchFamily="34" charset="-122"/>
                <a:cs typeface="Arial" pitchFamily="34" charset="-120"/>
              </a:rPr>
              <a:t> One GB10, all on loopback.</a:t>
            </a:r>
            <a:endParaRPr lang="en-US" sz="1500" dirty="0"/>
          </a:p>
        </p:txBody>
      </p:sp>
      <p:sp>
        <p:nvSpPr>
          <p:cNvPr id="31" name="Shape 29"/>
          <p:cNvSpPr/>
          <p:nvPr/>
        </p:nvSpPr>
        <p:spPr>
          <a:xfrm>
            <a:off x="685800" y="3417189"/>
            <a:ext cx="201168" cy="27432"/>
          </a:xfrm>
          <a:prstGeom prst="rect">
            <a:avLst/>
          </a:prstGeom>
          <a:solidFill>
            <a:srgbClr val="C9955A"/>
          </a:solidFill>
          <a:ln w="12700">
            <a:solidFill>
              <a:srgbClr val="C9955A"/>
            </a:solidFill>
            <a:prstDash val="solid"/>
          </a:ln>
        </p:spPr>
      </p:sp>
      <p:sp>
        <p:nvSpPr>
          <p:cNvPr id="32" name="Text 30"/>
          <p:cNvSpPr txBox="1"/>
          <p:nvPr/>
        </p:nvSpPr>
        <p:spPr>
          <a:xfrm>
            <a:off x="1069848" y="3302508"/>
            <a:ext cx="7509967" cy="568452"/>
          </a:xfrm>
          <a:prstGeom prst="rect">
            <a:avLst/>
          </a:prstGeom>
          <a:noFill/>
          <a:ln/>
        </p:spPr>
        <p:txBody>
          <a:bodyPr wrap="square" lIns="0" tIns="0" rIns="0" bIns="0" rtlCol="0" anchor="t"/>
          <a:lstStyle/>
          <a:p>
            <a:pPr indent="0" marL="0">
              <a:buNone/>
            </a:pPr>
            <a:r>
              <a:rPr lang="en-US" sz="1500" b="1" dirty="0">
                <a:solidFill>
                  <a:srgbClr val="FFF6E6"/>
                </a:solidFill>
                <a:latin typeface="Arial" pitchFamily="34" charset="0"/>
                <a:ea typeface="Arial" pitchFamily="34" charset="-122"/>
                <a:cs typeface="Arial" pitchFamily="34" charset="-120"/>
              </a:rPr>
              <a:t>Next week:</a:t>
            </a:r>
            <a:pPr indent="0" marL="0">
              <a:buNone/>
            </a:pPr>
            <a:r>
              <a:rPr lang="en-US" sz="1500" dirty="0">
                <a:solidFill>
                  <a:srgbClr val="E4D8C6"/>
                </a:solidFill>
                <a:latin typeface="Arial" pitchFamily="34" charset="0"/>
                <a:ea typeface="Arial" pitchFamily="34" charset="-122"/>
                <a:cs typeface="Arial" pitchFamily="34" charset="-120"/>
              </a:rPr>
              <a:t> ACE's next real client goes through it; we measure days to first spend against the last three clients.</a:t>
            </a:r>
            <a:endParaRPr lang="en-US" sz="1500" dirty="0"/>
          </a:p>
        </p:txBody>
      </p:sp>
      <p:sp>
        <p:nvSpPr>
          <p:cNvPr id="33" name="Shape 31"/>
          <p:cNvSpPr/>
          <p:nvPr/>
        </p:nvSpPr>
        <p:spPr>
          <a:xfrm>
            <a:off x="685800" y="4113657"/>
            <a:ext cx="201168" cy="27432"/>
          </a:xfrm>
          <a:prstGeom prst="rect">
            <a:avLst/>
          </a:prstGeom>
          <a:solidFill>
            <a:srgbClr val="C9955A"/>
          </a:solidFill>
          <a:ln w="12700">
            <a:solidFill>
              <a:srgbClr val="C9955A"/>
            </a:solidFill>
            <a:prstDash val="solid"/>
          </a:ln>
        </p:spPr>
      </p:sp>
      <p:sp>
        <p:nvSpPr>
          <p:cNvPr id="34" name="Text 32"/>
          <p:cNvSpPr txBox="1"/>
          <p:nvPr/>
        </p:nvSpPr>
        <p:spPr>
          <a:xfrm>
            <a:off x="1069848" y="3998976"/>
            <a:ext cx="7509967" cy="568452"/>
          </a:xfrm>
          <a:prstGeom prst="rect">
            <a:avLst/>
          </a:prstGeom>
          <a:noFill/>
          <a:ln/>
        </p:spPr>
        <p:txBody>
          <a:bodyPr wrap="square" lIns="0" tIns="0" rIns="0" bIns="0" rtlCol="0" anchor="t"/>
          <a:lstStyle/>
          <a:p>
            <a:pPr indent="0" marL="0">
              <a:buNone/>
            </a:pPr>
            <a:r>
              <a:rPr lang="en-US" sz="1500" b="1" dirty="0">
                <a:solidFill>
                  <a:srgbClr val="FFF6E6"/>
                </a:solidFill>
                <a:latin typeface="Arial" pitchFamily="34" charset="0"/>
                <a:ea typeface="Arial" pitchFamily="34" charset="-122"/>
                <a:cs typeface="Arial" pitchFamily="34" charset="-120"/>
              </a:rPr>
              <a:t>Then:</a:t>
            </a:r>
            <a:pPr indent="0" marL="0">
              <a:buNone/>
            </a:pPr>
            <a:r>
              <a:rPr lang="en-US" sz="1500" dirty="0">
                <a:solidFill>
                  <a:srgbClr val="E4D8C6"/>
                </a:solidFill>
                <a:latin typeface="Arial" pitchFamily="34" charset="0"/>
                <a:ea typeface="Arial" pitchFamily="34" charset="-122"/>
                <a:cs typeface="Arial" pitchFamily="34" charset="-120"/>
              </a:rPr>
              <a:t> five agency owners, a $500 pilot each, and a second agency running it unaided.</a:t>
            </a:r>
            <a:endParaRPr lang="en-US" sz="1500" dirty="0"/>
          </a:p>
        </p:txBody>
      </p:sp>
      <p:sp>
        <p:nvSpPr>
          <p:cNvPr id="35" name="Shape 33"/>
          <p:cNvSpPr/>
          <p:nvPr/>
        </p:nvSpPr>
        <p:spPr>
          <a:xfrm>
            <a:off x="685800" y="4810125"/>
            <a:ext cx="201168" cy="27432"/>
          </a:xfrm>
          <a:prstGeom prst="rect">
            <a:avLst/>
          </a:prstGeom>
          <a:solidFill>
            <a:srgbClr val="C9955A"/>
          </a:solidFill>
          <a:ln w="12700">
            <a:solidFill>
              <a:srgbClr val="C9955A"/>
            </a:solidFill>
            <a:prstDash val="solid"/>
          </a:ln>
        </p:spPr>
      </p:sp>
      <p:sp>
        <p:nvSpPr>
          <p:cNvPr id="36" name="Text 34"/>
          <p:cNvSpPr txBox="1"/>
          <p:nvPr/>
        </p:nvSpPr>
        <p:spPr>
          <a:xfrm>
            <a:off x="1069848" y="4695444"/>
            <a:ext cx="7509967" cy="320802"/>
          </a:xfrm>
          <a:prstGeom prst="rect">
            <a:avLst/>
          </a:prstGeom>
          <a:noFill/>
          <a:ln/>
        </p:spPr>
        <p:txBody>
          <a:bodyPr wrap="square" lIns="0" tIns="0" rIns="0" bIns="0" rtlCol="0" anchor="t"/>
          <a:lstStyle/>
          <a:p>
            <a:pPr indent="0" marL="0">
              <a:buNone/>
            </a:pPr>
            <a:r>
              <a:rPr lang="en-US" sz="1500" b="1" dirty="0">
                <a:solidFill>
                  <a:srgbClr val="FFF6E6"/>
                </a:solidFill>
                <a:latin typeface="Arial" pitchFamily="34" charset="0"/>
                <a:ea typeface="Arial" pitchFamily="34" charset="-122"/>
                <a:cs typeface="Arial" pitchFamily="34" charset="-120"/>
              </a:rPr>
              <a:t>The ask:</a:t>
            </a:r>
            <a:pPr indent="0" marL="0">
              <a:buNone/>
            </a:pPr>
            <a:r>
              <a:rPr lang="en-US" sz="1500" dirty="0">
                <a:solidFill>
                  <a:srgbClr val="E4D8C6"/>
                </a:solidFill>
                <a:latin typeface="Arial" pitchFamily="34" charset="0"/>
                <a:ea typeface="Arial" pitchFamily="34" charset="-122"/>
                <a:cs typeface="Arial" pitchFamily="34" charset="-120"/>
              </a:rPr>
              <a:t> leave the GB10 under an agency's desk and let it earn its keep.</a:t>
            </a:r>
            <a:endParaRPr lang="en-US" sz="1500" dirty="0"/>
          </a:p>
        </p:txBody>
      </p:sp>
      <p:sp>
        <p:nvSpPr>
          <p:cNvPr id="37" name="Text 35"/>
          <p:cNvSpPr txBox="1"/>
          <p:nvPr/>
        </p:nvSpPr>
        <p:spPr>
          <a:xfrm>
            <a:off x="685800" y="5074920"/>
            <a:ext cx="5486400" cy="731520"/>
          </a:xfrm>
          <a:prstGeom prst="rect">
            <a:avLst/>
          </a:prstGeom>
          <a:noFill/>
          <a:ln/>
        </p:spPr>
        <p:txBody>
          <a:bodyPr wrap="square" lIns="0" tIns="0" rIns="0" bIns="0" rtlCol="0" anchor="b"/>
          <a:lstStyle/>
          <a:p>
            <a:pPr indent="0" marL="0">
              <a:buNone/>
            </a:pPr>
            <a:r>
              <a:rPr lang="en-US" sz="4000" spc="2000" kern="0" dirty="0">
                <a:solidFill>
                  <a:srgbClr val="FFFFFF"/>
                </a:solidFill>
                <a:effectLst>
                  <a:glow rad="101600">
                    <a:srgbClr val="FFECC8">
                      <a:alpha val="50000"/>
                    </a:srgbClr>
                  </a:glow>
                </a:effectLst>
                <a:latin typeface="Arial" pitchFamily="34" charset="0"/>
                <a:ea typeface="Arial" pitchFamily="34" charset="-122"/>
                <a:cs typeface="Arial" pitchFamily="34" charset="-120"/>
              </a:rPr>
              <a:t>ACE OPS</a:t>
            </a:r>
            <a:endParaRPr lang="en-US" sz="4000" dirty="0"/>
          </a:p>
        </p:txBody>
      </p:sp>
      <p:sp>
        <p:nvSpPr>
          <p:cNvPr id="38" name="Text 36"/>
          <p:cNvSpPr txBox="1"/>
          <p:nvPr/>
        </p:nvSpPr>
        <p:spPr>
          <a:xfrm>
            <a:off x="685800" y="5852160"/>
            <a:ext cx="6400800" cy="274320"/>
          </a:xfrm>
          <a:prstGeom prst="rect">
            <a:avLst/>
          </a:prstGeom>
          <a:noFill/>
          <a:ln/>
        </p:spPr>
        <p:txBody>
          <a:bodyPr wrap="square" lIns="0" tIns="0" rIns="0" bIns="0" rtlCol="0" anchor="ctr"/>
          <a:lstStyle/>
          <a:p>
            <a:pPr indent="0" marL="0">
              <a:buNone/>
            </a:pPr>
            <a:r>
              <a:rPr lang="en-US" sz="1000" spc="600" kern="0" dirty="0">
                <a:solidFill>
                  <a:srgbClr val="E8C290"/>
                </a:solidFill>
                <a:latin typeface="Arial" pitchFamily="34" charset="0"/>
                <a:ea typeface="Arial" pitchFamily="34" charset="-122"/>
                <a:cs typeface="Arial" pitchFamily="34" charset="-120"/>
              </a:rPr>
              <a:t>THE ALWAYS-ON DELIVERY AGENT FOR AGENCIES</a:t>
            </a:r>
            <a:endParaRPr lang="en-US" sz="1000" dirty="0"/>
          </a:p>
        </p:txBody>
      </p:sp>
      <p:sp>
        <p:nvSpPr>
          <p:cNvPr id="39" name="Text 37"/>
          <p:cNvSpPr txBox="1"/>
          <p:nvPr/>
        </p:nvSpPr>
        <p:spPr>
          <a:xfrm>
            <a:off x="6476695" y="5394960"/>
            <a:ext cx="5029200" cy="640080"/>
          </a:xfrm>
          <a:prstGeom prst="rect">
            <a:avLst/>
          </a:prstGeom>
          <a:noFill/>
          <a:ln/>
        </p:spPr>
        <p:txBody>
          <a:bodyPr wrap="square" lIns="0" tIns="0" rIns="0" bIns="0" rtlCol="0" anchor="b"/>
          <a:lstStyle/>
          <a:p>
            <a:pPr algn="r" indent="0" marL="0">
              <a:lnSpc>
                <a:spcPct val="130000"/>
              </a:lnSpc>
              <a:buNone/>
            </a:pPr>
            <a:r>
              <a:rPr lang="en-US" sz="1200" b="1" dirty="0">
                <a:solidFill>
                  <a:srgbClr val="FFF6E6"/>
                </a:solidFill>
                <a:latin typeface="Arial" pitchFamily="34" charset="0"/>
                <a:ea typeface="Arial" pitchFamily="34" charset="-122"/>
                <a:cs typeface="Arial" pitchFamily="34" charset="-120"/>
              </a:rPr>
              <a:t>Carl · Tyler · Jasmine T · Moorthy</a:t>
            </a:r>
            <a:pPr algn="r" indent="0" marL="0">
              <a:lnSpc>
                <a:spcPct val="130000"/>
              </a:lnSpc>
              <a:buNone/>
            </a:pPr>
            <a:endParaRPr lang="en-US" sz="1200" dirty="0"/>
          </a:p>
          <a:p>
            <a:pPr algn="r" indent="0" marL="0">
              <a:lnSpc>
                <a:spcPct val="130000"/>
              </a:lnSpc>
              <a:buNone/>
            </a:pPr>
            <a:r>
              <a:rPr lang="en-US" sz="1200" dirty="0">
                <a:solidFill>
                  <a:srgbClr val="B5A186"/>
                </a:solidFill>
                <a:latin typeface="Arial" pitchFamily="34" charset="0"/>
                <a:ea typeface="Arial" pitchFamily="34" charset="-122"/>
                <a:cs typeface="Arial" pitchFamily="34" charset="-120"/>
              </a:rPr>
              <a:t>Dell × NVIDIA AI Hackathon · San Francisco · 25 October 2026</a:t>
            </a:r>
            <a:endParaRPr lang="en-US" sz="1200" dirty="0"/>
          </a:p>
        </p:txBody>
      </p:sp>
      <p:sp>
        <p:nvSpPr>
          <p:cNvPr id="25" name="Slide Number Placeholder 0"/>
          <p:cNvSpPr>
            <a:spLocks noGrp="1"/>
          </p:cNvSpPr>
          <p:nvPr>
            <p:ph type="sldNum" sz="quarter" idx="4294967295"/>
          </p:nvPr>
        </p:nvSpPr>
        <p:spPr>
          <a:xfrm>
            <a:off x="10408615" y="6355080"/>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7961"/>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ACE Ops — pitch deck</dc:title>
  <dc:subject>Dell x NVIDIA AI Hackathon, San Francisco, 2026-10-25</dc:subject>
  <dc:creator>ACE (Carl, Tyler, Jasmine T, Moorthy)</dc:creator>
  <cp:lastModifiedBy>ACE (Carl, Tyler, Jasmine T, Moorthy)</cp:lastModifiedBy>
  <cp:revision>1</cp:revision>
  <dcterms:created xsi:type="dcterms:W3CDTF">2026-10-25T21:42:30Z</dcterms:created>
  <dcterms:modified xsi:type="dcterms:W3CDTF">2026-10-25T21:42:30Z</dcterms:modified>
</cp:coreProperties>
</file>